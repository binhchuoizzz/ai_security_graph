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5167800" y="1976760"/>
            <a:ext cx="177300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565c0"/>
                </a:solidFill>
                <a:latin typeface="Lato"/>
                <a:ea typeface="Lato"/>
              </a:rPr>
              <a:t>SENTINEL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774360" y="267192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Ki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169280" y="27021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ế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1387800" y="2671920"/>
            <a:ext cx="15523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 trúc Nh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048120" y="27021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ậ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3266640" y="2671920"/>
            <a:ext cx="6483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 th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3965400" y="27021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ứ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4246560" y="2671920"/>
            <a:ext cx="10674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c Hai t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89200" y="27021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ầ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607720" y="2671920"/>
            <a:ext cx="23508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 cho Phát hi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8133120" y="27021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ệ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8351640" y="2671920"/>
            <a:ext cx="10994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 &amp; Ph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9503280" y="27021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ả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9721440" y="2671920"/>
            <a:ext cx="5097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 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0260000" y="27021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ồ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0498680" y="2671920"/>
            <a:ext cx="5356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i M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1061000" y="27021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ố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1299680" y="267192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i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961280" y="3207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đ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200320" y="3176640"/>
            <a:ext cx="5007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e d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2725200" y="3207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ọ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2963880" y="3176640"/>
            <a:ext cx="5022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a T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3494160" y="3207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ự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3774960" y="317664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3858480" y="3207240"/>
            <a:ext cx="45504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độ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4336200" y="3176640"/>
            <a:ext cx="659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 s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5028840" y="3207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ử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309640" y="317664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d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5620680" y="3207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ụ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5859360" y="3176640"/>
            <a:ext cx="17748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 AI Tác t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7715160" y="3207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ử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7995960" y="3176640"/>
            <a:ext cx="20340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(Agentic AI)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4438440" y="39178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4637520" y="3938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4800600" y="3917880"/>
            <a:ext cx="13586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viên: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Nguy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292080" y="3938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ễ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6441840" y="39178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651000" y="3938400"/>
            <a:ext cx="345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019640" y="3917880"/>
            <a:ext cx="678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Bình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3427200" y="4251240"/>
            <a:ext cx="1855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GVHD: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TS. Bùi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5406840" y="4271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556600" y="4251240"/>
            <a:ext cx="451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040440" y="4271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189840" y="4251240"/>
            <a:ext cx="733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· TS.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963840" y="4271760"/>
            <a:ext cx="3178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Đặ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7304040" y="4251240"/>
            <a:ext cx="498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832160" y="4271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7981920" y="4251240"/>
            <a:ext cx="451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8465760" y="4271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8615160" y="42512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2217960" y="4584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2472480" y="4605120"/>
            <a:ext cx="3556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ườ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2851560" y="4584600"/>
            <a:ext cx="331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3208320" y="4605120"/>
            <a:ext cx="3178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548880" y="4584600"/>
            <a:ext cx="262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3846600" y="4605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4009680" y="4584600"/>
            <a:ext cx="1232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FPT —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342040" y="4605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491440" y="4584600"/>
            <a:ext cx="288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s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804280" y="4605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5885280" y="4584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6133680" y="4605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ỹ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6283080" y="4584600"/>
            <a:ext cx="432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thu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6765120" y="4605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6914520" y="4584600"/>
            <a:ext cx="447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 Ph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410600" y="4605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7560360" y="4584600"/>
            <a:ext cx="409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8000640" y="4605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8150400" y="4584600"/>
            <a:ext cx="1683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 (MSE) · 2026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1827080" y="6405120"/>
            <a:ext cx="1976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1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1085760" y="3447720"/>
            <a:ext cx="2772000" cy="371880"/>
          </a:xfrm>
          <a:custGeom>
            <a:avLst/>
            <a:gdLst/>
            <a:ahLst/>
            <a:rect l="0" t="0" r="r" b="b"/>
            <a:pathLst>
              <a:path w="7700" h="1033">
                <a:moveTo>
                  <a:pt x="0" y="0"/>
                </a:moveTo>
                <a:lnTo>
                  <a:pt x="7700" y="0"/>
                </a:lnTo>
                <a:lnTo>
                  <a:pt x="770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3857400" y="3447720"/>
            <a:ext cx="1771920" cy="371880"/>
          </a:xfrm>
          <a:custGeom>
            <a:avLst/>
            <a:gdLst/>
            <a:ahLst/>
            <a:rect l="0" t="0" r="r" b="b"/>
            <a:pathLst>
              <a:path w="4922" h="1033">
                <a:moveTo>
                  <a:pt x="0" y="0"/>
                </a:moveTo>
                <a:lnTo>
                  <a:pt x="4922" y="0"/>
                </a:lnTo>
                <a:lnTo>
                  <a:pt x="4922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5628960" y="3447720"/>
            <a:ext cx="5477400" cy="371880"/>
          </a:xfrm>
          <a:custGeom>
            <a:avLst/>
            <a:gdLst/>
            <a:ahLst/>
            <a:rect l="0" t="0" r="r" b="b"/>
            <a:pathLst>
              <a:path w="15215" h="1033">
                <a:moveTo>
                  <a:pt x="0" y="0"/>
                </a:moveTo>
                <a:lnTo>
                  <a:pt x="15215" y="0"/>
                </a:lnTo>
                <a:lnTo>
                  <a:pt x="15215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1085760" y="3819240"/>
            <a:ext cx="2772000" cy="381600"/>
          </a:xfrm>
          <a:custGeom>
            <a:avLst/>
            <a:gdLst/>
            <a:ahLst/>
            <a:rect l="0" t="0" r="r" b="b"/>
            <a:pathLst>
              <a:path w="7700" h="1060">
                <a:moveTo>
                  <a:pt x="0" y="0"/>
                </a:moveTo>
                <a:lnTo>
                  <a:pt x="7700" y="0"/>
                </a:lnTo>
                <a:lnTo>
                  <a:pt x="770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3857400" y="3819240"/>
            <a:ext cx="1771920" cy="381600"/>
          </a:xfrm>
          <a:custGeom>
            <a:avLst/>
            <a:gdLst/>
            <a:ahLst/>
            <a:rect l="0" t="0" r="r" b="b"/>
            <a:pathLst>
              <a:path w="4922" h="1060">
                <a:moveTo>
                  <a:pt x="0" y="0"/>
                </a:moveTo>
                <a:lnTo>
                  <a:pt x="4922" y="0"/>
                </a:lnTo>
                <a:lnTo>
                  <a:pt x="492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5628960" y="3819240"/>
            <a:ext cx="5477400" cy="381600"/>
          </a:xfrm>
          <a:custGeom>
            <a:avLst/>
            <a:gdLst/>
            <a:ahLst/>
            <a:rect l="0" t="0" r="r" b="b"/>
            <a:pathLst>
              <a:path w="15215" h="1060">
                <a:moveTo>
                  <a:pt x="0" y="0"/>
                </a:moveTo>
                <a:lnTo>
                  <a:pt x="15215" y="0"/>
                </a:lnTo>
                <a:lnTo>
                  <a:pt x="1521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1085760" y="34383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1085760" y="343836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3857400" y="34383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3867120" y="3438360"/>
            <a:ext cx="1762200" cy="9720"/>
          </a:xfrm>
          <a:custGeom>
            <a:avLst/>
            <a:gdLst/>
            <a:ahLst/>
            <a:rect l="0" t="0" r="r" b="b"/>
            <a:pathLst>
              <a:path w="4895" h="27">
                <a:moveTo>
                  <a:pt x="0" y="0"/>
                </a:moveTo>
                <a:lnTo>
                  <a:pt x="4895" y="0"/>
                </a:lnTo>
                <a:lnTo>
                  <a:pt x="48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5619600" y="34383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5628960" y="3438360"/>
            <a:ext cx="5477400" cy="9720"/>
          </a:xfrm>
          <a:custGeom>
            <a:avLst/>
            <a:gdLst/>
            <a:ahLst/>
            <a:rect l="0" t="0" r="r" b="b"/>
            <a:pathLst>
              <a:path w="15215" h="27">
                <a:moveTo>
                  <a:pt x="0" y="0"/>
                </a:moveTo>
                <a:lnTo>
                  <a:pt x="15215" y="0"/>
                </a:lnTo>
                <a:lnTo>
                  <a:pt x="152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11096280" y="34383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1085760" y="3819240"/>
            <a:ext cx="2781720" cy="10080"/>
          </a:xfrm>
          <a:custGeom>
            <a:avLst/>
            <a:gdLst/>
            <a:ahLst/>
            <a:rect l="0" t="0" r="r" b="b"/>
            <a:pathLst>
              <a:path w="7727" h="28">
                <a:moveTo>
                  <a:pt x="0" y="0"/>
                </a:moveTo>
                <a:lnTo>
                  <a:pt x="7727" y="0"/>
                </a:lnTo>
                <a:lnTo>
                  <a:pt x="77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3867120" y="3819240"/>
            <a:ext cx="1762200" cy="10080"/>
          </a:xfrm>
          <a:custGeom>
            <a:avLst/>
            <a:gdLst/>
            <a:ahLst/>
            <a:rect l="0" t="0" r="r" b="b"/>
            <a:pathLst>
              <a:path w="4895" h="28">
                <a:moveTo>
                  <a:pt x="0" y="0"/>
                </a:moveTo>
                <a:lnTo>
                  <a:pt x="4895" y="0"/>
                </a:lnTo>
                <a:lnTo>
                  <a:pt x="48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5628960" y="3819240"/>
            <a:ext cx="5477400" cy="10080"/>
          </a:xfrm>
          <a:custGeom>
            <a:avLst/>
            <a:gdLst/>
            <a:ahLst/>
            <a:rect l="0" t="0" r="r" b="b"/>
            <a:pathLst>
              <a:path w="15215" h="28">
                <a:moveTo>
                  <a:pt x="0" y="0"/>
                </a:moveTo>
                <a:lnTo>
                  <a:pt x="15215" y="0"/>
                </a:lnTo>
                <a:lnTo>
                  <a:pt x="152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1085760" y="38289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3857400" y="38289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5619600" y="38289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11096280" y="38289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1085760" y="4200480"/>
            <a:ext cx="9720" cy="371520"/>
          </a:xfrm>
          <a:custGeom>
            <a:avLst/>
            <a:gdLst/>
            <a:ahLst/>
            <a:rect l="0" t="0" r="r" b="b"/>
            <a:pathLst>
              <a:path w="27" h="1032">
                <a:moveTo>
                  <a:pt x="0" y="0"/>
                </a:moveTo>
                <a:lnTo>
                  <a:pt x="27" y="0"/>
                </a:lnTo>
                <a:lnTo>
                  <a:pt x="2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1085760" y="4190760"/>
            <a:ext cx="2781720" cy="10080"/>
          </a:xfrm>
          <a:custGeom>
            <a:avLst/>
            <a:gdLst/>
            <a:ahLst/>
            <a:rect l="0" t="0" r="r" b="b"/>
            <a:pathLst>
              <a:path w="7727" h="28">
                <a:moveTo>
                  <a:pt x="0" y="0"/>
                </a:moveTo>
                <a:lnTo>
                  <a:pt x="7727" y="0"/>
                </a:lnTo>
                <a:lnTo>
                  <a:pt x="77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3857400" y="4200480"/>
            <a:ext cx="10080" cy="371520"/>
          </a:xfrm>
          <a:custGeom>
            <a:avLst/>
            <a:gdLst/>
            <a:ahLst/>
            <a:rect l="0" t="0" r="r" b="b"/>
            <a:pathLst>
              <a:path w="28" h="1032">
                <a:moveTo>
                  <a:pt x="0" y="0"/>
                </a:moveTo>
                <a:lnTo>
                  <a:pt x="28" y="0"/>
                </a:lnTo>
                <a:lnTo>
                  <a:pt x="28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3867120" y="4190760"/>
            <a:ext cx="1762200" cy="10080"/>
          </a:xfrm>
          <a:custGeom>
            <a:avLst/>
            <a:gdLst/>
            <a:ahLst/>
            <a:rect l="0" t="0" r="r" b="b"/>
            <a:pathLst>
              <a:path w="4895" h="28">
                <a:moveTo>
                  <a:pt x="0" y="0"/>
                </a:moveTo>
                <a:lnTo>
                  <a:pt x="4895" y="0"/>
                </a:lnTo>
                <a:lnTo>
                  <a:pt x="48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5619600" y="4200480"/>
            <a:ext cx="9720" cy="371520"/>
          </a:xfrm>
          <a:custGeom>
            <a:avLst/>
            <a:gdLst/>
            <a:ahLst/>
            <a:rect l="0" t="0" r="r" b="b"/>
            <a:pathLst>
              <a:path w="27" h="1032">
                <a:moveTo>
                  <a:pt x="0" y="0"/>
                </a:moveTo>
                <a:lnTo>
                  <a:pt x="27" y="0"/>
                </a:lnTo>
                <a:lnTo>
                  <a:pt x="2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5628960" y="4190760"/>
            <a:ext cx="5477400" cy="10080"/>
          </a:xfrm>
          <a:custGeom>
            <a:avLst/>
            <a:gdLst/>
            <a:ahLst/>
            <a:rect l="0" t="0" r="r" b="b"/>
            <a:pathLst>
              <a:path w="15215" h="28">
                <a:moveTo>
                  <a:pt x="0" y="0"/>
                </a:moveTo>
                <a:lnTo>
                  <a:pt x="15215" y="0"/>
                </a:lnTo>
                <a:lnTo>
                  <a:pt x="152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11096280" y="4200480"/>
            <a:ext cx="10080" cy="371520"/>
          </a:xfrm>
          <a:custGeom>
            <a:avLst/>
            <a:gdLst/>
            <a:ahLst/>
            <a:rect l="0" t="0" r="r" b="b"/>
            <a:pathLst>
              <a:path w="28" h="1032">
                <a:moveTo>
                  <a:pt x="0" y="0"/>
                </a:moveTo>
                <a:lnTo>
                  <a:pt x="28" y="0"/>
                </a:lnTo>
                <a:lnTo>
                  <a:pt x="28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1085760" y="456228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3867120" y="4562280"/>
            <a:ext cx="1762200" cy="9720"/>
          </a:xfrm>
          <a:custGeom>
            <a:avLst/>
            <a:gdLst/>
            <a:ahLst/>
            <a:rect l="0" t="0" r="r" b="b"/>
            <a:pathLst>
              <a:path w="4895" h="27">
                <a:moveTo>
                  <a:pt x="0" y="0"/>
                </a:moveTo>
                <a:lnTo>
                  <a:pt x="4895" y="0"/>
                </a:lnTo>
                <a:lnTo>
                  <a:pt x="48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5628960" y="4562280"/>
            <a:ext cx="5477400" cy="9720"/>
          </a:xfrm>
          <a:custGeom>
            <a:avLst/>
            <a:gdLst/>
            <a:ahLst/>
            <a:rect l="0" t="0" r="r" b="b"/>
            <a:pathLst>
              <a:path w="15215" h="27">
                <a:moveTo>
                  <a:pt x="0" y="0"/>
                </a:moveTo>
                <a:lnTo>
                  <a:pt x="15215" y="0"/>
                </a:lnTo>
                <a:lnTo>
                  <a:pt x="152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4455000" y="138600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B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4710600" y="1416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ố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4949640" y="138600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i c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5343480" y="1416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ả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5562000" y="1386000"/>
            <a:ext cx="11268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nh &amp; V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6750000" y="1416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ấ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6968520" y="138600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 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819000" y="2247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7279560" y="1416240"/>
            <a:ext cx="43344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đề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1047600" y="2127240"/>
            <a:ext cx="1200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Trung tâm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2355840" y="2147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2546640" y="21272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2629080" y="2147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2778480" y="2127240"/>
            <a:ext cx="2692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 hành An ninh (SOC)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5735160" y="2147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5884920" y="2127240"/>
            <a:ext cx="973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 trong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6933960" y="2147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7083720" y="2127240"/>
            <a:ext cx="808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nh báo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7939800" y="214776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8199360" y="2127240"/>
            <a:ext cx="270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8484120" y="2147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8633880" y="2127240"/>
            <a:ext cx="360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9029520" y="2147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9192960" y="21272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9467280" y="2147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9617040" y="2127240"/>
            <a:ext cx="1384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 báo (alert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1047600" y="2460600"/>
            <a:ext cx="909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fatigue)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2072880" y="248112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2332440" y="2460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2542320" y="2481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2692080" y="2460600"/>
            <a:ext cx="1797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sót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APT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nguy 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4629960" y="2481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81900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3" y="181"/>
                  <a:pt x="214" y="194"/>
                  <a:pt x="203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6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4779720" y="2460600"/>
            <a:ext cx="262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1047600" y="2870280"/>
            <a:ext cx="575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Hai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1668960" y="2890440"/>
            <a:ext cx="329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2021040" y="2870280"/>
            <a:ext cx="483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ti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2548440" y="2890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2697840" y="2870280"/>
            <a:ext cx="320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3033720" y="2890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3183480" y="2870280"/>
            <a:ext cx="399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3617640" y="2890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3767400" y="2870280"/>
            <a:ext cx="524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có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4313520" y="289044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4612680" y="2870280"/>
            <a:ext cx="718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có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5382720" y="2890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5571000" y="2870280"/>
            <a:ext cx="262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5868720" y="2890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6018120" y="2870280"/>
            <a:ext cx="320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6365880" y="2890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6528960" y="28702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6744240" y="2890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6935400" y="28702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: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2099160" y="349848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2269440" y="3515760"/>
            <a:ext cx="29952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ướ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2593800" y="3498480"/>
            <a:ext cx="2278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ng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4583160" y="351576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Ư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4768920" y="349848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u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7993440" y="3498480"/>
            <a:ext cx="2779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Nh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8297280" y="3515760"/>
            <a:ext cx="29952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ượ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8622000" y="349848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c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1176120" y="3879360"/>
            <a:ext cx="2232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Lu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424160" y="38966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1552680" y="387936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t t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1784880" y="38966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ĩ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1855080" y="3879360"/>
            <a:ext cx="16909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nh (rule/signature)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3949200" y="3879360"/>
            <a:ext cx="7887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Nhanh, t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821480" y="38966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950000" y="387936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5092560" y="38966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đị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5279400" y="3879360"/>
            <a:ext cx="2322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nh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5713200" y="387936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B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5862600" y="38966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Arial"/>
                <a:ea typeface="Arial"/>
              </a:rPr>
              <a:t>ỏ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6002640" y="3879360"/>
            <a:ext cx="20934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sót zero-day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, không hi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8362800" y="38966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8490960" y="3879360"/>
            <a:ext cx="3952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u ng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8919360" y="38966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ữ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9071280" y="387936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c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9233640" y="38966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9362160" y="3879360"/>
            <a:ext cx="2322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nh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1176120" y="4268160"/>
            <a:ext cx="290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Đư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1491480" y="4250880"/>
            <a:ext cx="3315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a </a:t>
            </a:r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m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1854360" y="426816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Arial"/>
                <a:ea typeface="Arial"/>
              </a:rPr>
              <a:t>ọ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1994040" y="4250880"/>
            <a:ext cx="1226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i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log vào LLM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3949200" y="4250880"/>
            <a:ext cx="5569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Suy lu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4565880" y="426816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4694400" y="4250880"/>
            <a:ext cx="4809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n sâu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5713200" y="425088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Tr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5932440" y="426816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Arial"/>
                <a:ea typeface="Arial"/>
              </a:rPr>
              <a:t>ễ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6060960" y="4250880"/>
            <a:ext cx="21146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4–6 giây/log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, không m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8390160" y="426816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ở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8539560" y="425088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r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8688240" y="426816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ộ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8816760" y="4250880"/>
            <a:ext cx="4014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ng, r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9269280" y="426816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ủ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9397800" y="4250880"/>
            <a:ext cx="4687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i ro b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9921600" y="426816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ị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9980280" y="4250880"/>
            <a:ext cx="9363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thao túng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914400" y="4832280"/>
            <a:ext cx="453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Kho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141408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1563840" y="4832280"/>
            <a:ext cx="51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214560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2308680" y="4832280"/>
            <a:ext cx="654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302292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3200760" y="4832280"/>
            <a:ext cx="695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 có ki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395172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4101480" y="4832280"/>
            <a:ext cx="828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trúc k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500508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5154840" y="4832280"/>
            <a:ext cx="291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546840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5642640" y="48322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5912280" y="483228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t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595548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6166080" y="483228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c 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6292440" y="485280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6652800" y="483228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t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675576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966360" y="483228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706932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7346880" y="4832280"/>
            <a:ext cx="2840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nh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7585200" y="48322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778356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7957800" y="48322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8154000" y="4832280"/>
            <a:ext cx="6498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suy lu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878508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8996040" y="4832280"/>
            <a:ext cx="12916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n LLM có ki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10275840" y="4852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0486440" y="4832280"/>
            <a:ext cx="7459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m soát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975600" y="5175360"/>
            <a:ext cx="1084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&amp; an toàn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2048040" y="51753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666720" y="484668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" name=""/>
          <p:cNvSpPr txBox="1"/>
          <p:nvPr/>
        </p:nvSpPr>
        <p:spPr>
          <a:xfrm rot="10800000">
            <a:off x="11280240" y="519516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11827080" y="6405120"/>
            <a:ext cx="1976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2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7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8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2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3349080" y="1262160"/>
            <a:ext cx="9439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Câu 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4355280" y="12927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ỏ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4594320" y="1262160"/>
            <a:ext cx="8953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i &amp; M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5520240" y="12927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ụ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5759280" y="1262160"/>
            <a:ext cx="23950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c tiêu nghiên c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8334360" y="12927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ứ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8615520" y="126216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u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779400" y="1994040"/>
            <a:ext cx="631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Câu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1470240" y="2014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1633320" y="1994040"/>
            <a:ext cx="936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Làm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2661480" y="2014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2810880" y="1994040"/>
            <a:ext cx="529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nào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3367080" y="201420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3666240" y="19940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3830400" y="2014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4007880" y="19940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067640" y="201420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4367160" y="1994040"/>
            <a:ext cx="1489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hoá SOC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943960" y="2014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6121440" y="1994040"/>
            <a:ext cx="933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nhanh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7146000" y="2014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7333920" y="19940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7504560" y="2014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7667640" y="19940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7859520" y="201420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8186040" y="199404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8470800" y="2014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8620560" y="1994040"/>
            <a:ext cx="51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,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9180360" y="2014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9358200" y="1994040"/>
            <a:ext cx="828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suy lu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10278360" y="2014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10428120" y="1994040"/>
            <a:ext cx="898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sâu có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2934000" y="23274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3066480" y="2347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3215880" y="2327400"/>
            <a:ext cx="320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3563640" y="2347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3754800" y="2327400"/>
            <a:ext cx="19926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, mà LLM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không 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5916960" y="2347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6104880" y="2327400"/>
            <a:ext cx="758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thành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6947280" y="2347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7110360" y="23274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7192800" y="2347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7342560" y="2327400"/>
            <a:ext cx="399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 y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7776360" y="2347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7925760" y="2327400"/>
            <a:ext cx="342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8296560" y="2347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8446320" y="2327400"/>
            <a:ext cx="410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o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8886600" y="2347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9036360" y="23274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?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5508000" y="29084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752440" y="2928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5915880" y="2908440"/>
            <a:ext cx="677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tiêu: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767880" y="3498840"/>
            <a:ext cx="393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1.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1186920" y="3519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1336680" y="34988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599120" y="3519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1776960" y="3498840"/>
            <a:ext cx="261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061360" y="3519360"/>
            <a:ext cx="329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413440" y="3498840"/>
            <a:ext cx="1347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lành tính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3871440" y="3519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4045680" y="34988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4216320" y="3519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4379400" y="34988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571640" y="351936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897800" y="349884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182560" y="3519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332320" y="3498840"/>
            <a:ext cx="1451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ng, O(1)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6909480" y="3519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ỉ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976080" y="3498840"/>
            <a:ext cx="14166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leo thang ph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8499600" y="3519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8649000" y="34988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8919720" y="349884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th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9112320" y="3519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9342360" y="3498840"/>
            <a:ext cx="2962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c s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9587880" y="3519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9817920" y="3498840"/>
            <a:ext cx="2736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m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10031760" y="3519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10254600" y="349884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h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10402560" y="3519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ồ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10552320" y="3498840"/>
            <a:ext cx="461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cho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1047600" y="3832200"/>
            <a:ext cx="544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LLM.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767880" y="4241880"/>
            <a:ext cx="928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2. Suy lu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1764000" y="4262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1913400" y="4241880"/>
            <a:ext cx="663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có 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2625840" y="4262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2775600" y="4241880"/>
            <a:ext cx="2934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3101760" y="4262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3251520" y="4241880"/>
            <a:ext cx="1731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(grounded)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5170680" y="4262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5320440" y="4241880"/>
            <a:ext cx="861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tri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6273000" y="4262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6450480" y="4241880"/>
            <a:ext cx="578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chu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7064640" y="4262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7214400" y="4241880"/>
            <a:ext cx="2983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(MITRE ATT&amp;CK + NIST).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767880" y="4641840"/>
            <a:ext cx="694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3.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Cô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1519920" y="4662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1669680" y="4641840"/>
            <a:ext cx="1021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p LLM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kh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2760840" y="4662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2910600" y="4641840"/>
            <a:ext cx="1238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thao túng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247640" y="466236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4547160" y="4641840"/>
            <a:ext cx="982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kháng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5608800" y="4662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5758560" y="4641840"/>
            <a:ext cx="1006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rào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6837120" y="4662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6986880" y="4641840"/>
            <a:ext cx="406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7411320" y="4662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7561080" y="4641840"/>
            <a:ext cx="538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mã.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767880" y="5051520"/>
            <a:ext cx="266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4.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104760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1238400" y="5051520"/>
            <a:ext cx="1986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ánh giá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nghiêm 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340920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ặ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3558960" y="5051520"/>
            <a:ext cx="614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t, tái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428076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430520" y="5051520"/>
            <a:ext cx="11484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p, trung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571968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5910840" y="5051520"/>
            <a:ext cx="1508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(khung 5 chi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754524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7695000" y="5051520"/>
            <a:ext cx="595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+ ki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833652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8486280" y="505152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876132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8977680" y="5051520"/>
            <a:ext cx="569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nh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959040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9740160" y="5051520"/>
            <a:ext cx="713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kê).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11827080" y="6405120"/>
            <a:ext cx="1976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3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7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4715640" y="14641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Đ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4995720" y="1433520"/>
            <a:ext cx="23248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óng góp chính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767880" y="2165400"/>
            <a:ext cx="499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1.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319040" y="2185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468440" y="2165400"/>
            <a:ext cx="1001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trúc 2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2582640" y="2185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2732400" y="2165400"/>
            <a:ext cx="1379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 Tier-1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4239000" y="2185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4388760" y="2165400"/>
            <a:ext cx="270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4680360" y="2185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4830120" y="21654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4993920" y="2185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5210640" y="2165400"/>
            <a:ext cx="430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nh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5673600" y="2185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5823360" y="21654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6010560" y="218556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6309720" y="216540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6584760" y="2185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7105320" y="2190600"/>
            <a:ext cx="248040" cy="248040"/>
          </a:xfrm>
          <a:custGeom>
            <a:avLst/>
            <a:gdLst/>
            <a:ahLst/>
            <a:rect l="0" t="0" r="r" b="b"/>
            <a:pathLst>
              <a:path w="689" h="689">
                <a:moveTo>
                  <a:pt x="689" y="612"/>
                </a:moveTo>
                <a:cubicBezTo>
                  <a:pt x="689" y="655"/>
                  <a:pt x="655" y="689"/>
                  <a:pt x="613" y="689"/>
                </a:cubicBezTo>
                <a:lnTo>
                  <a:pt x="77" y="689"/>
                </a:lnTo>
                <a:cubicBezTo>
                  <a:pt x="35" y="689"/>
                  <a:pt x="0" y="655"/>
                  <a:pt x="0" y="612"/>
                </a:cubicBezTo>
                <a:lnTo>
                  <a:pt x="0" y="76"/>
                </a:lnTo>
                <a:cubicBezTo>
                  <a:pt x="0" y="34"/>
                  <a:pt x="35" y="0"/>
                  <a:pt x="77" y="0"/>
                </a:cubicBezTo>
                <a:lnTo>
                  <a:pt x="613" y="0"/>
                </a:lnTo>
                <a:cubicBezTo>
                  <a:pt x="655" y="0"/>
                  <a:pt x="689" y="34"/>
                  <a:pt x="689" y="76"/>
                </a:cubicBezTo>
                <a:lnTo>
                  <a:pt x="689" y="61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7126200" y="2252520"/>
            <a:ext cx="206640" cy="124200"/>
          </a:xfrm>
          <a:custGeom>
            <a:avLst/>
            <a:gdLst/>
            <a:ahLst/>
            <a:rect l="0" t="0" r="r" b="b"/>
            <a:pathLst>
              <a:path w="574" h="345">
                <a:moveTo>
                  <a:pt x="191" y="0"/>
                </a:moveTo>
                <a:lnTo>
                  <a:pt x="0" y="173"/>
                </a:lnTo>
                <a:lnTo>
                  <a:pt x="191" y="345"/>
                </a:lnTo>
                <a:lnTo>
                  <a:pt x="191" y="0"/>
                </a:lnTo>
                <a:moveTo>
                  <a:pt x="574" y="173"/>
                </a:moveTo>
                <a:lnTo>
                  <a:pt x="382" y="0"/>
                </a:lnTo>
                <a:lnTo>
                  <a:pt x="382" y="345"/>
                </a:lnTo>
                <a:lnTo>
                  <a:pt x="574" y="1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7188120" y="2286720"/>
            <a:ext cx="82800" cy="55440"/>
          </a:xfrm>
          <a:custGeom>
            <a:avLst/>
            <a:gdLst/>
            <a:ahLst/>
            <a:rect l="0" t="0" r="r" b="b"/>
            <a:pathLst>
              <a:path w="230" h="154">
                <a:moveTo>
                  <a:pt x="0" y="0"/>
                </a:moveTo>
                <a:lnTo>
                  <a:pt x="230" y="0"/>
                </a:lnTo>
                <a:lnTo>
                  <a:pt x="230" y="154"/>
                </a:lnTo>
                <a:lnTo>
                  <a:pt x="0" y="1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6734520" y="2165400"/>
            <a:ext cx="331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7367040" y="2165400"/>
            <a:ext cx="1275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Tier-2 tác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8759880" y="2185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8937360" y="2165400"/>
            <a:ext cx="1312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LangGraph.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767880" y="2575080"/>
            <a:ext cx="429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2.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122220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1385280" y="25750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152748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1690560" y="2575080"/>
            <a:ext cx="13464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Welford 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319428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3385440" y="2575080"/>
            <a:ext cx="543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tuy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399312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4142520" y="2575080"/>
            <a:ext cx="954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phát 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518256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331960" y="2575080"/>
            <a:ext cx="1451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zero-day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690480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054200" y="2575080"/>
            <a:ext cx="653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kê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73748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7912080" y="2575080"/>
            <a:ext cx="1829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O(1)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RAM/CPU.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767880" y="2984400"/>
            <a:ext cx="4106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3.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Dual-RAG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(FAISS + BM25 + RRF) 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5181840" y="3004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5331240" y="2984400"/>
            <a:ext cx="291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5644800" y="3004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5794560" y="2984400"/>
            <a:ext cx="1433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hoá suy lu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7331040" y="3004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7480800" y="2984400"/>
            <a:ext cx="2331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trên MITRE + NIST.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767880" y="3394080"/>
            <a:ext cx="1014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4.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Rào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1872720" y="34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2022480" y="3394080"/>
            <a:ext cx="1495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AI phòng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3672360" y="34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3835440" y="3394080"/>
            <a:ext cx="3816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265280" y="34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415040" y="3394080"/>
            <a:ext cx="844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 sâu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+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5327280" y="341460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đồ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5626440" y="3394080"/>
            <a:ext cx="69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thu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6377760" y="34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6527520" y="3394080"/>
            <a:ext cx="1963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Tier-1/Tier-2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8658000" y="34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8807760" y="3394080"/>
            <a:ext cx="17136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thao túng 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10645560" y="34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1047600" y="3727440"/>
            <a:ext cx="406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1485360" y="3747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1566000" y="37274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767880" y="4137120"/>
            <a:ext cx="394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5.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1188360" y="4157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1376280" y="4137120"/>
            <a:ext cx="797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p ánh x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2260800" y="4157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2410560" y="4137120"/>
            <a:ext cx="2367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MITRE ATT&amp;CK có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4923360" y="4157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5072760" y="4137120"/>
            <a:ext cx="775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 trúc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5947200" y="4157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6096600" y="4137120"/>
            <a:ext cx="1084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óng góp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7240680" y="4157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7390440" y="4137120"/>
            <a:ext cx="1741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sung — node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9246600" y="4157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9424440" y="4137120"/>
            <a:ext cx="331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6).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767880" y="4546800"/>
            <a:ext cx="1047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6.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Khung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1904400" y="4566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2067480" y="4546800"/>
            <a:ext cx="1375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ánh giá 5 chi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3598200" y="4566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3747960" y="4546800"/>
            <a:ext cx="601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 + ki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4415400" y="4566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4564800" y="4546800"/>
            <a:ext cx="268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4849920" y="4566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5093640" y="4546800"/>
            <a:ext cx="573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5730840" y="4566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5894280" y="4546800"/>
            <a:ext cx="50846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kê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(McNemar, Mann-Whitney U, Wilson CI,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1047600" y="4880160"/>
            <a:ext cx="222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LLM-as-Judge liên-h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3469320" y="49003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3619080" y="48801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11827080" y="6405120"/>
            <a:ext cx="1976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4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0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5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9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0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1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2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3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4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5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6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7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0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1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3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4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5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6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4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5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9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4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5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6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666720" y="1847520"/>
            <a:ext cx="10858680" cy="2753280"/>
          </a:xfrm>
          <a:custGeom>
            <a:avLst/>
            <a:gdLst/>
            <a:ahLst/>
            <a:rect l="0" t="0" r="r" b="b"/>
            <a:pathLst>
              <a:path w="30163" h="7648">
                <a:moveTo>
                  <a:pt x="0" y="0"/>
                </a:moveTo>
                <a:lnTo>
                  <a:pt x="30163" y="0"/>
                </a:lnTo>
                <a:lnTo>
                  <a:pt x="30163" y="7648"/>
                </a:lnTo>
                <a:lnTo>
                  <a:pt x="0" y="764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4313880" y="111924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Ki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4708800" y="11498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ế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3" name=""/>
          <p:cNvSpPr txBox="1"/>
          <p:nvPr/>
        </p:nvSpPr>
        <p:spPr>
          <a:xfrm>
            <a:off x="4927320" y="1119240"/>
            <a:ext cx="11941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 trúc t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4" name=""/>
          <p:cNvSpPr txBox="1"/>
          <p:nvPr/>
        </p:nvSpPr>
        <p:spPr>
          <a:xfrm>
            <a:off x="6228000" y="11498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ổ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5" name=""/>
          <p:cNvSpPr txBox="1"/>
          <p:nvPr/>
        </p:nvSpPr>
        <p:spPr>
          <a:xfrm>
            <a:off x="6466680" y="1119240"/>
            <a:ext cx="13158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 quan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753480" y="1929240"/>
            <a:ext cx="10022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Log mạng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7" name=""/>
          <p:cNvSpPr txBox="1"/>
          <p:nvPr/>
        </p:nvSpPr>
        <p:spPr>
          <a:xfrm>
            <a:off x="2000880" y="1953720"/>
            <a:ext cx="313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──►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2313720" y="1929240"/>
            <a:ext cx="17316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2521800" y="1953720"/>
            <a:ext cx="177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┌────────────────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0" name=""/>
          <p:cNvSpPr txBox="1"/>
          <p:nvPr/>
        </p:nvSpPr>
        <p:spPr>
          <a:xfrm>
            <a:off x="4294800" y="1929240"/>
            <a:ext cx="22136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TIER-1 (tốc độ mạng, O(1))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1" name=""/>
          <p:cNvSpPr txBox="1"/>
          <p:nvPr/>
        </p:nvSpPr>
        <p:spPr>
          <a:xfrm>
            <a:off x="7205400" y="1953720"/>
            <a:ext cx="177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────────────────┐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2" name=""/>
          <p:cNvSpPr txBox="1"/>
          <p:nvPr/>
        </p:nvSpPr>
        <p:spPr>
          <a:xfrm>
            <a:off x="753480" y="2167200"/>
            <a:ext cx="76716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3" name=""/>
          <p:cNvSpPr txBox="1"/>
          <p:nvPr/>
        </p:nvSpPr>
        <p:spPr>
          <a:xfrm>
            <a:off x="2520720" y="219168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│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4" name=""/>
          <p:cNvSpPr txBox="1"/>
          <p:nvPr/>
        </p:nvSpPr>
        <p:spPr>
          <a:xfrm>
            <a:off x="2625120" y="2167200"/>
            <a:ext cx="487008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RuleEngine (signature) + Welford online (Z&gt;3.5σ zero-day)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5" name=""/>
          <p:cNvSpPr txBox="1"/>
          <p:nvPr/>
        </p:nvSpPr>
        <p:spPr>
          <a:xfrm>
            <a:off x="8966520" y="219168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│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6" name=""/>
          <p:cNvSpPr txBox="1"/>
          <p:nvPr/>
        </p:nvSpPr>
        <p:spPr>
          <a:xfrm>
            <a:off x="753480" y="2395800"/>
            <a:ext cx="76716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2520720" y="2420280"/>
            <a:ext cx="64854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└───────────────┬───────────────────────────┬────────────────┘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753480" y="2634120"/>
            <a:ext cx="223200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benign: DROP/LOG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9" name=""/>
          <p:cNvSpPr txBox="1"/>
          <p:nvPr/>
        </p:nvSpPr>
        <p:spPr>
          <a:xfrm>
            <a:off x="3976200" y="2658600"/>
            <a:ext cx="313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◄─┘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0" name=""/>
          <p:cNvSpPr txBox="1"/>
          <p:nvPr/>
        </p:nvSpPr>
        <p:spPr>
          <a:xfrm>
            <a:off x="4289040" y="2634120"/>
            <a:ext cx="12200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7095960" y="265860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│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2" name=""/>
          <p:cNvSpPr txBox="1"/>
          <p:nvPr/>
        </p:nvSpPr>
        <p:spPr>
          <a:xfrm>
            <a:off x="7200000" y="2634120"/>
            <a:ext cx="222732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ESCALATE (thiểu số mơ hồ)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3" name=""/>
          <p:cNvSpPr txBox="1"/>
          <p:nvPr/>
        </p:nvSpPr>
        <p:spPr>
          <a:xfrm>
            <a:off x="753480" y="2862720"/>
            <a:ext cx="275616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                           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7094880" y="288720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▼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5" name=""/>
          <p:cNvSpPr txBox="1"/>
          <p:nvPr/>
        </p:nvSpPr>
        <p:spPr>
          <a:xfrm>
            <a:off x="753480" y="3100680"/>
            <a:ext cx="76716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2520720" y="3125160"/>
            <a:ext cx="1360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┌────────────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3876480" y="3100680"/>
            <a:ext cx="33764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TIER-2 (Tác tử LangGraph, Gemma-2-9B)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7930800" y="3125160"/>
            <a:ext cx="1149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──────────┐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9" name=""/>
          <p:cNvSpPr txBox="1"/>
          <p:nvPr/>
        </p:nvSpPr>
        <p:spPr>
          <a:xfrm>
            <a:off x="753480" y="3329280"/>
            <a:ext cx="76716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2520720" y="335376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│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2625120" y="3329280"/>
            <a:ext cx="9410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Guardrails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3872520" y="335376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→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3" name=""/>
          <p:cNvSpPr txBox="1"/>
          <p:nvPr/>
        </p:nvSpPr>
        <p:spPr>
          <a:xfrm>
            <a:off x="3976920" y="3329280"/>
            <a:ext cx="86796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Dual-RAG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4" name=""/>
          <p:cNvSpPr txBox="1"/>
          <p:nvPr/>
        </p:nvSpPr>
        <p:spPr>
          <a:xfrm>
            <a:off x="5016240" y="335376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→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5120640" y="3329280"/>
            <a:ext cx="10004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LLM-Triage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6368040" y="335376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→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7" name=""/>
          <p:cNvSpPr txBox="1"/>
          <p:nvPr/>
        </p:nvSpPr>
        <p:spPr>
          <a:xfrm>
            <a:off x="6472440" y="3329280"/>
            <a:ext cx="143172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ATT&amp;CK-Mapper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8031960" y="335376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→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8136000" y="3329280"/>
            <a:ext cx="6044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Action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0" name=""/>
          <p:cNvSpPr txBox="1"/>
          <p:nvPr/>
        </p:nvSpPr>
        <p:spPr>
          <a:xfrm>
            <a:off x="8967600" y="335376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│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753480" y="3567600"/>
            <a:ext cx="76716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2520720" y="359208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│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2625120" y="3567600"/>
            <a:ext cx="42422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+ Threat Memory (chuỗi APT đa-ngày)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4" name=""/>
          <p:cNvSpPr txBox="1"/>
          <p:nvPr/>
        </p:nvSpPr>
        <p:spPr>
          <a:xfrm>
            <a:off x="8966520" y="359208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│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753480" y="3805560"/>
            <a:ext cx="76716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2520720" y="3830040"/>
            <a:ext cx="64854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└───────────────┬────────────────────────────────────────────┘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7" name=""/>
          <p:cNvSpPr txBox="1"/>
          <p:nvPr/>
        </p:nvSpPr>
        <p:spPr>
          <a:xfrm>
            <a:off x="753480" y="4034160"/>
            <a:ext cx="149112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4183920" y="405864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▼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9" name=""/>
          <p:cNvSpPr txBox="1"/>
          <p:nvPr/>
        </p:nvSpPr>
        <p:spPr>
          <a:xfrm>
            <a:off x="4288320" y="4034160"/>
            <a:ext cx="267228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BLOCK_IP / ALERT / AWAIT-HITL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753480" y="4272480"/>
            <a:ext cx="262188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  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Audit HMAC-SHA256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4703760" y="4296960"/>
            <a:ext cx="209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─►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4912560" y="4272480"/>
            <a:ext cx="141192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Dashboard HITL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6575760" y="4296960"/>
            <a:ext cx="209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─►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4" name=""/>
          <p:cNvSpPr/>
          <p:nvPr/>
        </p:nvSpPr>
        <p:spPr>
          <a:xfrm>
            <a:off x="819000" y="4981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5" name=""/>
          <p:cNvSpPr txBox="1"/>
          <p:nvPr/>
        </p:nvSpPr>
        <p:spPr>
          <a:xfrm>
            <a:off x="6784200" y="4272480"/>
            <a:ext cx="156132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Feedback về Tier-1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6" name=""/>
          <p:cNvSpPr txBox="1"/>
          <p:nvPr/>
        </p:nvSpPr>
        <p:spPr>
          <a:xfrm>
            <a:off x="1047600" y="4861080"/>
            <a:ext cx="595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Tách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7" name=""/>
          <p:cNvSpPr txBox="1"/>
          <p:nvPr/>
        </p:nvSpPr>
        <p:spPr>
          <a:xfrm>
            <a:off x="1671120" y="4881240"/>
            <a:ext cx="508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đườ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2213640" y="4861080"/>
            <a:ext cx="592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2858040" y="4881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ặ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3007800" y="48610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3223080" y="488124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đồ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3549240" y="4861080"/>
            <a:ext cx="473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4061520" y="4881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4" name=""/>
          <p:cNvSpPr txBox="1"/>
          <p:nvPr/>
        </p:nvSpPr>
        <p:spPr>
          <a:xfrm>
            <a:off x="4224600" y="4861080"/>
            <a:ext cx="854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Tier-1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5164560" y="4881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6" name=""/>
          <p:cNvSpPr txBox="1"/>
          <p:nvPr/>
        </p:nvSpPr>
        <p:spPr>
          <a:xfrm>
            <a:off x="5313960" y="4861080"/>
            <a:ext cx="444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ã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5788440" y="4881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ặ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5938200" y="4861080"/>
            <a:ext cx="291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6251760" y="4881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6401160" y="4861080"/>
            <a:ext cx="1632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công rõ ràng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8148600" y="4881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8323200" y="48610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3" name=""/>
          <p:cNvSpPr txBox="1"/>
          <p:nvPr/>
        </p:nvSpPr>
        <p:spPr>
          <a:xfrm>
            <a:off x="8487000" y="4881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8636760" y="48610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8823960" y="488124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9123120" y="486108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9398160" y="4881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9547920" y="4861080"/>
            <a:ext cx="945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ng; LLM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10547640" y="4881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10697400" y="4861080"/>
            <a:ext cx="409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óng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1047600" y="5194440"/>
            <a:ext cx="666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góp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2" name=""/>
          <p:cNvSpPr txBox="1"/>
          <p:nvPr/>
        </p:nvSpPr>
        <p:spPr>
          <a:xfrm>
            <a:off x="1768320" y="52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1917720" y="5194440"/>
            <a:ext cx="1035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thích +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4" name=""/>
          <p:cNvSpPr txBox="1"/>
          <p:nvPr/>
        </p:nvSpPr>
        <p:spPr>
          <a:xfrm>
            <a:off x="3082680" y="5214600"/>
            <a:ext cx="3556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ươ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3461760" y="5194440"/>
            <a:ext cx="941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quan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6" name=""/>
          <p:cNvSpPr txBox="1"/>
          <p:nvPr/>
        </p:nvSpPr>
        <p:spPr>
          <a:xfrm>
            <a:off x="4551480" y="519444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b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4640760" y="52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4851360" y="519444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4954320" y="521460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đồ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5314680" y="5194440"/>
            <a:ext cx="4824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ng b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5751720" y="52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5901480" y="51944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5961240" y="521460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6220800" y="5194440"/>
            <a:ext cx="468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6717960" y="52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ẽ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6867720" y="5194440"/>
            <a:ext cx="2207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LLM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không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làm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9242280" y="52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8" name=""/>
          <p:cNvSpPr txBox="1"/>
          <p:nvPr/>
        </p:nvSpPr>
        <p:spPr>
          <a:xfrm>
            <a:off x="9392040" y="5194440"/>
            <a:ext cx="407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9817200" y="52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9966960" y="5194440"/>
            <a:ext cx="333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o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10314720" y="5214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10464480" y="51944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1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11827080" y="6405120"/>
            <a:ext cx="1976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5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1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2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3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4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5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7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8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3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4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2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3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5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0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1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2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3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4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5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6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7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8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9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0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1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3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4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5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6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7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8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9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0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1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2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3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4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5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6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7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8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9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3117240" y="1338480"/>
            <a:ext cx="16801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Tier-1 — L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1" name=""/>
          <p:cNvSpPr txBox="1"/>
          <p:nvPr/>
        </p:nvSpPr>
        <p:spPr>
          <a:xfrm>
            <a:off x="4929120" y="13687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ọ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2" name=""/>
          <p:cNvSpPr txBox="1"/>
          <p:nvPr/>
        </p:nvSpPr>
        <p:spPr>
          <a:xfrm>
            <a:off x="5167800" y="1338480"/>
            <a:ext cx="4075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c t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5604480" y="13687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ố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5843160" y="133848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c 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5" name=""/>
          <p:cNvSpPr txBox="1"/>
          <p:nvPr/>
        </p:nvSpPr>
        <p:spPr>
          <a:xfrm>
            <a:off x="6119280" y="1368720"/>
            <a:ext cx="45504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độ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6597000" y="1338480"/>
            <a:ext cx="10022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cao (t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7679880" y="13687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ấ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7898400" y="133848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t 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9" name=""/>
          <p:cNvSpPr txBox="1"/>
          <p:nvPr/>
        </p:nvSpPr>
        <p:spPr>
          <a:xfrm>
            <a:off x="8142480" y="13687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đị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0" name=""/>
          <p:cNvSpPr/>
          <p:nvPr/>
        </p:nvSpPr>
        <p:spPr>
          <a:xfrm>
            <a:off x="819000" y="2199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80"/>
                  <a:pt x="214" y="192"/>
                  <a:pt x="203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2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1" name=""/>
          <p:cNvSpPr txBox="1"/>
          <p:nvPr/>
        </p:nvSpPr>
        <p:spPr>
          <a:xfrm>
            <a:off x="8496360" y="1338480"/>
            <a:ext cx="5220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nh)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2" name=""/>
          <p:cNvSpPr txBox="1"/>
          <p:nvPr/>
        </p:nvSpPr>
        <p:spPr>
          <a:xfrm>
            <a:off x="1047600" y="2079720"/>
            <a:ext cx="1948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RuleEngine: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so kh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3" name=""/>
          <p:cNvSpPr txBox="1"/>
          <p:nvPr/>
        </p:nvSpPr>
        <p:spPr>
          <a:xfrm>
            <a:off x="3202560" y="2099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4" name=""/>
          <p:cNvSpPr txBox="1"/>
          <p:nvPr/>
        </p:nvSpPr>
        <p:spPr>
          <a:xfrm>
            <a:off x="3376800" y="2079720"/>
            <a:ext cx="459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5" name=""/>
          <p:cNvSpPr txBox="1"/>
          <p:nvPr/>
        </p:nvSpPr>
        <p:spPr>
          <a:xfrm>
            <a:off x="3862080" y="2099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6" name=""/>
          <p:cNvSpPr txBox="1"/>
          <p:nvPr/>
        </p:nvSpPr>
        <p:spPr>
          <a:xfrm>
            <a:off x="4039920" y="2079720"/>
            <a:ext cx="6122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ký WAF (SQLi/XSS/Path/Cmd-Inj), injection/jailbreak,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7" name=""/>
          <p:cNvSpPr txBox="1"/>
          <p:nvPr/>
        </p:nvSpPr>
        <p:spPr>
          <a:xfrm>
            <a:off x="10667160" y="2099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8" name=""/>
          <p:cNvSpPr txBox="1"/>
          <p:nvPr/>
        </p:nvSpPr>
        <p:spPr>
          <a:xfrm>
            <a:off x="10816560" y="207972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9" name=""/>
          <p:cNvSpPr txBox="1"/>
          <p:nvPr/>
        </p:nvSpPr>
        <p:spPr>
          <a:xfrm>
            <a:off x="1047600" y="2413080"/>
            <a:ext cx="276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0" name=""/>
          <p:cNvSpPr txBox="1"/>
          <p:nvPr/>
        </p:nvSpPr>
        <p:spPr>
          <a:xfrm>
            <a:off x="1347120" y="2433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1" name=""/>
          <p:cNvSpPr txBox="1"/>
          <p:nvPr/>
        </p:nvSpPr>
        <p:spPr>
          <a:xfrm>
            <a:off x="1496520" y="2413080"/>
            <a:ext cx="309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y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2" name=""/>
          <p:cNvSpPr txBox="1"/>
          <p:nvPr/>
        </p:nvSpPr>
        <p:spPr>
          <a:xfrm>
            <a:off x="1822680" y="2433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3" name=""/>
          <p:cNvSpPr/>
          <p:nvPr/>
        </p:nvSpPr>
        <p:spPr>
          <a:xfrm>
            <a:off x="819000" y="29430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4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7"/>
                  <a:pt x="223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4" name=""/>
          <p:cNvSpPr txBox="1"/>
          <p:nvPr/>
        </p:nvSpPr>
        <p:spPr>
          <a:xfrm>
            <a:off x="1972080" y="2413080"/>
            <a:ext cx="1422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m, port-scan.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5" name=""/>
          <p:cNvSpPr/>
          <p:nvPr/>
        </p:nvSpPr>
        <p:spPr>
          <a:xfrm>
            <a:off x="3085920" y="2847960"/>
            <a:ext cx="1448280" cy="295560"/>
          </a:xfrm>
          <a:custGeom>
            <a:avLst/>
            <a:gdLst/>
            <a:ahLst/>
            <a:rect l="0" t="0" r="r" b="b"/>
            <a:pathLst>
              <a:path w="4023" h="821">
                <a:moveTo>
                  <a:pt x="0" y="0"/>
                </a:moveTo>
                <a:lnTo>
                  <a:pt x="4023" y="0"/>
                </a:lnTo>
                <a:lnTo>
                  <a:pt x="402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6a7a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6" name=""/>
          <p:cNvSpPr txBox="1"/>
          <p:nvPr/>
        </p:nvSpPr>
        <p:spPr>
          <a:xfrm>
            <a:off x="1047600" y="2822760"/>
            <a:ext cx="1791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Welford online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7" name=""/>
          <p:cNvSpPr txBox="1"/>
          <p:nvPr/>
        </p:nvSpPr>
        <p:spPr>
          <a:xfrm>
            <a:off x="3125520" y="2863440"/>
            <a:ext cx="119556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fff8e1"/>
                </a:solidFill>
                <a:latin typeface="RobotoMono"/>
                <a:ea typeface="RobotoMono"/>
              </a:rPr>
              <a:t>RunningStats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8" name=""/>
          <p:cNvSpPr txBox="1"/>
          <p:nvPr/>
        </p:nvSpPr>
        <p:spPr>
          <a:xfrm>
            <a:off x="4564080" y="2822760"/>
            <a:ext cx="309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):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9" name=""/>
          <p:cNvSpPr txBox="1"/>
          <p:nvPr/>
        </p:nvSpPr>
        <p:spPr>
          <a:xfrm>
            <a:off x="4911840" y="2842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0" name=""/>
          <p:cNvSpPr txBox="1"/>
          <p:nvPr/>
        </p:nvSpPr>
        <p:spPr>
          <a:xfrm>
            <a:off x="5061240" y="2822760"/>
            <a:ext cx="479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 nh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1" name=""/>
          <p:cNvSpPr txBox="1"/>
          <p:nvPr/>
        </p:nvSpPr>
        <p:spPr>
          <a:xfrm>
            <a:off x="5568840" y="2842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2" name=""/>
          <p:cNvSpPr/>
          <p:nvPr/>
        </p:nvSpPr>
        <p:spPr>
          <a:xfrm>
            <a:off x="8286480" y="2847960"/>
            <a:ext cx="991080" cy="295560"/>
          </a:xfrm>
          <a:custGeom>
            <a:avLst/>
            <a:gdLst/>
            <a:ahLst/>
            <a:rect l="0" t="0" r="r" b="b"/>
            <a:pathLst>
              <a:path w="2753" h="821">
                <a:moveTo>
                  <a:pt x="0" y="0"/>
                </a:moveTo>
                <a:lnTo>
                  <a:pt x="2753" y="0"/>
                </a:lnTo>
                <a:lnTo>
                  <a:pt x="275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6a7a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3" name=""/>
          <p:cNvSpPr txBox="1"/>
          <p:nvPr/>
        </p:nvSpPr>
        <p:spPr>
          <a:xfrm>
            <a:off x="5718600" y="2822760"/>
            <a:ext cx="23724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Mean/StdDev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O(1)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;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4" name=""/>
          <p:cNvSpPr txBox="1"/>
          <p:nvPr/>
        </p:nvSpPr>
        <p:spPr>
          <a:xfrm>
            <a:off x="8327160" y="2863440"/>
            <a:ext cx="7034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fff8e1"/>
                </a:solidFill>
                <a:latin typeface="RobotoMono"/>
                <a:ea typeface="RobotoMono"/>
              </a:rPr>
              <a:t>Z &gt; 3.5σ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5" name=""/>
          <p:cNvSpPr txBox="1"/>
          <p:nvPr/>
        </p:nvSpPr>
        <p:spPr>
          <a:xfrm>
            <a:off x="9308520" y="2822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6" name=""/>
          <p:cNvSpPr txBox="1"/>
          <p:nvPr/>
        </p:nvSpPr>
        <p:spPr>
          <a:xfrm>
            <a:off x="9368280" y="2802240"/>
            <a:ext cx="247320" cy="37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NotoSansMath"/>
                <a:ea typeface="NotoSansMath"/>
              </a:rPr>
              <a:t>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7" name=""/>
          <p:cNvSpPr txBox="1"/>
          <p:nvPr/>
        </p:nvSpPr>
        <p:spPr>
          <a:xfrm>
            <a:off x="9581760" y="2822760"/>
            <a:ext cx="13284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zero-day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8" name=""/>
          <p:cNvSpPr txBox="1"/>
          <p:nvPr/>
        </p:nvSpPr>
        <p:spPr>
          <a:xfrm>
            <a:off x="11062440" y="2842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9" name=""/>
          <p:cNvSpPr txBox="1"/>
          <p:nvPr/>
        </p:nvSpPr>
        <p:spPr>
          <a:xfrm>
            <a:off x="11225520" y="2822760"/>
            <a:ext cx="270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0" name=""/>
          <p:cNvSpPr txBox="1"/>
          <p:nvPr/>
        </p:nvSpPr>
        <p:spPr>
          <a:xfrm>
            <a:off x="1047600" y="3156120"/>
            <a:ext cx="1997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kê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(mà signature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1" name=""/>
          <p:cNvSpPr txBox="1"/>
          <p:nvPr/>
        </p:nvSpPr>
        <p:spPr>
          <a:xfrm>
            <a:off x="3237480" y="3176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2" name=""/>
          <p:cNvSpPr/>
          <p:nvPr/>
        </p:nvSpPr>
        <p:spPr>
          <a:xfrm>
            <a:off x="819000" y="3686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3" name=""/>
          <p:cNvSpPr txBox="1"/>
          <p:nvPr/>
        </p:nvSpPr>
        <p:spPr>
          <a:xfrm>
            <a:off x="3386880" y="3156120"/>
            <a:ext cx="525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sót).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4" name=""/>
          <p:cNvSpPr txBox="1"/>
          <p:nvPr/>
        </p:nvSpPr>
        <p:spPr>
          <a:xfrm>
            <a:off x="1047600" y="3565440"/>
            <a:ext cx="303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5" name=""/>
          <p:cNvSpPr txBox="1"/>
          <p:nvPr/>
        </p:nvSpPr>
        <p:spPr>
          <a:xfrm>
            <a:off x="1378080" y="3585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6" name=""/>
          <p:cNvSpPr txBox="1"/>
          <p:nvPr/>
        </p:nvSpPr>
        <p:spPr>
          <a:xfrm>
            <a:off x="1541160" y="3565440"/>
            <a:ext cx="2791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Baseline Poisoning: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7" name=""/>
          <p:cNvSpPr txBox="1"/>
          <p:nvPr/>
        </p:nvSpPr>
        <p:spPr>
          <a:xfrm>
            <a:off x="4644720" y="3585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ỉ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8" name=""/>
          <p:cNvSpPr txBox="1"/>
          <p:nvPr/>
        </p:nvSpPr>
        <p:spPr>
          <a:xfrm>
            <a:off x="4711680" y="35654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9" name=""/>
          <p:cNvSpPr txBox="1"/>
          <p:nvPr/>
        </p:nvSpPr>
        <p:spPr>
          <a:xfrm>
            <a:off x="4920840" y="3585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0" name=""/>
          <p:cNvSpPr txBox="1"/>
          <p:nvPr/>
        </p:nvSpPr>
        <p:spPr>
          <a:xfrm>
            <a:off x="5070600" y="3565440"/>
            <a:ext cx="749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 flow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1" name=""/>
          <p:cNvSpPr txBox="1"/>
          <p:nvPr/>
        </p:nvSpPr>
        <p:spPr>
          <a:xfrm>
            <a:off x="5921640" y="3565440"/>
            <a:ext cx="9759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lành tính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2" name=""/>
          <p:cNvSpPr txBox="1"/>
          <p:nvPr/>
        </p:nvSpPr>
        <p:spPr>
          <a:xfrm>
            <a:off x="6911280" y="3565440"/>
            <a:ext cx="746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vào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3" name=""/>
          <p:cNvSpPr txBox="1"/>
          <p:nvPr/>
        </p:nvSpPr>
        <p:spPr>
          <a:xfrm>
            <a:off x="7710120" y="3585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4" name=""/>
          <p:cNvSpPr txBox="1"/>
          <p:nvPr/>
        </p:nvSpPr>
        <p:spPr>
          <a:xfrm>
            <a:off x="7859880" y="3565440"/>
            <a:ext cx="790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kê 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5" name=""/>
          <p:cNvSpPr txBox="1"/>
          <p:nvPr/>
        </p:nvSpPr>
        <p:spPr>
          <a:xfrm>
            <a:off x="8692920" y="3585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6" name=""/>
          <p:cNvSpPr txBox="1"/>
          <p:nvPr/>
        </p:nvSpPr>
        <p:spPr>
          <a:xfrm>
            <a:off x="8842320" y="3565440"/>
            <a:ext cx="1593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n; hot-reload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7" name=""/>
          <p:cNvSpPr txBox="1"/>
          <p:nvPr/>
        </p:nvSpPr>
        <p:spPr>
          <a:xfrm>
            <a:off x="10580760" y="3585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8" name=""/>
          <p:cNvSpPr txBox="1"/>
          <p:nvPr/>
        </p:nvSpPr>
        <p:spPr>
          <a:xfrm>
            <a:off x="10730520" y="3565440"/>
            <a:ext cx="677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hình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9" name=""/>
          <p:cNvSpPr txBox="1"/>
          <p:nvPr/>
        </p:nvSpPr>
        <p:spPr>
          <a:xfrm>
            <a:off x="1047600" y="38988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0" name=""/>
          <p:cNvSpPr txBox="1"/>
          <p:nvPr/>
        </p:nvSpPr>
        <p:spPr>
          <a:xfrm>
            <a:off x="1262880" y="39193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ỗ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1" name=""/>
          <p:cNvSpPr/>
          <p:nvPr/>
        </p:nvSpPr>
        <p:spPr>
          <a:xfrm>
            <a:off x="819000" y="4429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3" y="179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4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2" name=""/>
          <p:cNvSpPr txBox="1"/>
          <p:nvPr/>
        </p:nvSpPr>
        <p:spPr>
          <a:xfrm>
            <a:off x="1412640" y="3898800"/>
            <a:ext cx="433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5s.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3" name=""/>
          <p:cNvSpPr txBox="1"/>
          <p:nvPr/>
        </p:nvSpPr>
        <p:spPr>
          <a:xfrm>
            <a:off x="1047600" y="4308480"/>
            <a:ext cx="2087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Session Baseline: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4" name=""/>
          <p:cNvSpPr txBox="1"/>
          <p:nvPr/>
        </p:nvSpPr>
        <p:spPr>
          <a:xfrm>
            <a:off x="337968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ồ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5" name=""/>
          <p:cNvSpPr txBox="1"/>
          <p:nvPr/>
        </p:nvSpPr>
        <p:spPr>
          <a:xfrm>
            <a:off x="3529440" y="43084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s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6" name=""/>
          <p:cNvSpPr txBox="1"/>
          <p:nvPr/>
        </p:nvSpPr>
        <p:spPr>
          <a:xfrm>
            <a:off x="370836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7" name=""/>
          <p:cNvSpPr txBox="1"/>
          <p:nvPr/>
        </p:nvSpPr>
        <p:spPr>
          <a:xfrm>
            <a:off x="3882600" y="4308480"/>
            <a:ext cx="1153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IP, phát 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8" name=""/>
          <p:cNvSpPr txBox="1"/>
          <p:nvPr/>
        </p:nvSpPr>
        <p:spPr>
          <a:xfrm>
            <a:off x="511164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9" name=""/>
          <p:cNvSpPr txBox="1"/>
          <p:nvPr/>
        </p:nvSpPr>
        <p:spPr>
          <a:xfrm>
            <a:off x="5261040" y="4308480"/>
            <a:ext cx="1986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port-scan (&gt;10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0" name=""/>
          <p:cNvSpPr txBox="1"/>
          <p:nvPr/>
        </p:nvSpPr>
        <p:spPr>
          <a:xfrm>
            <a:off x="741636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1" name=""/>
          <p:cNvSpPr txBox="1"/>
          <p:nvPr/>
        </p:nvSpPr>
        <p:spPr>
          <a:xfrm>
            <a:off x="7565760" y="4308480"/>
            <a:ext cx="2129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ng), TTL eviction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2" name=""/>
          <p:cNvSpPr txBox="1"/>
          <p:nvPr/>
        </p:nvSpPr>
        <p:spPr>
          <a:xfrm>
            <a:off x="987480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3" name=""/>
          <p:cNvSpPr txBox="1"/>
          <p:nvPr/>
        </p:nvSpPr>
        <p:spPr>
          <a:xfrm>
            <a:off x="10024560" y="4308480"/>
            <a:ext cx="773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tràn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4" name=""/>
          <p:cNvSpPr txBox="1"/>
          <p:nvPr/>
        </p:nvSpPr>
        <p:spPr>
          <a:xfrm>
            <a:off x="1047600" y="4641840"/>
            <a:ext cx="613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RAM.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5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6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7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8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9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0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1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2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3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4" name=""/>
          <p:cNvSpPr txBox="1"/>
          <p:nvPr/>
        </p:nvSpPr>
        <p:spPr>
          <a:xfrm>
            <a:off x="914400" y="5222880"/>
            <a:ext cx="4716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Quy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5" name=""/>
          <p:cNvSpPr txBox="1"/>
          <p:nvPr/>
        </p:nvSpPr>
        <p:spPr>
          <a:xfrm>
            <a:off x="1428840" y="524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6" name=""/>
          <p:cNvSpPr txBox="1"/>
          <p:nvPr/>
        </p:nvSpPr>
        <p:spPr>
          <a:xfrm>
            <a:off x="1578600" y="52228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7" name=""/>
          <p:cNvSpPr txBox="1"/>
          <p:nvPr/>
        </p:nvSpPr>
        <p:spPr>
          <a:xfrm>
            <a:off x="1749240" y="524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8" name=""/>
          <p:cNvSpPr txBox="1"/>
          <p:nvPr/>
        </p:nvSpPr>
        <p:spPr>
          <a:xfrm>
            <a:off x="1992960" y="5222880"/>
            <a:ext cx="2372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 trong ~0.6 ms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so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9" name=""/>
          <p:cNvSpPr txBox="1"/>
          <p:nvPr/>
        </p:nvSpPr>
        <p:spPr>
          <a:xfrm>
            <a:off x="4570920" y="524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0" name=""/>
          <p:cNvSpPr txBox="1"/>
          <p:nvPr/>
        </p:nvSpPr>
        <p:spPr>
          <a:xfrm>
            <a:off x="4745520" y="5222880"/>
            <a:ext cx="904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4–6 s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1" name=""/>
          <p:cNvSpPr txBox="1"/>
          <p:nvPr/>
        </p:nvSpPr>
        <p:spPr>
          <a:xfrm>
            <a:off x="5715000" y="524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2" name=""/>
          <p:cNvSpPr txBox="1"/>
          <p:nvPr/>
        </p:nvSpPr>
        <p:spPr>
          <a:xfrm>
            <a:off x="5864400" y="5222880"/>
            <a:ext cx="390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3" name=""/>
          <p:cNvSpPr txBox="1"/>
          <p:nvPr/>
        </p:nvSpPr>
        <p:spPr>
          <a:xfrm>
            <a:off x="6276960" y="524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4" name=""/>
          <p:cNvSpPr txBox="1"/>
          <p:nvPr/>
        </p:nvSpPr>
        <p:spPr>
          <a:xfrm>
            <a:off x="6426720" y="52228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5" name=""/>
          <p:cNvSpPr txBox="1"/>
          <p:nvPr/>
        </p:nvSpPr>
        <p:spPr>
          <a:xfrm>
            <a:off x="6665760" y="5243400"/>
            <a:ext cx="329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6" name=""/>
          <p:cNvSpPr txBox="1"/>
          <p:nvPr/>
        </p:nvSpPr>
        <p:spPr>
          <a:xfrm>
            <a:off x="7017840" y="5222880"/>
            <a:ext cx="786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suy lu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7" name=""/>
          <p:cNvSpPr txBox="1"/>
          <p:nvPr/>
        </p:nvSpPr>
        <p:spPr>
          <a:xfrm>
            <a:off x="7874280" y="524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8" name=""/>
          <p:cNvSpPr txBox="1"/>
          <p:nvPr/>
        </p:nvSpPr>
        <p:spPr>
          <a:xfrm>
            <a:off x="8023680" y="5222880"/>
            <a:ext cx="745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LLM.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9" name=""/>
          <p:cNvSpPr txBox="1"/>
          <p:nvPr/>
        </p:nvSpPr>
        <p:spPr>
          <a:xfrm>
            <a:off x="666720" y="523728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0" name=""/>
          <p:cNvSpPr txBox="1"/>
          <p:nvPr/>
        </p:nvSpPr>
        <p:spPr>
          <a:xfrm rot="10800000">
            <a:off x="11280240" y="524268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1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2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3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4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5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6" name=""/>
          <p:cNvSpPr txBox="1"/>
          <p:nvPr/>
        </p:nvSpPr>
        <p:spPr>
          <a:xfrm>
            <a:off x="11827080" y="6405120"/>
            <a:ext cx="1976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6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0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1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2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3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4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5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6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7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8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9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0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1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2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3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4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5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6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7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8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9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0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1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2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3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4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5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6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7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8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9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0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1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2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3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4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5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6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7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8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9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0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1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2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3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4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5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6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7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8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9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0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1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2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3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4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5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6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7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8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9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0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1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2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3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4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5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6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7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8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9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0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1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2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3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4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5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6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7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8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9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0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1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2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3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4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5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6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7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8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9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0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1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2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3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4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5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6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7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8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9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0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1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2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3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4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5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6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7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8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9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0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1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2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3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4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5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6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7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8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9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0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1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2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3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4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5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6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7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8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9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0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1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2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3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4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5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6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7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8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9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0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1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2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3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4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5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6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7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8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9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0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1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2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3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4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5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6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7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8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9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0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1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2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3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4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5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6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7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8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9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0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1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2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3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4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5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6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7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8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9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0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1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2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3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4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5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6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7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8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9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0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1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2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3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4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5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6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7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8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9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0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1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2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3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4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5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6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7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8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9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0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1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2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3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4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5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6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7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8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9" name=""/>
          <p:cNvSpPr/>
          <p:nvPr/>
        </p:nvSpPr>
        <p:spPr>
          <a:xfrm>
            <a:off x="666720" y="2085840"/>
            <a:ext cx="10858680" cy="1114560"/>
          </a:xfrm>
          <a:custGeom>
            <a:avLst/>
            <a:gdLst/>
            <a:ahLst/>
            <a:rect l="0" t="0" r="r" b="b"/>
            <a:pathLst>
              <a:path w="30163" h="3096">
                <a:moveTo>
                  <a:pt x="0" y="0"/>
                </a:moveTo>
                <a:lnTo>
                  <a:pt x="30163" y="0"/>
                </a:lnTo>
                <a:lnTo>
                  <a:pt x="30163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0" name=""/>
          <p:cNvSpPr txBox="1"/>
          <p:nvPr/>
        </p:nvSpPr>
        <p:spPr>
          <a:xfrm>
            <a:off x="3085200" y="1366920"/>
            <a:ext cx="23065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Tier-2 — Tác t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1" name=""/>
          <p:cNvSpPr txBox="1"/>
          <p:nvPr/>
        </p:nvSpPr>
        <p:spPr>
          <a:xfrm>
            <a:off x="5531040" y="13975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ử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2" name=""/>
          <p:cNvSpPr txBox="1"/>
          <p:nvPr/>
        </p:nvSpPr>
        <p:spPr>
          <a:xfrm>
            <a:off x="5811840" y="1366920"/>
            <a:ext cx="30549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LangGraph (6 nút)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3" name=""/>
          <p:cNvSpPr txBox="1"/>
          <p:nvPr/>
        </p:nvSpPr>
        <p:spPr>
          <a:xfrm>
            <a:off x="753480" y="2167200"/>
            <a:ext cx="87696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guardrails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4" name=""/>
          <p:cNvSpPr txBox="1"/>
          <p:nvPr/>
        </p:nvSpPr>
        <p:spPr>
          <a:xfrm>
            <a:off x="1896840" y="2191680"/>
            <a:ext cx="209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─►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5" name=""/>
          <p:cNvSpPr txBox="1"/>
          <p:nvPr/>
        </p:nvSpPr>
        <p:spPr>
          <a:xfrm>
            <a:off x="2105640" y="2167200"/>
            <a:ext cx="105372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rag_context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6" name=""/>
          <p:cNvSpPr txBox="1"/>
          <p:nvPr/>
        </p:nvSpPr>
        <p:spPr>
          <a:xfrm>
            <a:off x="3457080" y="2191680"/>
            <a:ext cx="209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─►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7" name=""/>
          <p:cNvSpPr txBox="1"/>
          <p:nvPr/>
        </p:nvSpPr>
        <p:spPr>
          <a:xfrm>
            <a:off x="3665520" y="2167200"/>
            <a:ext cx="90000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llm_triage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8" name=""/>
          <p:cNvSpPr txBox="1"/>
          <p:nvPr/>
        </p:nvSpPr>
        <p:spPr>
          <a:xfrm>
            <a:off x="4912920" y="2191680"/>
            <a:ext cx="209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─►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9" name=""/>
          <p:cNvSpPr txBox="1"/>
          <p:nvPr/>
        </p:nvSpPr>
        <p:spPr>
          <a:xfrm>
            <a:off x="5121720" y="2167200"/>
            <a:ext cx="15764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(gate theo ACTION)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0" name=""/>
          <p:cNvSpPr txBox="1"/>
          <p:nvPr/>
        </p:nvSpPr>
        <p:spPr>
          <a:xfrm>
            <a:off x="6993000" y="2191680"/>
            <a:ext cx="209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─►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1" name=""/>
          <p:cNvSpPr txBox="1"/>
          <p:nvPr/>
        </p:nvSpPr>
        <p:spPr>
          <a:xfrm>
            <a:off x="7201440" y="2167200"/>
            <a:ext cx="126108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attack_mapper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2" name=""/>
          <p:cNvSpPr txBox="1"/>
          <p:nvPr/>
        </p:nvSpPr>
        <p:spPr>
          <a:xfrm>
            <a:off x="753480" y="2405520"/>
            <a:ext cx="22136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               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3" name=""/>
          <p:cNvSpPr txBox="1"/>
          <p:nvPr/>
        </p:nvSpPr>
        <p:spPr>
          <a:xfrm>
            <a:off x="5847480" y="243000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│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4" name=""/>
          <p:cNvSpPr txBox="1"/>
          <p:nvPr/>
        </p:nvSpPr>
        <p:spPr>
          <a:xfrm>
            <a:off x="5951520" y="2405520"/>
            <a:ext cx="90288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5" name=""/>
          <p:cNvSpPr txBox="1"/>
          <p:nvPr/>
        </p:nvSpPr>
        <p:spPr>
          <a:xfrm>
            <a:off x="8030880" y="243000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│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6" name=""/>
          <p:cNvSpPr txBox="1"/>
          <p:nvPr/>
        </p:nvSpPr>
        <p:spPr>
          <a:xfrm>
            <a:off x="753480" y="2634120"/>
            <a:ext cx="277452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                     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benign LOG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7" name=""/>
          <p:cNvSpPr txBox="1"/>
          <p:nvPr/>
        </p:nvSpPr>
        <p:spPr>
          <a:xfrm>
            <a:off x="5951160" y="265860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▼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8" name=""/>
          <p:cNvSpPr txBox="1"/>
          <p:nvPr/>
        </p:nvSpPr>
        <p:spPr>
          <a:xfrm>
            <a:off x="6055560" y="2634120"/>
            <a:ext cx="85860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  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9" name=""/>
          <p:cNvSpPr txBox="1"/>
          <p:nvPr/>
        </p:nvSpPr>
        <p:spPr>
          <a:xfrm>
            <a:off x="8030880" y="2658600"/>
            <a:ext cx="173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DejaVuSansMono"/>
                <a:ea typeface="DejaVuSansMono"/>
              </a:rPr>
              <a:t>▼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0" name=""/>
          <p:cNvSpPr/>
          <p:nvPr/>
        </p:nvSpPr>
        <p:spPr>
          <a:xfrm>
            <a:off x="819000" y="35812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1" name=""/>
          <p:cNvSpPr txBox="1"/>
          <p:nvPr/>
        </p:nvSpPr>
        <p:spPr>
          <a:xfrm>
            <a:off x="753480" y="2872080"/>
            <a:ext cx="59306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                                             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END        action_executor / human_in_the_loop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2" name=""/>
          <p:cNvSpPr txBox="1"/>
          <p:nvPr/>
        </p:nvSpPr>
        <p:spPr>
          <a:xfrm>
            <a:off x="1047600" y="3460680"/>
            <a:ext cx="1748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State Machine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3" name=""/>
          <p:cNvSpPr txBox="1"/>
          <p:nvPr/>
        </p:nvSpPr>
        <p:spPr>
          <a:xfrm>
            <a:off x="3000600" y="3481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4" name=""/>
          <p:cNvSpPr txBox="1"/>
          <p:nvPr/>
        </p:nvSpPr>
        <p:spPr>
          <a:xfrm>
            <a:off x="3150000" y="34606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5" name=""/>
          <p:cNvSpPr txBox="1"/>
          <p:nvPr/>
        </p:nvSpPr>
        <p:spPr>
          <a:xfrm>
            <a:off x="3320640" y="3481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6" name=""/>
          <p:cNvSpPr/>
          <p:nvPr/>
        </p:nvSpPr>
        <p:spPr>
          <a:xfrm>
            <a:off x="4047840" y="3485880"/>
            <a:ext cx="2819880" cy="295560"/>
          </a:xfrm>
          <a:custGeom>
            <a:avLst/>
            <a:gdLst/>
            <a:ahLst/>
            <a:rect l="0" t="0" r="r" b="b"/>
            <a:pathLst>
              <a:path w="7833" h="821">
                <a:moveTo>
                  <a:pt x="0" y="0"/>
                </a:moveTo>
                <a:lnTo>
                  <a:pt x="7833" y="0"/>
                </a:lnTo>
                <a:lnTo>
                  <a:pt x="783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6a7a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7" name=""/>
          <p:cNvSpPr txBox="1"/>
          <p:nvPr/>
        </p:nvSpPr>
        <p:spPr>
          <a:xfrm>
            <a:off x="3564720" y="3460680"/>
            <a:ext cx="409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8" name=""/>
          <p:cNvSpPr txBox="1"/>
          <p:nvPr/>
        </p:nvSpPr>
        <p:spPr>
          <a:xfrm>
            <a:off x="4088520" y="3501720"/>
            <a:ext cx="222876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fff8e1"/>
                </a:solidFill>
                <a:latin typeface="RobotoMono"/>
                <a:ea typeface="RobotoMono"/>
              </a:rPr>
              <a:t>@dataclass SentinelState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9" name=""/>
          <p:cNvSpPr txBox="1"/>
          <p:nvPr/>
        </p:nvSpPr>
        <p:spPr>
          <a:xfrm>
            <a:off x="6899040" y="3460680"/>
            <a:ext cx="648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) —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0" name=""/>
          <p:cNvSpPr txBox="1"/>
          <p:nvPr/>
        </p:nvSpPr>
        <p:spPr>
          <a:xfrm>
            <a:off x="7597080" y="3481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1" name=""/>
          <p:cNvSpPr txBox="1"/>
          <p:nvPr/>
        </p:nvSpPr>
        <p:spPr>
          <a:xfrm>
            <a:off x="7746480" y="3460680"/>
            <a:ext cx="331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2" name=""/>
          <p:cNvSpPr txBox="1"/>
          <p:nvPr/>
        </p:nvSpPr>
        <p:spPr>
          <a:xfrm>
            <a:off x="8155440" y="3460680"/>
            <a:ext cx="15368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semantic drift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3" name=""/>
          <p:cNvSpPr txBox="1"/>
          <p:nvPr/>
        </p:nvSpPr>
        <p:spPr>
          <a:xfrm>
            <a:off x="9761760" y="34606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4" name=""/>
          <p:cNvSpPr txBox="1"/>
          <p:nvPr/>
        </p:nvSpPr>
        <p:spPr>
          <a:xfrm>
            <a:off x="9972000" y="34812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5" name=""/>
          <p:cNvSpPr txBox="1"/>
          <p:nvPr/>
        </p:nvSpPr>
        <p:spPr>
          <a:xfrm>
            <a:off x="10121400" y="3460680"/>
            <a:ext cx="511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6" name=""/>
          <p:cNvSpPr txBox="1"/>
          <p:nvPr/>
        </p:nvSpPr>
        <p:spPr>
          <a:xfrm>
            <a:off x="10685160" y="3481200"/>
            <a:ext cx="329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ườ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7" name=""/>
          <p:cNvSpPr txBox="1"/>
          <p:nvPr/>
        </p:nvSpPr>
        <p:spPr>
          <a:xfrm>
            <a:off x="11037240" y="346068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8" name=""/>
          <p:cNvSpPr txBox="1"/>
          <p:nvPr/>
        </p:nvSpPr>
        <p:spPr>
          <a:xfrm>
            <a:off x="1047600" y="3794040"/>
            <a:ext cx="497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IOC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9" name=""/>
          <p:cNvSpPr txBox="1"/>
          <p:nvPr/>
        </p:nvSpPr>
        <p:spPr>
          <a:xfrm>
            <a:off x="1647720" y="3794040"/>
            <a:ext cx="2628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ch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0" name=""/>
          <p:cNvSpPr txBox="1"/>
          <p:nvPr/>
        </p:nvSpPr>
        <p:spPr>
          <a:xfrm>
            <a:off x="1863720" y="38145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ỉ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1" name=""/>
          <p:cNvSpPr txBox="1"/>
          <p:nvPr/>
        </p:nvSpPr>
        <p:spPr>
          <a:xfrm>
            <a:off x="1991880" y="3794040"/>
            <a:ext cx="9259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-append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2" name=""/>
          <p:cNvSpPr/>
          <p:nvPr/>
        </p:nvSpPr>
        <p:spPr>
          <a:xfrm>
            <a:off x="819000" y="4324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79" y="16"/>
                  <a:pt x="192" y="24"/>
                  <a:pt x="203" y="35"/>
                </a:cubicBezTo>
                <a:cubicBezTo>
                  <a:pt x="214" y="47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3" name=""/>
          <p:cNvSpPr txBox="1"/>
          <p:nvPr/>
        </p:nvSpPr>
        <p:spPr>
          <a:xfrm>
            <a:off x="2904840" y="37940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4" name=""/>
          <p:cNvSpPr txBox="1"/>
          <p:nvPr/>
        </p:nvSpPr>
        <p:spPr>
          <a:xfrm>
            <a:off x="1047600" y="4203720"/>
            <a:ext cx="6714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Suy bi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5" name=""/>
          <p:cNvSpPr txBox="1"/>
          <p:nvPr/>
        </p:nvSpPr>
        <p:spPr>
          <a:xfrm>
            <a:off x="179604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6" name=""/>
          <p:cNvSpPr txBox="1"/>
          <p:nvPr/>
        </p:nvSpPr>
        <p:spPr>
          <a:xfrm>
            <a:off x="1945800" y="4203720"/>
            <a:ext cx="1960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an toàn: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LLM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7" name=""/>
          <p:cNvSpPr txBox="1"/>
          <p:nvPr/>
        </p:nvSpPr>
        <p:spPr>
          <a:xfrm>
            <a:off x="408384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8" name=""/>
          <p:cNvSpPr txBox="1"/>
          <p:nvPr/>
        </p:nvSpPr>
        <p:spPr>
          <a:xfrm>
            <a:off x="4233600" y="42037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9" name=""/>
          <p:cNvSpPr txBox="1"/>
          <p:nvPr/>
        </p:nvSpPr>
        <p:spPr>
          <a:xfrm>
            <a:off x="4397760" y="422388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0" name=""/>
          <p:cNvSpPr txBox="1"/>
          <p:nvPr/>
        </p:nvSpPr>
        <p:spPr>
          <a:xfrm>
            <a:off x="4657320" y="42037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1" name=""/>
          <p:cNvSpPr txBox="1"/>
          <p:nvPr/>
        </p:nvSpPr>
        <p:spPr>
          <a:xfrm>
            <a:off x="482112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2" name=""/>
          <p:cNvSpPr txBox="1"/>
          <p:nvPr/>
        </p:nvSpPr>
        <p:spPr>
          <a:xfrm>
            <a:off x="4998960" y="42037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3" name=""/>
          <p:cNvSpPr txBox="1"/>
          <p:nvPr/>
        </p:nvSpPr>
        <p:spPr>
          <a:xfrm>
            <a:off x="5058720" y="422388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4" name=""/>
          <p:cNvSpPr txBox="1"/>
          <p:nvPr/>
        </p:nvSpPr>
        <p:spPr>
          <a:xfrm>
            <a:off x="5357880" y="4203720"/>
            <a:ext cx="319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y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5" name=""/>
          <p:cNvSpPr txBox="1"/>
          <p:nvPr/>
        </p:nvSpPr>
        <p:spPr>
          <a:xfrm>
            <a:off x="569484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6" name=""/>
          <p:cNvSpPr/>
          <p:nvPr/>
        </p:nvSpPr>
        <p:spPr>
          <a:xfrm>
            <a:off x="5933880" y="4228920"/>
            <a:ext cx="1219680" cy="295560"/>
          </a:xfrm>
          <a:custGeom>
            <a:avLst/>
            <a:gdLst/>
            <a:ahLst/>
            <a:rect l="0" t="0" r="r" b="b"/>
            <a:pathLst>
              <a:path w="3388" h="821">
                <a:moveTo>
                  <a:pt x="0" y="0"/>
                </a:moveTo>
                <a:lnTo>
                  <a:pt x="3388" y="0"/>
                </a:lnTo>
                <a:lnTo>
                  <a:pt x="338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6a7a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7" name=""/>
          <p:cNvSpPr txBox="1"/>
          <p:nvPr/>
        </p:nvSpPr>
        <p:spPr>
          <a:xfrm>
            <a:off x="5844600" y="42037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8" name=""/>
          <p:cNvSpPr txBox="1"/>
          <p:nvPr/>
        </p:nvSpPr>
        <p:spPr>
          <a:xfrm>
            <a:off x="5970960" y="4244400"/>
            <a:ext cx="10872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fff8e1"/>
                </a:solidFill>
                <a:latin typeface="RobotoMono"/>
                <a:ea typeface="RobotoMono"/>
              </a:rPr>
              <a:t>AWAIT_HITL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9" name=""/>
          <p:cNvSpPr txBox="1"/>
          <p:nvPr/>
        </p:nvSpPr>
        <p:spPr>
          <a:xfrm>
            <a:off x="7180920" y="42037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,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0" name=""/>
          <p:cNvSpPr txBox="1"/>
          <p:nvPr/>
        </p:nvSpPr>
        <p:spPr>
          <a:xfrm>
            <a:off x="7305120" y="422388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đồ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1" name=""/>
          <p:cNvSpPr txBox="1"/>
          <p:nvPr/>
        </p:nvSpPr>
        <p:spPr>
          <a:xfrm>
            <a:off x="7604280" y="4203720"/>
            <a:ext cx="290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2" name=""/>
          <p:cNvSpPr txBox="1"/>
          <p:nvPr/>
        </p:nvSpPr>
        <p:spPr>
          <a:xfrm>
            <a:off x="791784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3" name=""/>
          <p:cNvSpPr txBox="1"/>
          <p:nvPr/>
        </p:nvSpPr>
        <p:spPr>
          <a:xfrm>
            <a:off x="7984800" y="4203720"/>
            <a:ext cx="941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không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4" name=""/>
          <p:cNvSpPr txBox="1"/>
          <p:nvPr/>
        </p:nvSpPr>
        <p:spPr>
          <a:xfrm>
            <a:off x="901584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5" name=""/>
          <p:cNvSpPr txBox="1"/>
          <p:nvPr/>
        </p:nvSpPr>
        <p:spPr>
          <a:xfrm>
            <a:off x="9203760" y="4203720"/>
            <a:ext cx="985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(Tier-1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6" name=""/>
          <p:cNvSpPr txBox="1"/>
          <p:nvPr/>
        </p:nvSpPr>
        <p:spPr>
          <a:xfrm>
            <a:off x="1028808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7" name=""/>
          <p:cNvSpPr txBox="1"/>
          <p:nvPr/>
        </p:nvSpPr>
        <p:spPr>
          <a:xfrm>
            <a:off x="10437840" y="4203720"/>
            <a:ext cx="340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8" name=""/>
          <p:cNvSpPr txBox="1"/>
          <p:nvPr/>
        </p:nvSpPr>
        <p:spPr>
          <a:xfrm>
            <a:off x="1079748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9" name=""/>
          <p:cNvSpPr txBox="1"/>
          <p:nvPr/>
        </p:nvSpPr>
        <p:spPr>
          <a:xfrm>
            <a:off x="10947240" y="4203720"/>
            <a:ext cx="333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o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0" name=""/>
          <p:cNvSpPr txBox="1"/>
          <p:nvPr/>
        </p:nvSpPr>
        <p:spPr>
          <a:xfrm>
            <a:off x="1129500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1" name=""/>
          <p:cNvSpPr txBox="1"/>
          <p:nvPr/>
        </p:nvSpPr>
        <p:spPr>
          <a:xfrm>
            <a:off x="1047600" y="455760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2" name=""/>
          <p:cNvSpPr txBox="1"/>
          <p:nvPr/>
        </p:nvSpPr>
        <p:spPr>
          <a:xfrm>
            <a:off x="1347120" y="45370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3" name=""/>
          <p:cNvSpPr txBox="1"/>
          <p:nvPr/>
        </p:nvSpPr>
        <p:spPr>
          <a:xfrm>
            <a:off x="1609560" y="4557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4" name=""/>
          <p:cNvSpPr/>
          <p:nvPr/>
        </p:nvSpPr>
        <p:spPr>
          <a:xfrm>
            <a:off x="819000" y="50670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4" y="193"/>
                  <a:pt x="203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5" name=""/>
          <p:cNvSpPr txBox="1"/>
          <p:nvPr/>
        </p:nvSpPr>
        <p:spPr>
          <a:xfrm>
            <a:off x="1759320" y="4537080"/>
            <a:ext cx="264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6" name=""/>
          <p:cNvSpPr txBox="1"/>
          <p:nvPr/>
        </p:nvSpPr>
        <p:spPr>
          <a:xfrm>
            <a:off x="1047600" y="4946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7" name=""/>
          <p:cNvSpPr txBox="1"/>
          <p:nvPr/>
        </p:nvSpPr>
        <p:spPr>
          <a:xfrm>
            <a:off x="1208160" y="4966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8" name=""/>
          <p:cNvSpPr txBox="1"/>
          <p:nvPr/>
        </p:nvSpPr>
        <p:spPr>
          <a:xfrm>
            <a:off x="1357560" y="4946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9" name=""/>
          <p:cNvSpPr txBox="1"/>
          <p:nvPr/>
        </p:nvSpPr>
        <p:spPr>
          <a:xfrm>
            <a:off x="1528200" y="4966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0" name=""/>
          <p:cNvSpPr/>
          <p:nvPr/>
        </p:nvSpPr>
        <p:spPr>
          <a:xfrm>
            <a:off x="2247840" y="4971960"/>
            <a:ext cx="1791000" cy="295560"/>
          </a:xfrm>
          <a:custGeom>
            <a:avLst/>
            <a:gdLst/>
            <a:ahLst/>
            <a:rect l="0" t="0" r="r" b="b"/>
            <a:pathLst>
              <a:path w="4975" h="821">
                <a:moveTo>
                  <a:pt x="0" y="0"/>
                </a:moveTo>
                <a:lnTo>
                  <a:pt x="4975" y="0"/>
                </a:lnTo>
                <a:lnTo>
                  <a:pt x="497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6a7a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1" name=""/>
          <p:cNvSpPr txBox="1"/>
          <p:nvPr/>
        </p:nvSpPr>
        <p:spPr>
          <a:xfrm>
            <a:off x="1772280" y="4946760"/>
            <a:ext cx="406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2" name=""/>
          <p:cNvSpPr txBox="1"/>
          <p:nvPr/>
        </p:nvSpPr>
        <p:spPr>
          <a:xfrm>
            <a:off x="2290320" y="4987440"/>
            <a:ext cx="15156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fff8e1"/>
                </a:solidFill>
                <a:latin typeface="RobotoMono"/>
                <a:ea typeface="RobotoMono"/>
              </a:rPr>
              <a:t>temperature=0.1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3" name=""/>
          <p:cNvSpPr/>
          <p:nvPr/>
        </p:nvSpPr>
        <p:spPr>
          <a:xfrm>
            <a:off x="4371840" y="4971960"/>
            <a:ext cx="876600" cy="295560"/>
          </a:xfrm>
          <a:custGeom>
            <a:avLst/>
            <a:gdLst/>
            <a:ahLst/>
            <a:rect l="0" t="0" r="r" b="b"/>
            <a:pathLst>
              <a:path w="2435" h="821">
                <a:moveTo>
                  <a:pt x="0" y="0"/>
                </a:moveTo>
                <a:lnTo>
                  <a:pt x="2435" y="0"/>
                </a:lnTo>
                <a:lnTo>
                  <a:pt x="243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6a7a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4" name=""/>
          <p:cNvSpPr txBox="1"/>
          <p:nvPr/>
        </p:nvSpPr>
        <p:spPr>
          <a:xfrm>
            <a:off x="4071600" y="4946760"/>
            <a:ext cx="270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+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5" name=""/>
          <p:cNvSpPr txBox="1"/>
          <p:nvPr/>
        </p:nvSpPr>
        <p:spPr>
          <a:xfrm>
            <a:off x="4413240" y="4987440"/>
            <a:ext cx="7506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fff8e1"/>
                </a:solidFill>
                <a:latin typeface="RobotoMono"/>
                <a:ea typeface="RobotoMono"/>
              </a:rPr>
              <a:t>seed=42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6" name=""/>
          <p:cNvSpPr txBox="1"/>
          <p:nvPr/>
        </p:nvSpPr>
        <p:spPr>
          <a:xfrm>
            <a:off x="5280120" y="4946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7" name=""/>
          <p:cNvSpPr txBox="1"/>
          <p:nvPr/>
        </p:nvSpPr>
        <p:spPr>
          <a:xfrm>
            <a:off x="5339880" y="496692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8" name=""/>
          <p:cNvSpPr txBox="1"/>
          <p:nvPr/>
        </p:nvSpPr>
        <p:spPr>
          <a:xfrm>
            <a:off x="5599440" y="4946760"/>
            <a:ext cx="3589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cùng prompt cho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cùng phán quy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9" name=""/>
          <p:cNvSpPr txBox="1"/>
          <p:nvPr/>
        </p:nvSpPr>
        <p:spPr>
          <a:xfrm>
            <a:off x="9484200" y="4966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0" name=""/>
          <p:cNvSpPr txBox="1"/>
          <p:nvPr/>
        </p:nvSpPr>
        <p:spPr>
          <a:xfrm>
            <a:off x="9633600" y="4946760"/>
            <a:ext cx="616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(tái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1" name=""/>
          <p:cNvSpPr txBox="1"/>
          <p:nvPr/>
        </p:nvSpPr>
        <p:spPr>
          <a:xfrm>
            <a:off x="10342800" y="4966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2" name=""/>
          <p:cNvSpPr txBox="1"/>
          <p:nvPr/>
        </p:nvSpPr>
        <p:spPr>
          <a:xfrm>
            <a:off x="10492200" y="4946760"/>
            <a:ext cx="264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3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4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5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6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7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8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9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0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1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2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3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4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5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6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7" name=""/>
          <p:cNvSpPr txBox="1"/>
          <p:nvPr/>
        </p:nvSpPr>
        <p:spPr>
          <a:xfrm>
            <a:off x="11827080" y="6405120"/>
            <a:ext cx="1976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7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1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2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3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4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5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6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7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8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9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0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1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2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3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4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5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6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7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8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9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0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1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2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3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4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5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6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7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8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9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0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1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2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3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4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5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6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7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8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9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0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1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2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3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4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5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6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7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8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9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0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1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2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3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4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5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6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7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8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9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0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1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2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3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4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5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6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7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8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9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0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1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2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3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4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5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6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7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8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9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0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1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2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3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4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5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6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7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8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9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0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1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2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3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4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5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6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7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8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9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0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1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2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3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4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5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6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7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8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9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0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1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2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3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4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5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6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7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8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9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0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1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2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3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4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5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6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7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8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9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0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1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2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3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4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5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6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7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8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9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0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1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2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3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4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5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6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7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8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9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0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1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2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3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4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5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6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7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8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9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0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1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2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3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4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5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6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7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8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9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0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1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2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3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4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5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6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7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8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9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0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1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2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3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4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5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6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7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8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9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0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1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2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3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4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5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6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7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8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9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0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1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2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3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4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5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6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7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8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9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0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1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2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3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4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5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6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7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8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9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0" name=""/>
          <p:cNvSpPr txBox="1"/>
          <p:nvPr/>
        </p:nvSpPr>
        <p:spPr>
          <a:xfrm>
            <a:off x="3099960" y="1671840"/>
            <a:ext cx="31600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Dual-RAG — Suy lu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1" name=""/>
          <p:cNvSpPr txBox="1"/>
          <p:nvPr/>
        </p:nvSpPr>
        <p:spPr>
          <a:xfrm>
            <a:off x="6489720" y="170208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ậ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2" name=""/>
          <p:cNvSpPr txBox="1"/>
          <p:nvPr/>
        </p:nvSpPr>
        <p:spPr>
          <a:xfrm>
            <a:off x="6708240" y="1671840"/>
            <a:ext cx="9928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 có n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3" name=""/>
          <p:cNvSpPr txBox="1"/>
          <p:nvPr/>
        </p:nvSpPr>
        <p:spPr>
          <a:xfrm>
            <a:off x="7749720" y="170208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ề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4" name=""/>
          <p:cNvSpPr txBox="1"/>
          <p:nvPr/>
        </p:nvSpPr>
        <p:spPr>
          <a:xfrm>
            <a:off x="7968240" y="1671840"/>
            <a:ext cx="4381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 t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5" name=""/>
          <p:cNvSpPr txBox="1"/>
          <p:nvPr/>
        </p:nvSpPr>
        <p:spPr>
          <a:xfrm>
            <a:off x="8439840" y="170208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ả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6" name=""/>
          <p:cNvSpPr/>
          <p:nvPr/>
        </p:nvSpPr>
        <p:spPr>
          <a:xfrm>
            <a:off x="819000" y="25333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6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27" name=""/>
          <p:cNvSpPr txBox="1"/>
          <p:nvPr/>
        </p:nvSpPr>
        <p:spPr>
          <a:xfrm>
            <a:off x="8658360" y="1671840"/>
            <a:ext cx="4060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8" name=""/>
          <p:cNvSpPr txBox="1"/>
          <p:nvPr/>
        </p:nvSpPr>
        <p:spPr>
          <a:xfrm>
            <a:off x="1047600" y="2413080"/>
            <a:ext cx="829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Truy xu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9" name=""/>
          <p:cNvSpPr txBox="1"/>
          <p:nvPr/>
        </p:nvSpPr>
        <p:spPr>
          <a:xfrm>
            <a:off x="1932120" y="2433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0" name=""/>
          <p:cNvSpPr txBox="1"/>
          <p:nvPr/>
        </p:nvSpPr>
        <p:spPr>
          <a:xfrm>
            <a:off x="2081520" y="2413080"/>
            <a:ext cx="3238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kép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: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MITRE ATT&amp;CK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(299 k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1" name=""/>
          <p:cNvSpPr txBox="1"/>
          <p:nvPr/>
        </p:nvSpPr>
        <p:spPr>
          <a:xfrm>
            <a:off x="5556240" y="2433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ỹ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2" name=""/>
          <p:cNvSpPr txBox="1"/>
          <p:nvPr/>
        </p:nvSpPr>
        <p:spPr>
          <a:xfrm>
            <a:off x="5691960" y="2413080"/>
            <a:ext cx="429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thu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3" name=""/>
          <p:cNvSpPr txBox="1"/>
          <p:nvPr/>
        </p:nvSpPr>
        <p:spPr>
          <a:xfrm>
            <a:off x="6154920" y="2433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4" name=""/>
          <p:cNvSpPr txBox="1"/>
          <p:nvPr/>
        </p:nvSpPr>
        <p:spPr>
          <a:xfrm>
            <a:off x="6304680" y="2413080"/>
            <a:ext cx="3624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t) +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NIST SP 800-61r2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(playbook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5" name=""/>
          <p:cNvSpPr txBox="1"/>
          <p:nvPr/>
        </p:nvSpPr>
        <p:spPr>
          <a:xfrm>
            <a:off x="10246320" y="2433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6" name=""/>
          <p:cNvSpPr txBox="1"/>
          <p:nvPr/>
        </p:nvSpPr>
        <p:spPr>
          <a:xfrm>
            <a:off x="10424160" y="2413080"/>
            <a:ext cx="450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7" name=""/>
          <p:cNvSpPr txBox="1"/>
          <p:nvPr/>
        </p:nvSpPr>
        <p:spPr>
          <a:xfrm>
            <a:off x="10899360" y="2433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8" name=""/>
          <p:cNvSpPr/>
          <p:nvPr/>
        </p:nvSpPr>
        <p:spPr>
          <a:xfrm>
            <a:off x="819000" y="29430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4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7"/>
                  <a:pt x="223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39" name=""/>
          <p:cNvSpPr txBox="1"/>
          <p:nvPr/>
        </p:nvSpPr>
        <p:spPr>
          <a:xfrm>
            <a:off x="11076840" y="2413080"/>
            <a:ext cx="262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0" name=""/>
          <p:cNvSpPr txBox="1"/>
          <p:nvPr/>
        </p:nvSpPr>
        <p:spPr>
          <a:xfrm>
            <a:off x="1047600" y="2822760"/>
            <a:ext cx="3510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Hybrid Search: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Dense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FAISS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1" name=""/>
          <p:cNvSpPr txBox="1"/>
          <p:nvPr/>
        </p:nvSpPr>
        <p:spPr>
          <a:xfrm>
            <a:off x="4896000" y="2842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2" name=""/>
          <p:cNvSpPr txBox="1"/>
          <p:nvPr/>
        </p:nvSpPr>
        <p:spPr>
          <a:xfrm>
            <a:off x="5073480" y="2822760"/>
            <a:ext cx="468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3" name=""/>
          <p:cNvSpPr txBox="1"/>
          <p:nvPr/>
        </p:nvSpPr>
        <p:spPr>
          <a:xfrm>
            <a:off x="5571000" y="2842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4" name=""/>
          <p:cNvSpPr txBox="1"/>
          <p:nvPr/>
        </p:nvSpPr>
        <p:spPr>
          <a:xfrm>
            <a:off x="5651640" y="2822760"/>
            <a:ext cx="2155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a) + Sparse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BM25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5" name=""/>
          <p:cNvSpPr txBox="1"/>
          <p:nvPr/>
        </p:nvSpPr>
        <p:spPr>
          <a:xfrm>
            <a:off x="7992360" y="2842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6" name=""/>
          <p:cNvSpPr txBox="1"/>
          <p:nvPr/>
        </p:nvSpPr>
        <p:spPr>
          <a:xfrm>
            <a:off x="8169840" y="2822760"/>
            <a:ext cx="721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khoá)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7" name=""/>
          <p:cNvSpPr txBox="1"/>
          <p:nvPr/>
        </p:nvSpPr>
        <p:spPr>
          <a:xfrm>
            <a:off x="8953920" y="284292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8" name=""/>
          <p:cNvSpPr txBox="1"/>
          <p:nvPr/>
        </p:nvSpPr>
        <p:spPr>
          <a:xfrm>
            <a:off x="9213480" y="2822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9" name=""/>
          <p:cNvSpPr txBox="1"/>
          <p:nvPr/>
        </p:nvSpPr>
        <p:spPr>
          <a:xfrm>
            <a:off x="9422640" y="2842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0" name=""/>
          <p:cNvSpPr txBox="1"/>
          <p:nvPr/>
        </p:nvSpPr>
        <p:spPr>
          <a:xfrm>
            <a:off x="9596880" y="2822760"/>
            <a:ext cx="479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 nh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1" name=""/>
          <p:cNvSpPr txBox="1"/>
          <p:nvPr/>
        </p:nvSpPr>
        <p:spPr>
          <a:xfrm>
            <a:off x="10104480" y="2842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2" name=""/>
          <p:cNvSpPr txBox="1"/>
          <p:nvPr/>
        </p:nvSpPr>
        <p:spPr>
          <a:xfrm>
            <a:off x="10254240" y="2822760"/>
            <a:ext cx="291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3" name=""/>
          <p:cNvSpPr txBox="1"/>
          <p:nvPr/>
        </p:nvSpPr>
        <p:spPr>
          <a:xfrm>
            <a:off x="10568520" y="2842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4" name=""/>
          <p:cNvSpPr txBox="1"/>
          <p:nvPr/>
        </p:nvSpPr>
        <p:spPr>
          <a:xfrm>
            <a:off x="10718280" y="282276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5" name=""/>
          <p:cNvSpPr/>
          <p:nvPr/>
        </p:nvSpPr>
        <p:spPr>
          <a:xfrm>
            <a:off x="819000" y="3686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56" name=""/>
          <p:cNvSpPr txBox="1"/>
          <p:nvPr/>
        </p:nvSpPr>
        <p:spPr>
          <a:xfrm>
            <a:off x="1047600" y="3156120"/>
            <a:ext cx="3972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Reciprocal Rank Fusion (RRF, k=60)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7" name=""/>
          <p:cNvSpPr txBox="1"/>
          <p:nvPr/>
        </p:nvSpPr>
        <p:spPr>
          <a:xfrm>
            <a:off x="1047600" y="3565440"/>
            <a:ext cx="3967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Semantic Cache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(LRU, TTL 1800s) 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8" name=""/>
          <p:cNvSpPr txBox="1"/>
          <p:nvPr/>
        </p:nvSpPr>
        <p:spPr>
          <a:xfrm>
            <a:off x="5384520" y="3585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9" name=""/>
          <p:cNvSpPr txBox="1"/>
          <p:nvPr/>
        </p:nvSpPr>
        <p:spPr>
          <a:xfrm>
            <a:off x="5534280" y="356544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0" name=""/>
          <p:cNvSpPr txBox="1"/>
          <p:nvPr/>
        </p:nvSpPr>
        <p:spPr>
          <a:xfrm>
            <a:off x="5808960" y="358596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1" name=""/>
          <p:cNvSpPr txBox="1"/>
          <p:nvPr/>
        </p:nvSpPr>
        <p:spPr>
          <a:xfrm>
            <a:off x="6108480" y="35654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2" name=""/>
          <p:cNvSpPr txBox="1"/>
          <p:nvPr/>
        </p:nvSpPr>
        <p:spPr>
          <a:xfrm>
            <a:off x="6384240" y="3585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ễ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3" name=""/>
          <p:cNvSpPr txBox="1"/>
          <p:nvPr/>
        </p:nvSpPr>
        <p:spPr>
          <a:xfrm>
            <a:off x="6533640" y="3565440"/>
            <a:ext cx="1162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cho truy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4" name=""/>
          <p:cNvSpPr txBox="1"/>
          <p:nvPr/>
        </p:nvSpPr>
        <p:spPr>
          <a:xfrm>
            <a:off x="7782480" y="3585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5" name=""/>
          <p:cNvSpPr txBox="1"/>
          <p:nvPr/>
        </p:nvSpPr>
        <p:spPr>
          <a:xfrm>
            <a:off x="7932240" y="3565440"/>
            <a:ext cx="261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6" name=""/>
          <p:cNvSpPr txBox="1"/>
          <p:nvPr/>
        </p:nvSpPr>
        <p:spPr>
          <a:xfrm>
            <a:off x="8217000" y="3585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ặ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7" name=""/>
          <p:cNvSpPr/>
          <p:nvPr/>
        </p:nvSpPr>
        <p:spPr>
          <a:xfrm>
            <a:off x="819000" y="4095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4"/>
                </a:cubicBezTo>
                <a:cubicBezTo>
                  <a:pt x="214" y="46"/>
                  <a:pt x="223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8" name=""/>
          <p:cNvSpPr txBox="1"/>
          <p:nvPr/>
        </p:nvSpPr>
        <p:spPr>
          <a:xfrm>
            <a:off x="8366400" y="35654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9" name=""/>
          <p:cNvSpPr txBox="1"/>
          <p:nvPr/>
        </p:nvSpPr>
        <p:spPr>
          <a:xfrm>
            <a:off x="1047600" y="3975120"/>
            <a:ext cx="303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0" name=""/>
          <p:cNvSpPr txBox="1"/>
          <p:nvPr/>
        </p:nvSpPr>
        <p:spPr>
          <a:xfrm>
            <a:off x="1378080" y="3995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1" name=""/>
          <p:cNvSpPr txBox="1"/>
          <p:nvPr/>
        </p:nvSpPr>
        <p:spPr>
          <a:xfrm>
            <a:off x="1541160" y="3975120"/>
            <a:ext cx="23036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RAG Poisoning: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ki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2" name=""/>
          <p:cNvSpPr txBox="1"/>
          <p:nvPr/>
        </p:nvSpPr>
        <p:spPr>
          <a:xfrm>
            <a:off x="4082040" y="3995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3" name=""/>
          <p:cNvSpPr txBox="1"/>
          <p:nvPr/>
        </p:nvSpPr>
        <p:spPr>
          <a:xfrm>
            <a:off x="4231440" y="3975120"/>
            <a:ext cx="2971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checksum SHA-256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tài li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4" name=""/>
          <p:cNvSpPr txBox="1"/>
          <p:nvPr/>
        </p:nvSpPr>
        <p:spPr>
          <a:xfrm>
            <a:off x="7476120" y="3995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5" name=""/>
          <p:cNvSpPr/>
          <p:nvPr/>
        </p:nvSpPr>
        <p:spPr>
          <a:xfrm>
            <a:off x="8076960" y="4000320"/>
            <a:ext cx="2019600" cy="295560"/>
          </a:xfrm>
          <a:custGeom>
            <a:avLst/>
            <a:gdLst/>
            <a:ahLst/>
            <a:rect l="0" t="0" r="r" b="b"/>
            <a:pathLst>
              <a:path w="5610" h="821">
                <a:moveTo>
                  <a:pt x="0" y="0"/>
                </a:moveTo>
                <a:lnTo>
                  <a:pt x="5610" y="0"/>
                </a:lnTo>
                <a:lnTo>
                  <a:pt x="561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6a7a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76" name=""/>
          <p:cNvSpPr txBox="1"/>
          <p:nvPr/>
        </p:nvSpPr>
        <p:spPr>
          <a:xfrm>
            <a:off x="7625880" y="3975120"/>
            <a:ext cx="409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+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7" name=""/>
          <p:cNvSpPr txBox="1"/>
          <p:nvPr/>
        </p:nvSpPr>
        <p:spPr>
          <a:xfrm>
            <a:off x="8116920" y="4015800"/>
            <a:ext cx="14590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fff8e1"/>
                </a:solidFill>
                <a:latin typeface="RobotoMono"/>
                <a:ea typeface="RobotoMono"/>
              </a:rPr>
              <a:t>sanitize_retrieve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8" name=""/>
          <p:cNvSpPr txBox="1"/>
          <p:nvPr/>
        </p:nvSpPr>
        <p:spPr>
          <a:xfrm>
            <a:off x="10127160" y="3975120"/>
            <a:ext cx="400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+ 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9" name=""/>
          <p:cNvSpPr txBox="1"/>
          <p:nvPr/>
        </p:nvSpPr>
        <p:spPr>
          <a:xfrm>
            <a:off x="10540800" y="3995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0" name=""/>
          <p:cNvSpPr txBox="1"/>
          <p:nvPr/>
        </p:nvSpPr>
        <p:spPr>
          <a:xfrm>
            <a:off x="10690200" y="39751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1" name=""/>
          <p:cNvSpPr txBox="1"/>
          <p:nvPr/>
        </p:nvSpPr>
        <p:spPr>
          <a:xfrm>
            <a:off x="1108800" y="4308480"/>
            <a:ext cx="13114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provenance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2" name=""/>
          <p:cNvSpPr txBox="1"/>
          <p:nvPr/>
        </p:nvSpPr>
        <p:spPr>
          <a:xfrm>
            <a:off x="2437560" y="43084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3" name=""/>
          <p:cNvSpPr txBox="1"/>
          <p:nvPr/>
        </p:nvSpPr>
        <p:spPr>
          <a:xfrm>
            <a:off x="2713320" y="4329000"/>
            <a:ext cx="329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4" name=""/>
          <p:cNvSpPr txBox="1"/>
          <p:nvPr/>
        </p:nvSpPr>
        <p:spPr>
          <a:xfrm>
            <a:off x="3065040" y="4308480"/>
            <a:ext cx="188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khi vào prompt.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5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6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7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8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9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0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1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2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3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4" name=""/>
          <p:cNvSpPr txBox="1"/>
          <p:nvPr/>
        </p:nvSpPr>
        <p:spPr>
          <a:xfrm>
            <a:off x="914400" y="4889520"/>
            <a:ext cx="887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Ràng bu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5" name=""/>
          <p:cNvSpPr txBox="1"/>
          <p:nvPr/>
        </p:nvSpPr>
        <p:spPr>
          <a:xfrm>
            <a:off x="1870920" y="4909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6" name=""/>
          <p:cNvSpPr txBox="1"/>
          <p:nvPr/>
        </p:nvSpPr>
        <p:spPr>
          <a:xfrm>
            <a:off x="2020680" y="4889520"/>
            <a:ext cx="14576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LLM vào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7" name=""/>
          <p:cNvSpPr txBox="1"/>
          <p:nvPr/>
        </p:nvSpPr>
        <p:spPr>
          <a:xfrm>
            <a:off x="3568320" y="4909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8" name=""/>
          <p:cNvSpPr txBox="1"/>
          <p:nvPr/>
        </p:nvSpPr>
        <p:spPr>
          <a:xfrm>
            <a:off x="3759480" y="48895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9" name=""/>
          <p:cNvSpPr txBox="1"/>
          <p:nvPr/>
        </p:nvSpPr>
        <p:spPr>
          <a:xfrm>
            <a:off x="3951360" y="4909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0" name=""/>
          <p:cNvSpPr txBox="1"/>
          <p:nvPr/>
        </p:nvSpPr>
        <p:spPr>
          <a:xfrm>
            <a:off x="4101120" y="4889520"/>
            <a:ext cx="340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1" name=""/>
          <p:cNvSpPr txBox="1"/>
          <p:nvPr/>
        </p:nvSpPr>
        <p:spPr>
          <a:xfrm>
            <a:off x="4471920" y="4909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2" name=""/>
          <p:cNvSpPr txBox="1"/>
          <p:nvPr/>
        </p:nvSpPr>
        <p:spPr>
          <a:xfrm>
            <a:off x="4635000" y="4889520"/>
            <a:ext cx="854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ã xác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3" name=""/>
          <p:cNvSpPr txBox="1"/>
          <p:nvPr/>
        </p:nvSpPr>
        <p:spPr>
          <a:xfrm>
            <a:off x="5597640" y="4909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4" name=""/>
          <p:cNvSpPr txBox="1"/>
          <p:nvPr/>
        </p:nvSpPr>
        <p:spPr>
          <a:xfrm>
            <a:off x="5789160" y="48895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5" name=""/>
          <p:cNvSpPr txBox="1"/>
          <p:nvPr/>
        </p:nvSpPr>
        <p:spPr>
          <a:xfrm>
            <a:off x="5981040" y="4869360"/>
            <a:ext cx="247320" cy="37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NotoSansMath"/>
                <a:ea typeface="NotoSansMath"/>
              </a:rPr>
              <a:t>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6" name=""/>
          <p:cNvSpPr txBox="1"/>
          <p:nvPr/>
        </p:nvSpPr>
        <p:spPr>
          <a:xfrm>
            <a:off x="6194520" y="4889520"/>
            <a:ext cx="250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7" name=""/>
          <p:cNvSpPr txBox="1"/>
          <p:nvPr/>
        </p:nvSpPr>
        <p:spPr>
          <a:xfrm>
            <a:off x="6468120" y="4909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8" name=""/>
          <p:cNvSpPr txBox="1"/>
          <p:nvPr/>
        </p:nvSpPr>
        <p:spPr>
          <a:xfrm>
            <a:off x="6617880" y="488952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9" name=""/>
          <p:cNvSpPr txBox="1"/>
          <p:nvPr/>
        </p:nvSpPr>
        <p:spPr>
          <a:xfrm>
            <a:off x="6892560" y="4909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0" name=""/>
          <p:cNvSpPr txBox="1"/>
          <p:nvPr/>
        </p:nvSpPr>
        <p:spPr>
          <a:xfrm>
            <a:off x="7042320" y="4889520"/>
            <a:ext cx="22806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o giác (hallucination).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1" name=""/>
          <p:cNvSpPr txBox="1"/>
          <p:nvPr/>
        </p:nvSpPr>
        <p:spPr>
          <a:xfrm>
            <a:off x="666720" y="490392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2" name=""/>
          <p:cNvSpPr txBox="1"/>
          <p:nvPr/>
        </p:nvSpPr>
        <p:spPr>
          <a:xfrm rot="10800000">
            <a:off x="11280240" y="490932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3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4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5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6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7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8" name=""/>
          <p:cNvSpPr txBox="1"/>
          <p:nvPr/>
        </p:nvSpPr>
        <p:spPr>
          <a:xfrm>
            <a:off x="11827080" y="6405120"/>
            <a:ext cx="1976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8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2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3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4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5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6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7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8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9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0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1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2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3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4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5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6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7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8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9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0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1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2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3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4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5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6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7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8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9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0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1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2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3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4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5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6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7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8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9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0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1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2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3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4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5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6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7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8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9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0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1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2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3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4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5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6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7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8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9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0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1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2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3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4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5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6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7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8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9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0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1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2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3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4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5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6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7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8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9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0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1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2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3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4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5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6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7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8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9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0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1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2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3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4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5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6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7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8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9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0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1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2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3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4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5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6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7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8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9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0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1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2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3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4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5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6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7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8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9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0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1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2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3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4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5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6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7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8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9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0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1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2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3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4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5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6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7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8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9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0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1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2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3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4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5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6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7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8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9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0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1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2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3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4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5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6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7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8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9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0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1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2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3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4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5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6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7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8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9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0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1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2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3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4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5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6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7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8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9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0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1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2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3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4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5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6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7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8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9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0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1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2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3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4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5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6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7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8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9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0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1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2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3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4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5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6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7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8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9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0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1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2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3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4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5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6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7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8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9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0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1" name=""/>
          <p:cNvSpPr txBox="1"/>
          <p:nvPr/>
        </p:nvSpPr>
        <p:spPr>
          <a:xfrm>
            <a:off x="2966040" y="1471680"/>
            <a:ext cx="11210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Rào ch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2" name=""/>
          <p:cNvSpPr txBox="1"/>
          <p:nvPr/>
        </p:nvSpPr>
        <p:spPr>
          <a:xfrm>
            <a:off x="4168080" y="150228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ắ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3" name=""/>
          <p:cNvSpPr txBox="1"/>
          <p:nvPr/>
        </p:nvSpPr>
        <p:spPr>
          <a:xfrm>
            <a:off x="4386600" y="1471680"/>
            <a:ext cx="26434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 AI — Phòng th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4" name=""/>
          <p:cNvSpPr txBox="1"/>
          <p:nvPr/>
        </p:nvSpPr>
        <p:spPr>
          <a:xfrm>
            <a:off x="7221600" y="150228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ủ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5" name=""/>
          <p:cNvSpPr txBox="1"/>
          <p:nvPr/>
        </p:nvSpPr>
        <p:spPr>
          <a:xfrm>
            <a:off x="7460280" y="1471680"/>
            <a:ext cx="5738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chi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6" name=""/>
          <p:cNvSpPr txBox="1"/>
          <p:nvPr/>
        </p:nvSpPr>
        <p:spPr>
          <a:xfrm>
            <a:off x="8081640" y="150228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ề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7" name=""/>
          <p:cNvSpPr/>
          <p:nvPr/>
        </p:nvSpPr>
        <p:spPr>
          <a:xfrm>
            <a:off x="819000" y="2323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4" y="193"/>
                  <a:pt x="203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8"/>
                  <a:pt x="239" y="105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48" name=""/>
          <p:cNvSpPr txBox="1"/>
          <p:nvPr/>
        </p:nvSpPr>
        <p:spPr>
          <a:xfrm>
            <a:off x="8300160" y="1471680"/>
            <a:ext cx="8618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u sâu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9" name=""/>
          <p:cNvSpPr txBox="1"/>
          <p:nvPr/>
        </p:nvSpPr>
        <p:spPr>
          <a:xfrm>
            <a:off x="1047600" y="2203560"/>
            <a:ext cx="3751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Delimited Data Encapsulation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0" name=""/>
          <p:cNvSpPr txBox="1"/>
          <p:nvPr/>
        </p:nvSpPr>
        <p:spPr>
          <a:xfrm>
            <a:off x="5226480" y="22237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1" name=""/>
          <p:cNvSpPr txBox="1"/>
          <p:nvPr/>
        </p:nvSpPr>
        <p:spPr>
          <a:xfrm>
            <a:off x="5376240" y="2203560"/>
            <a:ext cx="713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log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2" name=""/>
          <p:cNvSpPr txBox="1"/>
          <p:nvPr/>
        </p:nvSpPr>
        <p:spPr>
          <a:xfrm>
            <a:off x="6136920" y="22237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3" name=""/>
          <p:cNvSpPr txBox="1"/>
          <p:nvPr/>
        </p:nvSpPr>
        <p:spPr>
          <a:xfrm>
            <a:off x="6286320" y="2203560"/>
            <a:ext cx="1274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nonce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4" name=""/>
          <p:cNvSpPr txBox="1"/>
          <p:nvPr/>
        </p:nvSpPr>
        <p:spPr>
          <a:xfrm>
            <a:off x="7664760" y="22237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5" name=""/>
          <p:cNvSpPr txBox="1"/>
          <p:nvPr/>
        </p:nvSpPr>
        <p:spPr>
          <a:xfrm>
            <a:off x="7827840" y="22035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t-l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6" name=""/>
          <p:cNvSpPr txBox="1"/>
          <p:nvPr/>
        </p:nvSpPr>
        <p:spPr>
          <a:xfrm>
            <a:off x="8124840" y="22237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7" name=""/>
          <p:cNvSpPr/>
          <p:nvPr/>
        </p:nvSpPr>
        <p:spPr>
          <a:xfrm>
            <a:off x="8600760" y="2228760"/>
            <a:ext cx="2019960" cy="295560"/>
          </a:xfrm>
          <a:custGeom>
            <a:avLst/>
            <a:gdLst/>
            <a:ahLst/>
            <a:rect l="0" t="0" r="r" b="b"/>
            <a:pathLst>
              <a:path w="5611" h="821">
                <a:moveTo>
                  <a:pt x="0" y="0"/>
                </a:moveTo>
                <a:lnTo>
                  <a:pt x="5611" y="0"/>
                </a:lnTo>
                <a:lnTo>
                  <a:pt x="561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6a7a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58" name=""/>
          <p:cNvSpPr txBox="1"/>
          <p:nvPr/>
        </p:nvSpPr>
        <p:spPr>
          <a:xfrm>
            <a:off x="8274600" y="2203560"/>
            <a:ext cx="268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9" name=""/>
          <p:cNvSpPr txBox="1"/>
          <p:nvPr/>
        </p:nvSpPr>
        <p:spPr>
          <a:xfrm>
            <a:off x="8642880" y="2244240"/>
            <a:ext cx="16084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fff8e1"/>
                </a:solidFill>
                <a:latin typeface="RobotoMono"/>
                <a:ea typeface="RobotoMono"/>
              </a:rPr>
              <a:t>secrets.token_hex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0" name=""/>
          <p:cNvSpPr txBox="1"/>
          <p:nvPr/>
        </p:nvSpPr>
        <p:spPr>
          <a:xfrm>
            <a:off x="10653120" y="22035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),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1" name=""/>
          <p:cNvSpPr txBox="1"/>
          <p:nvPr/>
        </p:nvSpPr>
        <p:spPr>
          <a:xfrm>
            <a:off x="1047600" y="2536920"/>
            <a:ext cx="256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2" name=""/>
          <p:cNvSpPr txBox="1"/>
          <p:nvPr/>
        </p:nvSpPr>
        <p:spPr>
          <a:xfrm>
            <a:off x="1324800" y="2557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3" name=""/>
          <p:cNvSpPr txBox="1"/>
          <p:nvPr/>
        </p:nvSpPr>
        <p:spPr>
          <a:xfrm>
            <a:off x="1474560" y="2536920"/>
            <a:ext cx="331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4" name=""/>
          <p:cNvSpPr txBox="1"/>
          <p:nvPr/>
        </p:nvSpPr>
        <p:spPr>
          <a:xfrm>
            <a:off x="1883520" y="2536920"/>
            <a:ext cx="21740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delimiter smuggling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5" name=""/>
          <p:cNvSpPr/>
          <p:nvPr/>
        </p:nvSpPr>
        <p:spPr>
          <a:xfrm>
            <a:off x="819000" y="3066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6" name=""/>
          <p:cNvSpPr txBox="1"/>
          <p:nvPr/>
        </p:nvSpPr>
        <p:spPr>
          <a:xfrm>
            <a:off x="4172760" y="2536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7" name=""/>
          <p:cNvSpPr txBox="1"/>
          <p:nvPr/>
        </p:nvSpPr>
        <p:spPr>
          <a:xfrm>
            <a:off x="1047600" y="2946600"/>
            <a:ext cx="2832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Encoding Neutralizer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 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8" name=""/>
          <p:cNvSpPr txBox="1"/>
          <p:nvPr/>
        </p:nvSpPr>
        <p:spPr>
          <a:xfrm>
            <a:off x="4211280" y="2966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9" name=""/>
          <p:cNvSpPr txBox="1"/>
          <p:nvPr/>
        </p:nvSpPr>
        <p:spPr>
          <a:xfrm>
            <a:off x="4361040" y="2946600"/>
            <a:ext cx="3643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Base64/Hex/URL/homoglyph 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0" name=""/>
          <p:cNvSpPr txBox="1"/>
          <p:nvPr/>
        </p:nvSpPr>
        <p:spPr>
          <a:xfrm>
            <a:off x="8254440" y="2966760"/>
            <a:ext cx="329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1" name=""/>
          <p:cNvSpPr/>
          <p:nvPr/>
        </p:nvSpPr>
        <p:spPr>
          <a:xfrm>
            <a:off x="819000" y="34765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4" y="192"/>
                  <a:pt x="203" y="203"/>
                </a:cubicBezTo>
                <a:cubicBezTo>
                  <a:pt x="192" y="214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72" name=""/>
          <p:cNvSpPr txBox="1"/>
          <p:nvPr/>
        </p:nvSpPr>
        <p:spPr>
          <a:xfrm>
            <a:off x="8606520" y="2946600"/>
            <a:ext cx="1641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khi phân tích.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3" name=""/>
          <p:cNvSpPr txBox="1"/>
          <p:nvPr/>
        </p:nvSpPr>
        <p:spPr>
          <a:xfrm>
            <a:off x="1047600" y="3355920"/>
            <a:ext cx="2413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Output Sanitizer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4" name=""/>
          <p:cNvSpPr txBox="1"/>
          <p:nvPr/>
        </p:nvSpPr>
        <p:spPr>
          <a:xfrm>
            <a:off x="373140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ặ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5" name=""/>
          <p:cNvSpPr txBox="1"/>
          <p:nvPr/>
        </p:nvSpPr>
        <p:spPr>
          <a:xfrm>
            <a:off x="3880800" y="3355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6" name=""/>
          <p:cNvSpPr txBox="1"/>
          <p:nvPr/>
        </p:nvSpPr>
        <p:spPr>
          <a:xfrm>
            <a:off x="4151520" y="3355920"/>
            <a:ext cx="17715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data exfiltration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7" name=""/>
          <p:cNvSpPr txBox="1"/>
          <p:nvPr/>
        </p:nvSpPr>
        <p:spPr>
          <a:xfrm>
            <a:off x="6024240" y="3355920"/>
            <a:ext cx="4109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qua markdown/HTML/base64 trong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8" name=""/>
          <p:cNvSpPr txBox="1"/>
          <p:nvPr/>
        </p:nvSpPr>
        <p:spPr>
          <a:xfrm>
            <a:off x="10408320" y="337644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9" name=""/>
          <p:cNvSpPr txBox="1"/>
          <p:nvPr/>
        </p:nvSpPr>
        <p:spPr>
          <a:xfrm>
            <a:off x="10707480" y="3355920"/>
            <a:ext cx="415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ra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0" name=""/>
          <p:cNvSpPr/>
          <p:nvPr/>
        </p:nvSpPr>
        <p:spPr>
          <a:xfrm>
            <a:off x="819000" y="4219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4"/>
                </a:cubicBezTo>
                <a:cubicBezTo>
                  <a:pt x="214" y="46"/>
                  <a:pt x="223" y="58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81" name=""/>
          <p:cNvSpPr txBox="1"/>
          <p:nvPr/>
        </p:nvSpPr>
        <p:spPr>
          <a:xfrm>
            <a:off x="1047600" y="3689280"/>
            <a:ext cx="544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LLM.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2" name=""/>
          <p:cNvSpPr txBox="1"/>
          <p:nvPr/>
        </p:nvSpPr>
        <p:spPr>
          <a:xfrm>
            <a:off x="1047600" y="4098960"/>
            <a:ext cx="575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Lá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3" name=""/>
          <p:cNvSpPr txBox="1"/>
          <p:nvPr/>
        </p:nvSpPr>
        <p:spPr>
          <a:xfrm>
            <a:off x="168120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4" name=""/>
          <p:cNvSpPr txBox="1"/>
          <p:nvPr/>
        </p:nvSpPr>
        <p:spPr>
          <a:xfrm>
            <a:off x="1830600" y="40989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5" name=""/>
          <p:cNvSpPr txBox="1"/>
          <p:nvPr/>
        </p:nvSpPr>
        <p:spPr>
          <a:xfrm>
            <a:off x="2045880" y="4119120"/>
            <a:ext cx="331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Đồ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6" name=""/>
          <p:cNvSpPr txBox="1"/>
          <p:nvPr/>
        </p:nvSpPr>
        <p:spPr>
          <a:xfrm>
            <a:off x="2399760" y="4098960"/>
            <a:ext cx="704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thu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7" name=""/>
          <p:cNvSpPr txBox="1"/>
          <p:nvPr/>
        </p:nvSpPr>
        <p:spPr>
          <a:xfrm>
            <a:off x="317880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8" name=""/>
          <p:cNvSpPr txBox="1"/>
          <p:nvPr/>
        </p:nvSpPr>
        <p:spPr>
          <a:xfrm>
            <a:off x="3328200" y="4098960"/>
            <a:ext cx="2126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Tier-1/Tier-2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 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9" name=""/>
          <p:cNvSpPr txBox="1"/>
          <p:nvPr/>
        </p:nvSpPr>
        <p:spPr>
          <a:xfrm>
            <a:off x="566388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0" name=""/>
          <p:cNvSpPr txBox="1"/>
          <p:nvPr/>
        </p:nvSpPr>
        <p:spPr>
          <a:xfrm>
            <a:off x="5813640" y="4098960"/>
            <a:ext cx="1085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Tier-1 (t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1" name=""/>
          <p:cNvSpPr txBox="1"/>
          <p:nvPr/>
        </p:nvSpPr>
        <p:spPr>
          <a:xfrm>
            <a:off x="701316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2" name=""/>
          <p:cNvSpPr txBox="1"/>
          <p:nvPr/>
        </p:nvSpPr>
        <p:spPr>
          <a:xfrm>
            <a:off x="7162920" y="40989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3" name=""/>
          <p:cNvSpPr txBox="1"/>
          <p:nvPr/>
        </p:nvSpPr>
        <p:spPr>
          <a:xfrm>
            <a:off x="732672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4" name=""/>
          <p:cNvSpPr txBox="1"/>
          <p:nvPr/>
        </p:nvSpPr>
        <p:spPr>
          <a:xfrm>
            <a:off x="7543440" y="4098960"/>
            <a:ext cx="1123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nh) coi là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5" name=""/>
          <p:cNvSpPr txBox="1"/>
          <p:nvPr/>
        </p:nvSpPr>
        <p:spPr>
          <a:xfrm>
            <a:off x="877752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6" name=""/>
          <p:cNvSpPr txBox="1"/>
          <p:nvPr/>
        </p:nvSpPr>
        <p:spPr>
          <a:xfrm>
            <a:off x="8927280" y="4098960"/>
            <a:ext cx="1872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công mà LLM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7" name=""/>
          <p:cNvSpPr txBox="1"/>
          <p:nvPr/>
        </p:nvSpPr>
        <p:spPr>
          <a:xfrm>
            <a:off x="1090116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8" name=""/>
          <p:cNvSpPr txBox="1"/>
          <p:nvPr/>
        </p:nvSpPr>
        <p:spPr>
          <a:xfrm>
            <a:off x="1047600" y="4432320"/>
            <a:ext cx="262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xu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9" name=""/>
          <p:cNvSpPr txBox="1"/>
          <p:nvPr/>
        </p:nvSpPr>
        <p:spPr>
          <a:xfrm>
            <a:off x="1334160" y="4452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0" name=""/>
          <p:cNvSpPr txBox="1"/>
          <p:nvPr/>
        </p:nvSpPr>
        <p:spPr>
          <a:xfrm>
            <a:off x="1483560" y="4432320"/>
            <a:ext cx="1315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"benign"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1" name=""/>
          <p:cNvSpPr txBox="1"/>
          <p:nvPr/>
        </p:nvSpPr>
        <p:spPr>
          <a:xfrm>
            <a:off x="2907720" y="4412160"/>
            <a:ext cx="247320" cy="37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NotoSansMath"/>
                <a:ea typeface="NotoSansMath"/>
              </a:rPr>
              <a:t>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2" name=""/>
          <p:cNvSpPr/>
          <p:nvPr/>
        </p:nvSpPr>
        <p:spPr>
          <a:xfrm>
            <a:off x="3571560" y="4457520"/>
            <a:ext cx="1219680" cy="295560"/>
          </a:xfrm>
          <a:custGeom>
            <a:avLst/>
            <a:gdLst/>
            <a:ahLst/>
            <a:rect l="0" t="0" r="r" b="b"/>
            <a:pathLst>
              <a:path w="3388" h="821">
                <a:moveTo>
                  <a:pt x="0" y="0"/>
                </a:moveTo>
                <a:lnTo>
                  <a:pt x="3388" y="0"/>
                </a:lnTo>
                <a:lnTo>
                  <a:pt x="338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6a7a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03" name=""/>
          <p:cNvSpPr txBox="1"/>
          <p:nvPr/>
        </p:nvSpPr>
        <p:spPr>
          <a:xfrm>
            <a:off x="3121200" y="4432320"/>
            <a:ext cx="397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ép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4" name=""/>
          <p:cNvSpPr txBox="1"/>
          <p:nvPr/>
        </p:nvSpPr>
        <p:spPr>
          <a:xfrm>
            <a:off x="3609000" y="4473000"/>
            <a:ext cx="11484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00" spc="-1" strike="noStrike">
                <a:solidFill>
                  <a:srgbClr val="fff8e1"/>
                </a:solidFill>
                <a:latin typeface="RobotoMono"/>
                <a:ea typeface="RobotoMono"/>
              </a:rPr>
              <a:t>AWAIT_HITL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5" name=""/>
          <p:cNvSpPr txBox="1"/>
          <p:nvPr/>
        </p:nvSpPr>
        <p:spPr>
          <a:xfrm>
            <a:off x="4818960" y="4432320"/>
            <a:ext cx="1656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(LLM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không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6" name=""/>
          <p:cNvSpPr txBox="1"/>
          <p:nvPr/>
        </p:nvSpPr>
        <p:spPr>
          <a:xfrm>
            <a:off x="6631560" y="4452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7" name=""/>
          <p:cNvSpPr txBox="1"/>
          <p:nvPr/>
        </p:nvSpPr>
        <p:spPr>
          <a:xfrm>
            <a:off x="6781320" y="44323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8" name=""/>
          <p:cNvSpPr txBox="1"/>
          <p:nvPr/>
        </p:nvSpPr>
        <p:spPr>
          <a:xfrm>
            <a:off x="6991560" y="4452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9" name=""/>
          <p:cNvSpPr txBox="1"/>
          <p:nvPr/>
        </p:nvSpPr>
        <p:spPr>
          <a:xfrm>
            <a:off x="7058160" y="4432320"/>
            <a:ext cx="1081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"nói chuy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0" name=""/>
          <p:cNvSpPr txBox="1"/>
          <p:nvPr/>
        </p:nvSpPr>
        <p:spPr>
          <a:xfrm>
            <a:off x="8227800" y="4452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1" name=""/>
          <p:cNvSpPr txBox="1"/>
          <p:nvPr/>
        </p:nvSpPr>
        <p:spPr>
          <a:xfrm>
            <a:off x="8377560" y="4432320"/>
            <a:ext cx="433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n"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2" name=""/>
          <p:cNvSpPr txBox="1"/>
          <p:nvPr/>
        </p:nvSpPr>
        <p:spPr>
          <a:xfrm>
            <a:off x="8837640" y="4452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3" name=""/>
          <p:cNvSpPr txBox="1"/>
          <p:nvPr/>
        </p:nvSpPr>
        <p:spPr>
          <a:xfrm>
            <a:off x="8987400" y="44323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4" name=""/>
          <p:cNvSpPr txBox="1"/>
          <p:nvPr/>
        </p:nvSpPr>
        <p:spPr>
          <a:xfrm>
            <a:off x="9174600" y="4452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5" name=""/>
          <p:cNvSpPr txBox="1"/>
          <p:nvPr/>
        </p:nvSpPr>
        <p:spPr>
          <a:xfrm>
            <a:off x="9324360" y="4432320"/>
            <a:ext cx="479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 nh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6" name=""/>
          <p:cNvSpPr txBox="1"/>
          <p:nvPr/>
        </p:nvSpPr>
        <p:spPr>
          <a:xfrm>
            <a:off x="9831960" y="4452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7" name=""/>
          <p:cNvSpPr txBox="1"/>
          <p:nvPr/>
        </p:nvSpPr>
        <p:spPr>
          <a:xfrm>
            <a:off x="10009440" y="4432320"/>
            <a:ext cx="792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con 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8" name=""/>
          <p:cNvSpPr txBox="1"/>
          <p:nvPr/>
        </p:nvSpPr>
        <p:spPr>
          <a:xfrm>
            <a:off x="10843560" y="4452480"/>
            <a:ext cx="329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ườ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9" name=""/>
          <p:cNvSpPr/>
          <p:nvPr/>
        </p:nvSpPr>
        <p:spPr>
          <a:xfrm>
            <a:off x="819000" y="4962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3" y="181"/>
                  <a:pt x="214" y="193"/>
                  <a:pt x="203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20" name=""/>
          <p:cNvSpPr txBox="1"/>
          <p:nvPr/>
        </p:nvSpPr>
        <p:spPr>
          <a:xfrm>
            <a:off x="11195640" y="44323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1" name=""/>
          <p:cNvSpPr txBox="1"/>
          <p:nvPr/>
        </p:nvSpPr>
        <p:spPr>
          <a:xfrm>
            <a:off x="1047600" y="4842000"/>
            <a:ext cx="4609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Audit HMAC-SHA256 móc-xích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 phát 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2" name=""/>
          <p:cNvSpPr txBox="1"/>
          <p:nvPr/>
        </p:nvSpPr>
        <p:spPr>
          <a:xfrm>
            <a:off x="6063840" y="4862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3" name=""/>
          <p:cNvSpPr txBox="1"/>
          <p:nvPr/>
        </p:nvSpPr>
        <p:spPr>
          <a:xfrm>
            <a:off x="6213240" y="4842000"/>
            <a:ext cx="390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4" name=""/>
          <p:cNvSpPr txBox="1"/>
          <p:nvPr/>
        </p:nvSpPr>
        <p:spPr>
          <a:xfrm>
            <a:off x="6636240" y="4862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5" name=""/>
          <p:cNvSpPr txBox="1"/>
          <p:nvPr/>
        </p:nvSpPr>
        <p:spPr>
          <a:xfrm>
            <a:off x="6786000" y="484200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6" name=""/>
          <p:cNvSpPr txBox="1"/>
          <p:nvPr/>
        </p:nvSpPr>
        <p:spPr>
          <a:xfrm>
            <a:off x="7061040" y="4862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7" name=""/>
          <p:cNvSpPr txBox="1"/>
          <p:nvPr/>
        </p:nvSpPr>
        <p:spPr>
          <a:xfrm>
            <a:off x="7210440" y="4842000"/>
            <a:ext cx="1387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o log pháp y.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8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9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0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1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2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3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4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5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6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7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8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9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0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1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2" name=""/>
          <p:cNvSpPr txBox="1"/>
          <p:nvPr/>
        </p:nvSpPr>
        <p:spPr>
          <a:xfrm>
            <a:off x="11827080" y="6405120"/>
            <a:ext cx="1976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9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6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7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8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9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0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1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2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3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4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5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6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7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8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9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0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1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2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3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4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5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6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7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8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9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0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1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2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3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4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5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6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7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8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9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0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1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2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3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4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5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6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7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8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9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0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1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2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3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4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5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6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7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8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9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0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1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2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3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4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5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6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7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8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9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0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1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2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3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4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5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6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7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8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9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0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1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2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3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4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5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6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7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8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9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0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1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2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3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4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5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6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7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8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9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0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1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2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3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4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5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6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7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8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9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0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1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2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3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4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5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6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7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8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9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0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1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2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3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4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5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6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7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8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9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0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1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2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3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4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5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6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7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8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9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0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1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2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3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4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5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6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7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8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9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0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1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2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3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4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5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6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7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8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9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0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1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2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3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4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5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6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7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8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9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0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1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2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3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4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5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6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7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8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9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0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1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2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3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4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5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6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7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8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9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0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1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2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3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4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5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6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7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8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9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0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1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2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3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4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5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6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7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8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9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0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1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2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3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4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5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6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7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8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9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0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1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2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3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4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5" name=""/>
          <p:cNvSpPr/>
          <p:nvPr/>
        </p:nvSpPr>
        <p:spPr>
          <a:xfrm>
            <a:off x="666720" y="2876400"/>
            <a:ext cx="10858680" cy="1114920"/>
          </a:xfrm>
          <a:custGeom>
            <a:avLst/>
            <a:gdLst/>
            <a:ahLst/>
            <a:rect l="0" t="0" r="r" b="b"/>
            <a:pathLst>
              <a:path w="30163" h="3097">
                <a:moveTo>
                  <a:pt x="0" y="0"/>
                </a:moveTo>
                <a:lnTo>
                  <a:pt x="30163" y="0"/>
                </a:lnTo>
                <a:lnTo>
                  <a:pt x="30163" y="3097"/>
                </a:lnTo>
                <a:lnTo>
                  <a:pt x="0" y="309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66" name=""/>
          <p:cNvSpPr txBox="1"/>
          <p:nvPr/>
        </p:nvSpPr>
        <p:spPr>
          <a:xfrm>
            <a:off x="2316240" y="101628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Đ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7" name=""/>
          <p:cNvSpPr txBox="1"/>
          <p:nvPr/>
        </p:nvSpPr>
        <p:spPr>
          <a:xfrm>
            <a:off x="2596680" y="986040"/>
            <a:ext cx="17334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óng góp m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8" name=""/>
          <p:cNvSpPr txBox="1"/>
          <p:nvPr/>
        </p:nvSpPr>
        <p:spPr>
          <a:xfrm>
            <a:off x="4416480" y="101628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ớ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9" name=""/>
          <p:cNvSpPr txBox="1"/>
          <p:nvPr/>
        </p:nvSpPr>
        <p:spPr>
          <a:xfrm>
            <a:off x="4692600" y="986040"/>
            <a:ext cx="4730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i: L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0" name=""/>
          <p:cNvSpPr txBox="1"/>
          <p:nvPr/>
        </p:nvSpPr>
        <p:spPr>
          <a:xfrm>
            <a:off x="5213160" y="101628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ớ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1" name=""/>
          <p:cNvSpPr txBox="1"/>
          <p:nvPr/>
        </p:nvSpPr>
        <p:spPr>
          <a:xfrm>
            <a:off x="5488920" y="986040"/>
            <a:ext cx="11941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p ánh x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2" name=""/>
          <p:cNvSpPr txBox="1"/>
          <p:nvPr/>
        </p:nvSpPr>
        <p:spPr>
          <a:xfrm>
            <a:off x="6774480" y="101628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ạ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3" name=""/>
          <p:cNvSpPr txBox="1"/>
          <p:nvPr/>
        </p:nvSpPr>
        <p:spPr>
          <a:xfrm>
            <a:off x="6993000" y="986040"/>
            <a:ext cx="27928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MITRE ATT&amp;CK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4" name=""/>
          <p:cNvSpPr txBox="1"/>
          <p:nvPr/>
        </p:nvSpPr>
        <p:spPr>
          <a:xfrm>
            <a:off x="1687320" y="17272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5" name=""/>
          <p:cNvSpPr txBox="1"/>
          <p:nvPr/>
        </p:nvSpPr>
        <p:spPr>
          <a:xfrm>
            <a:off x="1881720" y="1747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6" name=""/>
          <p:cNvSpPr txBox="1"/>
          <p:nvPr/>
        </p:nvSpPr>
        <p:spPr>
          <a:xfrm>
            <a:off x="2031480" y="17272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7" name=""/>
          <p:cNvSpPr txBox="1"/>
          <p:nvPr/>
        </p:nvSpPr>
        <p:spPr>
          <a:xfrm>
            <a:off x="2246760" y="1747440"/>
            <a:ext cx="2901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8" name=""/>
          <p:cNvSpPr txBox="1"/>
          <p:nvPr/>
        </p:nvSpPr>
        <p:spPr>
          <a:xfrm>
            <a:off x="2559600" y="1727280"/>
            <a:ext cx="1069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triage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9" name=""/>
          <p:cNvSpPr txBox="1"/>
          <p:nvPr/>
        </p:nvSpPr>
        <p:spPr>
          <a:xfrm>
            <a:off x="3745440" y="1747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ỉ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0" name=""/>
          <p:cNvSpPr txBox="1"/>
          <p:nvPr/>
        </p:nvSpPr>
        <p:spPr>
          <a:xfrm>
            <a:off x="3812400" y="1727280"/>
            <a:ext cx="325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xu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1" name=""/>
          <p:cNvSpPr txBox="1"/>
          <p:nvPr/>
        </p:nvSpPr>
        <p:spPr>
          <a:xfrm>
            <a:off x="4158360" y="1747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2" name=""/>
          <p:cNvSpPr txBox="1"/>
          <p:nvPr/>
        </p:nvSpPr>
        <p:spPr>
          <a:xfrm>
            <a:off x="4308120" y="17272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3" name=""/>
          <p:cNvSpPr txBox="1"/>
          <p:nvPr/>
        </p:nvSpPr>
        <p:spPr>
          <a:xfrm>
            <a:off x="4533120" y="1727280"/>
            <a:ext cx="7095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nhãn t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4" name=""/>
          <p:cNvSpPr txBox="1"/>
          <p:nvPr/>
        </p:nvSpPr>
        <p:spPr>
          <a:xfrm>
            <a:off x="5222160" y="1747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5" name=""/>
          <p:cNvSpPr txBox="1"/>
          <p:nvPr/>
        </p:nvSpPr>
        <p:spPr>
          <a:xfrm>
            <a:off x="5452200" y="1727280"/>
            <a:ext cx="3513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do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6" name=""/>
          <p:cNvSpPr txBox="1"/>
          <p:nvPr/>
        </p:nvSpPr>
        <p:spPr>
          <a:xfrm>
            <a:off x="5751000" y="1727280"/>
            <a:ext cx="1995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("SQLi detected")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7" name=""/>
          <p:cNvSpPr txBox="1"/>
          <p:nvPr/>
        </p:nvSpPr>
        <p:spPr>
          <a:xfrm>
            <a:off x="7951680" y="174744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8" name=""/>
          <p:cNvSpPr txBox="1"/>
          <p:nvPr/>
        </p:nvSpPr>
        <p:spPr>
          <a:xfrm>
            <a:off x="8211240" y="1727280"/>
            <a:ext cx="2160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khó dùng cho SOC.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9" name=""/>
          <p:cNvSpPr txBox="1"/>
          <p:nvPr/>
        </p:nvSpPr>
        <p:spPr>
          <a:xfrm>
            <a:off x="1254600" y="23083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0" name=""/>
          <p:cNvSpPr txBox="1"/>
          <p:nvPr/>
        </p:nvSpPr>
        <p:spPr>
          <a:xfrm>
            <a:off x="1525320" y="2328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1" name=""/>
          <p:cNvSpPr/>
          <p:nvPr/>
        </p:nvSpPr>
        <p:spPr>
          <a:xfrm>
            <a:off x="3247920" y="2333520"/>
            <a:ext cx="1562400" cy="295560"/>
          </a:xfrm>
          <a:custGeom>
            <a:avLst/>
            <a:gdLst/>
            <a:ahLst/>
            <a:rect l="0" t="0" r="r" b="b"/>
            <a:pathLst>
              <a:path w="4340" h="821">
                <a:moveTo>
                  <a:pt x="0" y="0"/>
                </a:moveTo>
                <a:lnTo>
                  <a:pt x="4340" y="0"/>
                </a:lnTo>
                <a:lnTo>
                  <a:pt x="434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6a7a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92" name=""/>
          <p:cNvSpPr txBox="1"/>
          <p:nvPr/>
        </p:nvSpPr>
        <p:spPr>
          <a:xfrm>
            <a:off x="1675080" y="2308320"/>
            <a:ext cx="1411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pháp: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node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3" name=""/>
          <p:cNvSpPr txBox="1"/>
          <p:nvPr/>
        </p:nvSpPr>
        <p:spPr>
          <a:xfrm>
            <a:off x="3286080" y="2349000"/>
            <a:ext cx="133416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fff8e1"/>
                </a:solidFill>
                <a:latin typeface="RobotoMono"/>
                <a:ea typeface="RobotoMono"/>
              </a:rPr>
              <a:t>attack_mapper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4" name=""/>
          <p:cNvSpPr txBox="1"/>
          <p:nvPr/>
        </p:nvSpPr>
        <p:spPr>
          <a:xfrm>
            <a:off x="4838760" y="2308320"/>
            <a:ext cx="261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bi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5" name=""/>
          <p:cNvSpPr txBox="1"/>
          <p:nvPr/>
        </p:nvSpPr>
        <p:spPr>
          <a:xfrm>
            <a:off x="5124240" y="2328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6" name=""/>
          <p:cNvSpPr txBox="1"/>
          <p:nvPr/>
        </p:nvSpPr>
        <p:spPr>
          <a:xfrm>
            <a:off x="5274000" y="2308320"/>
            <a:ext cx="1033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thành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7" name=""/>
          <p:cNvSpPr txBox="1"/>
          <p:nvPr/>
        </p:nvSpPr>
        <p:spPr>
          <a:xfrm>
            <a:off x="6388920" y="2328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8" name=""/>
          <p:cNvSpPr txBox="1"/>
          <p:nvPr/>
        </p:nvSpPr>
        <p:spPr>
          <a:xfrm>
            <a:off x="6538680" y="2308320"/>
            <a:ext cx="1037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ghi có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9" name=""/>
          <p:cNvSpPr txBox="1"/>
          <p:nvPr/>
        </p:nvSpPr>
        <p:spPr>
          <a:xfrm>
            <a:off x="7673040" y="2328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0" name=""/>
          <p:cNvSpPr txBox="1"/>
          <p:nvPr/>
        </p:nvSpPr>
        <p:spPr>
          <a:xfrm>
            <a:off x="7822440" y="2308320"/>
            <a:ext cx="9594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 trúc, ki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1" name=""/>
          <p:cNvSpPr txBox="1"/>
          <p:nvPr/>
        </p:nvSpPr>
        <p:spPr>
          <a:xfrm>
            <a:off x="8917920" y="2328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2" name=""/>
          <p:cNvSpPr txBox="1"/>
          <p:nvPr/>
        </p:nvSpPr>
        <p:spPr>
          <a:xfrm>
            <a:off x="9067320" y="2308320"/>
            <a:ext cx="528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3" name=""/>
          <p:cNvSpPr txBox="1"/>
          <p:nvPr/>
        </p:nvSpPr>
        <p:spPr>
          <a:xfrm>
            <a:off x="9640080" y="2328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4" name=""/>
          <p:cNvSpPr txBox="1"/>
          <p:nvPr/>
        </p:nvSpPr>
        <p:spPr>
          <a:xfrm>
            <a:off x="9831240" y="2308320"/>
            <a:ext cx="331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5" name=""/>
          <p:cNvSpPr txBox="1"/>
          <p:nvPr/>
        </p:nvSpPr>
        <p:spPr>
          <a:xfrm>
            <a:off x="10188000" y="2328480"/>
            <a:ext cx="508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đượ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6" name=""/>
          <p:cNvSpPr txBox="1"/>
          <p:nvPr/>
        </p:nvSpPr>
        <p:spPr>
          <a:xfrm>
            <a:off x="10730520" y="23083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: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7" name=""/>
          <p:cNvSpPr txBox="1"/>
          <p:nvPr/>
        </p:nvSpPr>
        <p:spPr>
          <a:xfrm>
            <a:off x="753480" y="2957760"/>
            <a:ext cx="500544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{ "attack_type": </a:t>
            </a:r>
            <a:r>
              <a:rPr b="0" lang="en-US" sz="1370" spc="-1" strike="noStrike">
                <a:solidFill>
                  <a:srgbClr val="65b042"/>
                </a:solidFill>
                <a:latin typeface="RobotoMono"/>
                <a:ea typeface="RobotoMono"/>
              </a:rPr>
              <a:t>"SQL Injection"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, "mitre_tactic": </a:t>
            </a:r>
            <a:r>
              <a:rPr b="0" lang="en-US" sz="1370" spc="-1" strike="noStrike">
                <a:solidFill>
                  <a:srgbClr val="65b042"/>
                </a:solidFill>
                <a:latin typeface="RobotoMono"/>
                <a:ea typeface="RobotoMono"/>
              </a:rPr>
              <a:t>"Initial Access"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,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8" name=""/>
          <p:cNvSpPr txBox="1"/>
          <p:nvPr/>
        </p:nvSpPr>
        <p:spPr>
          <a:xfrm>
            <a:off x="753480" y="3196080"/>
            <a:ext cx="511992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"mitre_technique": </a:t>
            </a:r>
            <a:r>
              <a:rPr b="0" lang="en-US" sz="1370" spc="-1" strike="noStrike">
                <a:solidFill>
                  <a:srgbClr val="65b042"/>
                </a:solidFill>
                <a:latin typeface="RobotoMono"/>
                <a:ea typeface="RobotoMono"/>
              </a:rPr>
              <a:t>"T1190 - Exploit Public-Facing Application"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,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9" name=""/>
          <p:cNvSpPr txBox="1"/>
          <p:nvPr/>
        </p:nvSpPr>
        <p:spPr>
          <a:xfrm>
            <a:off x="753480" y="3424680"/>
            <a:ext cx="474948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"mitre_url": </a:t>
            </a:r>
            <a:r>
              <a:rPr b="0" lang="en-US" sz="1370" spc="-1" strike="noStrike">
                <a:solidFill>
                  <a:srgbClr val="65b042"/>
                </a:solidFill>
                <a:latin typeface="RobotoMono"/>
                <a:ea typeface="RobotoMono"/>
              </a:rPr>
              <a:t>"https://attack.mitre.org/techniques/T1190/"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,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0" name=""/>
          <p:cNvSpPr/>
          <p:nvPr/>
        </p:nvSpPr>
        <p:spPr>
          <a:xfrm>
            <a:off x="819000" y="4371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11" name=""/>
          <p:cNvSpPr txBox="1"/>
          <p:nvPr/>
        </p:nvSpPr>
        <p:spPr>
          <a:xfrm>
            <a:off x="753480" y="3662640"/>
            <a:ext cx="5278680" cy="23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 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"recommended_response": </a:t>
            </a:r>
            <a:r>
              <a:rPr b="0" lang="en-US" sz="1370" spc="-1" strike="noStrike">
                <a:solidFill>
                  <a:srgbClr val="65b042"/>
                </a:solidFill>
                <a:latin typeface="RobotoMono"/>
                <a:ea typeface="RobotoMono"/>
              </a:rPr>
              <a:t>"Chặn IP tại WAF + leo thang HITL"</a:t>
            </a:r>
            <a:r>
              <a:rPr b="0" lang="en-US" sz="1370" spc="-1" strike="noStrike">
                <a:solidFill>
                  <a:srgbClr val="fff8e1"/>
                </a:solidFill>
                <a:latin typeface="RobotoMono"/>
                <a:ea typeface="RobotoMono"/>
              </a:rPr>
              <a:t> }</a:t>
            </a:r>
            <a:endParaRPr b="0" lang="en-US" sz="13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2" name=""/>
          <p:cNvSpPr txBox="1"/>
          <p:nvPr/>
        </p:nvSpPr>
        <p:spPr>
          <a:xfrm>
            <a:off x="1047600" y="42512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3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3" name=""/>
          <p:cNvSpPr txBox="1"/>
          <p:nvPr/>
        </p:nvSpPr>
        <p:spPr>
          <a:xfrm>
            <a:off x="1262880" y="4271760"/>
            <a:ext cx="508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đườ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4" name=""/>
          <p:cNvSpPr txBox="1"/>
          <p:nvPr/>
        </p:nvSpPr>
        <p:spPr>
          <a:xfrm>
            <a:off x="1805400" y="4251240"/>
            <a:ext cx="2784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curated (web-attack,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5" name=""/>
          <p:cNvSpPr txBox="1"/>
          <p:nvPr/>
        </p:nvSpPr>
        <p:spPr>
          <a:xfrm>
            <a:off x="4878720" y="4271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6" name=""/>
          <p:cNvSpPr txBox="1"/>
          <p:nvPr/>
        </p:nvSpPr>
        <p:spPr>
          <a:xfrm>
            <a:off x="5028480" y="42512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7" name=""/>
          <p:cNvSpPr txBox="1"/>
          <p:nvPr/>
        </p:nvSpPr>
        <p:spPr>
          <a:xfrm>
            <a:off x="5192280" y="4271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8" name=""/>
          <p:cNvSpPr txBox="1"/>
          <p:nvPr/>
        </p:nvSpPr>
        <p:spPr>
          <a:xfrm>
            <a:off x="5409000" y="4251240"/>
            <a:ext cx="407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nh)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9" name=""/>
          <p:cNvSpPr txBox="1"/>
          <p:nvPr/>
        </p:nvSpPr>
        <p:spPr>
          <a:xfrm>
            <a:off x="5853960" y="427176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0" name=""/>
          <p:cNvSpPr txBox="1"/>
          <p:nvPr/>
        </p:nvSpPr>
        <p:spPr>
          <a:xfrm>
            <a:off x="6113520" y="4251240"/>
            <a:ext cx="2532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neo vào verdict triage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1" name=""/>
          <p:cNvSpPr txBox="1"/>
          <p:nvPr/>
        </p:nvSpPr>
        <p:spPr>
          <a:xfrm>
            <a:off x="8946720" y="427176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2" name=""/>
          <p:cNvSpPr txBox="1"/>
          <p:nvPr/>
        </p:nvSpPr>
        <p:spPr>
          <a:xfrm>
            <a:off x="9206280" y="4251240"/>
            <a:ext cx="1143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RRF+LLM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3" name=""/>
          <p:cNvSpPr/>
          <p:nvPr/>
        </p:nvSpPr>
        <p:spPr>
          <a:xfrm>
            <a:off x="819000" y="5114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3" y="179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4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24" name=""/>
          <p:cNvSpPr txBox="1"/>
          <p:nvPr/>
        </p:nvSpPr>
        <p:spPr>
          <a:xfrm>
            <a:off x="1047600" y="4584600"/>
            <a:ext cx="1026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(fallback).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5" name=""/>
          <p:cNvSpPr txBox="1"/>
          <p:nvPr/>
        </p:nvSpPr>
        <p:spPr>
          <a:xfrm>
            <a:off x="1047600" y="4994280"/>
            <a:ext cx="945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Trung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6" name=""/>
          <p:cNvSpPr txBox="1"/>
          <p:nvPr/>
        </p:nvSpPr>
        <p:spPr>
          <a:xfrm>
            <a:off x="2081160" y="5014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7" name=""/>
          <p:cNvSpPr txBox="1"/>
          <p:nvPr/>
        </p:nvSpPr>
        <p:spPr>
          <a:xfrm>
            <a:off x="2272320" y="4994280"/>
            <a:ext cx="213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Prompt Injection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8" name=""/>
          <p:cNvSpPr txBox="1"/>
          <p:nvPr/>
        </p:nvSpPr>
        <p:spPr>
          <a:xfrm>
            <a:off x="4617000" y="501480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9" name=""/>
          <p:cNvSpPr txBox="1"/>
          <p:nvPr/>
        </p:nvSpPr>
        <p:spPr>
          <a:xfrm>
            <a:off x="4876560" y="4994280"/>
            <a:ext cx="2786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MITRE ATLAS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(không ph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0" name=""/>
          <p:cNvSpPr txBox="1"/>
          <p:nvPr/>
        </p:nvSpPr>
        <p:spPr>
          <a:xfrm>
            <a:off x="7869240" y="5014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1" name=""/>
          <p:cNvSpPr txBox="1"/>
          <p:nvPr/>
        </p:nvSpPr>
        <p:spPr>
          <a:xfrm>
            <a:off x="8018640" y="4994280"/>
            <a:ext cx="3111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Enterprise); IDOR không có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2" name=""/>
          <p:cNvSpPr txBox="1"/>
          <p:nvPr/>
        </p:nvSpPr>
        <p:spPr>
          <a:xfrm>
            <a:off x="1047600" y="53276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k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3" name=""/>
          <p:cNvSpPr txBox="1"/>
          <p:nvPr/>
        </p:nvSpPr>
        <p:spPr>
          <a:xfrm>
            <a:off x="1189440" y="5348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ỹ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4" name=""/>
          <p:cNvSpPr txBox="1"/>
          <p:nvPr/>
        </p:nvSpPr>
        <p:spPr>
          <a:xfrm>
            <a:off x="1325160" y="5327640"/>
            <a:ext cx="429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thu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5" name=""/>
          <p:cNvSpPr txBox="1"/>
          <p:nvPr/>
        </p:nvSpPr>
        <p:spPr>
          <a:xfrm>
            <a:off x="1788480" y="5348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6" name=""/>
          <p:cNvSpPr txBox="1"/>
          <p:nvPr/>
        </p:nvSpPr>
        <p:spPr>
          <a:xfrm>
            <a:off x="1937880" y="5327640"/>
            <a:ext cx="7596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riêng.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7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8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9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0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1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2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3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4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5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6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7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8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9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0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1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10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5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6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7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8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9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0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1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2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3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4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5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6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7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8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9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0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1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2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3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4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5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6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7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8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9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0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1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2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3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4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5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6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7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8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9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0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1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2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3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4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5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6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7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8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9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0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1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2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3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4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5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6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7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8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9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0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1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2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3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4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5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6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7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8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9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0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1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2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3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4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5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6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7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8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9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0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1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2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3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4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5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6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7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8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9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0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1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2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3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4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5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6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7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8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9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0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1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2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3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4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5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6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7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8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9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0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1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2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3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4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5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6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7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8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9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0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1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2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3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4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5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6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7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8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9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0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1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2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3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4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5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6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7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8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9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0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1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2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3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4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5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6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7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8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9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0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1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2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3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4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5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6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7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8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9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0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1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2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3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4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5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6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7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8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9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0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1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2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3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4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5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6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7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8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9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0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1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2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3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4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5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6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7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8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9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0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1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2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3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4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5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6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7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8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9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0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1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2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3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4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5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6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7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8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9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0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1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2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3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4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5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6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7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8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9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0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1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2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3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4" name=""/>
          <p:cNvSpPr txBox="1"/>
          <p:nvPr/>
        </p:nvSpPr>
        <p:spPr>
          <a:xfrm>
            <a:off x="2407320" y="1709640"/>
            <a:ext cx="42084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Threat Memory &amp; Phát hi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5" name=""/>
          <p:cNvSpPr txBox="1"/>
          <p:nvPr/>
        </p:nvSpPr>
        <p:spPr>
          <a:xfrm>
            <a:off x="6946560" y="1740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ệ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6" name=""/>
          <p:cNvSpPr txBox="1"/>
          <p:nvPr/>
        </p:nvSpPr>
        <p:spPr>
          <a:xfrm>
            <a:off x="7165080" y="1709640"/>
            <a:ext cx="11026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 APT 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7" name=""/>
          <p:cNvSpPr txBox="1"/>
          <p:nvPr/>
        </p:nvSpPr>
        <p:spPr>
          <a:xfrm>
            <a:off x="8328600" y="1740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đ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8" name=""/>
          <p:cNvSpPr/>
          <p:nvPr/>
        </p:nvSpPr>
        <p:spPr>
          <a:xfrm>
            <a:off x="819000" y="2571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4" y="193"/>
                  <a:pt x="203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79" name=""/>
          <p:cNvSpPr txBox="1"/>
          <p:nvPr/>
        </p:nvSpPr>
        <p:spPr>
          <a:xfrm>
            <a:off x="8567640" y="1709640"/>
            <a:ext cx="11178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a-ngày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0" name=""/>
          <p:cNvSpPr txBox="1"/>
          <p:nvPr/>
        </p:nvSpPr>
        <p:spPr>
          <a:xfrm>
            <a:off x="1047600" y="24512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1" name=""/>
          <p:cNvSpPr txBox="1"/>
          <p:nvPr/>
        </p:nvSpPr>
        <p:spPr>
          <a:xfrm>
            <a:off x="1222200" y="2471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2" name=""/>
          <p:cNvSpPr txBox="1"/>
          <p:nvPr/>
        </p:nvSpPr>
        <p:spPr>
          <a:xfrm>
            <a:off x="1385280" y="2451240"/>
            <a:ext cx="339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3" name=""/>
          <p:cNvSpPr txBox="1"/>
          <p:nvPr/>
        </p:nvSpPr>
        <p:spPr>
          <a:xfrm>
            <a:off x="1756080" y="2471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4" name=""/>
          <p:cNvSpPr txBox="1"/>
          <p:nvPr/>
        </p:nvSpPr>
        <p:spPr>
          <a:xfrm>
            <a:off x="1944000" y="2451240"/>
            <a:ext cx="5904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dài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5" name=""/>
          <p:cNvSpPr txBox="1"/>
          <p:nvPr/>
        </p:nvSpPr>
        <p:spPr>
          <a:xfrm>
            <a:off x="2602440" y="2471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6" name=""/>
          <p:cNvSpPr txBox="1"/>
          <p:nvPr/>
        </p:nvSpPr>
        <p:spPr>
          <a:xfrm>
            <a:off x="2752200" y="2451240"/>
            <a:ext cx="2452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(SQLite): uy tín IP,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7" name=""/>
          <p:cNvSpPr txBox="1"/>
          <p:nvPr/>
        </p:nvSpPr>
        <p:spPr>
          <a:xfrm>
            <a:off x="5418360" y="2471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8" name=""/>
          <p:cNvSpPr txBox="1"/>
          <p:nvPr/>
        </p:nvSpPr>
        <p:spPr>
          <a:xfrm>
            <a:off x="5595840" y="2451240"/>
            <a:ext cx="409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9" name=""/>
          <p:cNvSpPr txBox="1"/>
          <p:nvPr/>
        </p:nvSpPr>
        <p:spPr>
          <a:xfrm>
            <a:off x="6037200" y="2471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0" name=""/>
          <p:cNvSpPr txBox="1"/>
          <p:nvPr/>
        </p:nvSpPr>
        <p:spPr>
          <a:xfrm>
            <a:off x="6186600" y="24512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1" name=""/>
          <p:cNvSpPr txBox="1"/>
          <p:nvPr/>
        </p:nvSpPr>
        <p:spPr>
          <a:xfrm>
            <a:off x="6396120" y="2471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2" name=""/>
          <p:cNvSpPr txBox="1"/>
          <p:nvPr/>
        </p:nvSpPr>
        <p:spPr>
          <a:xfrm>
            <a:off x="6545880" y="2451240"/>
            <a:ext cx="262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3" name=""/>
          <p:cNvSpPr txBox="1"/>
          <p:nvPr/>
        </p:nvSpPr>
        <p:spPr>
          <a:xfrm>
            <a:off x="6831000" y="2471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4" name=""/>
          <p:cNvSpPr txBox="1"/>
          <p:nvPr/>
        </p:nvSpPr>
        <p:spPr>
          <a:xfrm>
            <a:off x="6980760" y="2451240"/>
            <a:ext cx="377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,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5" name=""/>
          <p:cNvSpPr txBox="1"/>
          <p:nvPr/>
        </p:nvSpPr>
        <p:spPr>
          <a:xfrm>
            <a:off x="7381800" y="2471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ỉ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6" name=""/>
          <p:cNvSpPr txBox="1"/>
          <p:nvPr/>
        </p:nvSpPr>
        <p:spPr>
          <a:xfrm>
            <a:off x="7448760" y="2451240"/>
            <a:ext cx="3329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báo APT —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inject vào prompt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7" name=""/>
          <p:cNvSpPr txBox="1"/>
          <p:nvPr/>
        </p:nvSpPr>
        <p:spPr>
          <a:xfrm>
            <a:off x="11096640" y="247140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8" name=""/>
          <p:cNvSpPr txBox="1"/>
          <p:nvPr/>
        </p:nvSpPr>
        <p:spPr>
          <a:xfrm>
            <a:off x="1047600" y="2784600"/>
            <a:ext cx="918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Agent bi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9" name=""/>
          <p:cNvSpPr txBox="1"/>
          <p:nvPr/>
        </p:nvSpPr>
        <p:spPr>
          <a:xfrm>
            <a:off x="2047320" y="2804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0" name=""/>
          <p:cNvSpPr txBox="1"/>
          <p:nvPr/>
        </p:nvSpPr>
        <p:spPr>
          <a:xfrm>
            <a:off x="2197080" y="2784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1" name=""/>
          <p:cNvSpPr txBox="1"/>
          <p:nvPr/>
        </p:nvSpPr>
        <p:spPr>
          <a:xfrm>
            <a:off x="2422440" y="278460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l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2" name=""/>
          <p:cNvSpPr txBox="1"/>
          <p:nvPr/>
        </p:nvSpPr>
        <p:spPr>
          <a:xfrm>
            <a:off x="2436480" y="2804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3" name=""/>
          <p:cNvSpPr txBox="1"/>
          <p:nvPr/>
        </p:nvSpPr>
        <p:spPr>
          <a:xfrm>
            <a:off x="2564640" y="2784600"/>
            <a:ext cx="4381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ch s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4" name=""/>
          <p:cNvSpPr txBox="1"/>
          <p:nvPr/>
        </p:nvSpPr>
        <p:spPr>
          <a:xfrm>
            <a:off x="2959560" y="2804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5" name=""/>
          <p:cNvSpPr/>
          <p:nvPr/>
        </p:nvSpPr>
        <p:spPr>
          <a:xfrm>
            <a:off x="819000" y="33145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4" y="192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06" name=""/>
          <p:cNvSpPr txBox="1"/>
          <p:nvPr/>
        </p:nvSpPr>
        <p:spPr>
          <a:xfrm>
            <a:off x="3128400" y="2784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7" name=""/>
          <p:cNvSpPr txBox="1"/>
          <p:nvPr/>
        </p:nvSpPr>
        <p:spPr>
          <a:xfrm>
            <a:off x="1047600" y="3193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8" name=""/>
          <p:cNvSpPr txBox="1"/>
          <p:nvPr/>
        </p:nvSpPr>
        <p:spPr>
          <a:xfrm>
            <a:off x="1208160" y="3214440"/>
            <a:ext cx="3556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ươ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9" name=""/>
          <p:cNvSpPr txBox="1"/>
          <p:nvPr/>
        </p:nvSpPr>
        <p:spPr>
          <a:xfrm>
            <a:off x="1587240" y="3193920"/>
            <a:ext cx="3490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quan APT EMERGENT: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IP xu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0" name=""/>
          <p:cNvSpPr txBox="1"/>
          <p:nvPr/>
        </p:nvSpPr>
        <p:spPr>
          <a:xfrm>
            <a:off x="5335200" y="3214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1" name=""/>
          <p:cNvSpPr txBox="1"/>
          <p:nvPr/>
        </p:nvSpPr>
        <p:spPr>
          <a:xfrm>
            <a:off x="5484960" y="3193920"/>
            <a:ext cx="351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2" name=""/>
          <p:cNvSpPr txBox="1"/>
          <p:nvPr/>
        </p:nvSpPr>
        <p:spPr>
          <a:xfrm>
            <a:off x="5873760" y="3214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3" name=""/>
          <p:cNvSpPr txBox="1"/>
          <p:nvPr/>
        </p:nvSpPr>
        <p:spPr>
          <a:xfrm>
            <a:off x="6023520" y="3193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4" name=""/>
          <p:cNvSpPr txBox="1"/>
          <p:nvPr/>
        </p:nvSpPr>
        <p:spPr>
          <a:xfrm>
            <a:off x="6232680" y="3214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5" name=""/>
          <p:cNvSpPr txBox="1"/>
          <p:nvPr/>
        </p:nvSpPr>
        <p:spPr>
          <a:xfrm>
            <a:off x="6406920" y="3193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6" name=""/>
          <p:cNvSpPr txBox="1"/>
          <p:nvPr/>
        </p:nvSpPr>
        <p:spPr>
          <a:xfrm>
            <a:off x="6467040" y="3214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7" name=""/>
          <p:cNvSpPr txBox="1"/>
          <p:nvPr/>
        </p:nvSpPr>
        <p:spPr>
          <a:xfrm>
            <a:off x="6614640" y="3193920"/>
            <a:ext cx="1063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2 NGÀY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8" name=""/>
          <p:cNvSpPr txBox="1"/>
          <p:nvPr/>
        </p:nvSpPr>
        <p:spPr>
          <a:xfrm>
            <a:off x="7737120" y="3214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9" name=""/>
          <p:cNvSpPr txBox="1"/>
          <p:nvPr/>
        </p:nvSpPr>
        <p:spPr>
          <a:xfrm>
            <a:off x="7886880" y="3193920"/>
            <a:ext cx="1599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công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phân bi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0" name=""/>
          <p:cNvSpPr txBox="1"/>
          <p:nvPr/>
        </p:nvSpPr>
        <p:spPr>
          <a:xfrm>
            <a:off x="9617400" y="3214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1" name=""/>
          <p:cNvSpPr txBox="1"/>
          <p:nvPr/>
        </p:nvSpPr>
        <p:spPr>
          <a:xfrm>
            <a:off x="9766800" y="3193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2" name=""/>
          <p:cNvSpPr txBox="1"/>
          <p:nvPr/>
        </p:nvSpPr>
        <p:spPr>
          <a:xfrm>
            <a:off x="9930960" y="3173760"/>
            <a:ext cx="247320" cy="37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NotoSansMath"/>
                <a:ea typeface="NotoSansMath"/>
              </a:rPr>
              <a:t>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3" name=""/>
          <p:cNvSpPr txBox="1"/>
          <p:nvPr/>
        </p:nvSpPr>
        <p:spPr>
          <a:xfrm>
            <a:off x="10144440" y="3193920"/>
            <a:ext cx="601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ghép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4" name=""/>
          <p:cNvSpPr txBox="1"/>
          <p:nvPr/>
        </p:nvSpPr>
        <p:spPr>
          <a:xfrm>
            <a:off x="1047600" y="3527640"/>
            <a:ext cx="1091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thành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chu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5" name=""/>
          <p:cNvSpPr txBox="1"/>
          <p:nvPr/>
        </p:nvSpPr>
        <p:spPr>
          <a:xfrm>
            <a:off x="2241360" y="3547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ỗ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6" name=""/>
          <p:cNvSpPr txBox="1"/>
          <p:nvPr/>
        </p:nvSpPr>
        <p:spPr>
          <a:xfrm>
            <a:off x="2404800" y="3527640"/>
            <a:ext cx="1184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kill-chain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7" name=""/>
          <p:cNvSpPr txBox="1"/>
          <p:nvPr/>
        </p:nvSpPr>
        <p:spPr>
          <a:xfrm>
            <a:off x="3783240" y="35478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8" name=""/>
          <p:cNvSpPr/>
          <p:nvPr/>
        </p:nvSpPr>
        <p:spPr>
          <a:xfrm>
            <a:off x="819000" y="4057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6"/>
                </a:cubicBezTo>
                <a:cubicBezTo>
                  <a:pt x="214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29" name=""/>
          <p:cNvSpPr txBox="1"/>
          <p:nvPr/>
        </p:nvSpPr>
        <p:spPr>
          <a:xfrm>
            <a:off x="3946680" y="3527640"/>
            <a:ext cx="805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a-ngày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0" name=""/>
          <p:cNvSpPr txBox="1"/>
          <p:nvPr/>
        </p:nvSpPr>
        <p:spPr>
          <a:xfrm>
            <a:off x="1047600" y="3936960"/>
            <a:ext cx="303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1" name=""/>
          <p:cNvSpPr txBox="1"/>
          <p:nvPr/>
        </p:nvSpPr>
        <p:spPr>
          <a:xfrm>
            <a:off x="1378800" y="3957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2" name=""/>
          <p:cNvSpPr txBox="1"/>
          <p:nvPr/>
        </p:nvSpPr>
        <p:spPr>
          <a:xfrm>
            <a:off x="1528560" y="3936960"/>
            <a:ext cx="2543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low-and-slow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: liên k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3" name=""/>
          <p:cNvSpPr txBox="1"/>
          <p:nvPr/>
        </p:nvSpPr>
        <p:spPr>
          <a:xfrm>
            <a:off x="4340880" y="3957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4" name=""/>
          <p:cNvSpPr txBox="1"/>
          <p:nvPr/>
        </p:nvSpPr>
        <p:spPr>
          <a:xfrm>
            <a:off x="4490280" y="3936960"/>
            <a:ext cx="1431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các hành vi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5" name=""/>
          <p:cNvSpPr txBox="1"/>
          <p:nvPr/>
        </p:nvSpPr>
        <p:spPr>
          <a:xfrm>
            <a:off x="6026400" y="3957480"/>
            <a:ext cx="300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6" name=""/>
          <p:cNvSpPr txBox="1"/>
          <p:nvPr/>
        </p:nvSpPr>
        <p:spPr>
          <a:xfrm>
            <a:off x="6350400" y="3936960"/>
            <a:ext cx="261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7" name=""/>
          <p:cNvSpPr txBox="1"/>
          <p:nvPr/>
        </p:nvSpPr>
        <p:spPr>
          <a:xfrm>
            <a:off x="6634800" y="3957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ẻ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8" name=""/>
          <p:cNvSpPr txBox="1"/>
          <p:nvPr/>
        </p:nvSpPr>
        <p:spPr>
          <a:xfrm>
            <a:off x="6784560" y="3936960"/>
            <a:ext cx="1564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cách nhau nhi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9" name=""/>
          <p:cNvSpPr txBox="1"/>
          <p:nvPr/>
        </p:nvSpPr>
        <p:spPr>
          <a:xfrm>
            <a:off x="8466480" y="39574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0" name=""/>
          <p:cNvSpPr txBox="1"/>
          <p:nvPr/>
        </p:nvSpPr>
        <p:spPr>
          <a:xfrm>
            <a:off x="8616240" y="3936960"/>
            <a:ext cx="2184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ngày mà signature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1" name=""/>
          <p:cNvSpPr txBox="1"/>
          <p:nvPr/>
        </p:nvSpPr>
        <p:spPr>
          <a:xfrm>
            <a:off x="1047600" y="4290840"/>
            <a:ext cx="300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2" name=""/>
          <p:cNvSpPr txBox="1"/>
          <p:nvPr/>
        </p:nvSpPr>
        <p:spPr>
          <a:xfrm>
            <a:off x="1371600" y="42703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n-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3" name=""/>
          <p:cNvSpPr txBox="1"/>
          <p:nvPr/>
        </p:nvSpPr>
        <p:spPr>
          <a:xfrm>
            <a:off x="1619280" y="42908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4" name=""/>
          <p:cNvSpPr txBox="1"/>
          <p:nvPr/>
        </p:nvSpPr>
        <p:spPr>
          <a:xfrm>
            <a:off x="1768680" y="42703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5" name=""/>
          <p:cNvSpPr txBox="1"/>
          <p:nvPr/>
        </p:nvSpPr>
        <p:spPr>
          <a:xfrm>
            <a:off x="1843920" y="42908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6" name=""/>
          <p:cNvSpPr txBox="1"/>
          <p:nvPr/>
        </p:nvSpPr>
        <p:spPr>
          <a:xfrm>
            <a:off x="1993680" y="4270320"/>
            <a:ext cx="407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7" name=""/>
          <p:cNvSpPr txBox="1"/>
          <p:nvPr/>
        </p:nvSpPr>
        <p:spPr>
          <a:xfrm>
            <a:off x="2418840" y="42908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8" name=""/>
          <p:cNvSpPr txBox="1"/>
          <p:nvPr/>
        </p:nvSpPr>
        <p:spPr>
          <a:xfrm>
            <a:off x="2568600" y="4270320"/>
            <a:ext cx="457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sót.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9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0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1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2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3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4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5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6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7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8" name=""/>
          <p:cNvSpPr txBox="1"/>
          <p:nvPr/>
        </p:nvSpPr>
        <p:spPr>
          <a:xfrm>
            <a:off x="914400" y="4851360"/>
            <a:ext cx="844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Khôi ph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9" name=""/>
          <p:cNvSpPr txBox="1"/>
          <p:nvPr/>
        </p:nvSpPr>
        <p:spPr>
          <a:xfrm>
            <a:off x="1827360" y="4871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0" name=""/>
          <p:cNvSpPr txBox="1"/>
          <p:nvPr/>
        </p:nvSpPr>
        <p:spPr>
          <a:xfrm>
            <a:off x="1977120" y="4851360"/>
            <a:ext cx="9684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3/3 chi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1" name=""/>
          <p:cNvSpPr txBox="1"/>
          <p:nvPr/>
        </p:nvSpPr>
        <p:spPr>
          <a:xfrm>
            <a:off x="3016440" y="4871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2" name=""/>
          <p:cNvSpPr txBox="1"/>
          <p:nvPr/>
        </p:nvSpPr>
        <p:spPr>
          <a:xfrm>
            <a:off x="3166200" y="4851360"/>
            <a:ext cx="342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d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3" name=""/>
          <p:cNvSpPr txBox="1"/>
          <p:nvPr/>
        </p:nvSpPr>
        <p:spPr>
          <a:xfrm>
            <a:off x="3537000" y="4871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4" name=""/>
          <p:cNvSpPr txBox="1"/>
          <p:nvPr/>
        </p:nvSpPr>
        <p:spPr>
          <a:xfrm>
            <a:off x="3617640" y="4851360"/>
            <a:ext cx="6479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ch APT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(DAPT2020),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recall = 1.0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,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specificity = 1.0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(0 báo nh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5" name=""/>
          <p:cNvSpPr txBox="1"/>
          <p:nvPr/>
        </p:nvSpPr>
        <p:spPr>
          <a:xfrm>
            <a:off x="10756440" y="4871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6" name=""/>
          <p:cNvSpPr txBox="1"/>
          <p:nvPr/>
        </p:nvSpPr>
        <p:spPr>
          <a:xfrm>
            <a:off x="10906200" y="4851360"/>
            <a:ext cx="329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7" name=""/>
          <p:cNvSpPr txBox="1"/>
          <p:nvPr/>
        </p:nvSpPr>
        <p:spPr>
          <a:xfrm>
            <a:off x="666720" y="486576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8" name=""/>
          <p:cNvSpPr txBox="1"/>
          <p:nvPr/>
        </p:nvSpPr>
        <p:spPr>
          <a:xfrm rot="10800000">
            <a:off x="11280240" y="487116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9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0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1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2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3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4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11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8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79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0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1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2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3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4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5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6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7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8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9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0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1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2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3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4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5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6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7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8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9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0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1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2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3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4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5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6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7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8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9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0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1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2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3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4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5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6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7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8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9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0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1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2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3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4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5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6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7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8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9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0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1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2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3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4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5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6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7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8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9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0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1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2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3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4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5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6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7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8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9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0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1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2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3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4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5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6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7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8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9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0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1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2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3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4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5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6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7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8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9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0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1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2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3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4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5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6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7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8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9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0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1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2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3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4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5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6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7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8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9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0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1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2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3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4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5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6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7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8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9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0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1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2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3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4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5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6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7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8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9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0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1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2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3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4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5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6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7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8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9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0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1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2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3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4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5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6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7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8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9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0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1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2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3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4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5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6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7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8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9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0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1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2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3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4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5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6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7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8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9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0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1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2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3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4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5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6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7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8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9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0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1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2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3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4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5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6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7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8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9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0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1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2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3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4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5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6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7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8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9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0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1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2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3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4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5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6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7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8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9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0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1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2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3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4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5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6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7" name=""/>
          <p:cNvSpPr/>
          <p:nvPr/>
        </p:nvSpPr>
        <p:spPr>
          <a:xfrm>
            <a:off x="2714400" y="1866600"/>
            <a:ext cx="1676880" cy="381600"/>
          </a:xfrm>
          <a:custGeom>
            <a:avLst/>
            <a:gdLst/>
            <a:ahLst/>
            <a:rect l="0" t="0" r="r" b="b"/>
            <a:pathLst>
              <a:path w="4658" h="1060">
                <a:moveTo>
                  <a:pt x="0" y="0"/>
                </a:moveTo>
                <a:lnTo>
                  <a:pt x="4658" y="0"/>
                </a:lnTo>
                <a:lnTo>
                  <a:pt x="465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98" name=""/>
          <p:cNvSpPr/>
          <p:nvPr/>
        </p:nvSpPr>
        <p:spPr>
          <a:xfrm>
            <a:off x="4390920" y="1866600"/>
            <a:ext cx="5086800" cy="381600"/>
          </a:xfrm>
          <a:custGeom>
            <a:avLst/>
            <a:gdLst/>
            <a:ahLst/>
            <a:rect l="0" t="0" r="r" b="b"/>
            <a:pathLst>
              <a:path w="14130" h="1060">
                <a:moveTo>
                  <a:pt x="0" y="0"/>
                </a:moveTo>
                <a:lnTo>
                  <a:pt x="14130" y="0"/>
                </a:lnTo>
                <a:lnTo>
                  <a:pt x="1413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99" name=""/>
          <p:cNvSpPr/>
          <p:nvPr/>
        </p:nvSpPr>
        <p:spPr>
          <a:xfrm>
            <a:off x="2714400" y="2247840"/>
            <a:ext cx="1676880" cy="371880"/>
          </a:xfrm>
          <a:custGeom>
            <a:avLst/>
            <a:gdLst/>
            <a:ahLst/>
            <a:rect l="0" t="0" r="r" b="b"/>
            <a:pathLst>
              <a:path w="4658" h="1033">
                <a:moveTo>
                  <a:pt x="0" y="0"/>
                </a:moveTo>
                <a:lnTo>
                  <a:pt x="4658" y="0"/>
                </a:lnTo>
                <a:lnTo>
                  <a:pt x="465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0" name=""/>
          <p:cNvSpPr/>
          <p:nvPr/>
        </p:nvSpPr>
        <p:spPr>
          <a:xfrm>
            <a:off x="4390920" y="2247840"/>
            <a:ext cx="5086800" cy="371880"/>
          </a:xfrm>
          <a:custGeom>
            <a:avLst/>
            <a:gdLst/>
            <a:ahLst/>
            <a:rect l="0" t="0" r="r" b="b"/>
            <a:pathLst>
              <a:path w="14130" h="1033">
                <a:moveTo>
                  <a:pt x="0" y="0"/>
                </a:moveTo>
                <a:lnTo>
                  <a:pt x="14130" y="0"/>
                </a:lnTo>
                <a:lnTo>
                  <a:pt x="1413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1" name=""/>
          <p:cNvSpPr/>
          <p:nvPr/>
        </p:nvSpPr>
        <p:spPr>
          <a:xfrm>
            <a:off x="2714400" y="3000240"/>
            <a:ext cx="1676880" cy="371880"/>
          </a:xfrm>
          <a:custGeom>
            <a:avLst/>
            <a:gdLst/>
            <a:ahLst/>
            <a:rect l="0" t="0" r="r" b="b"/>
            <a:pathLst>
              <a:path w="4658" h="1033">
                <a:moveTo>
                  <a:pt x="0" y="0"/>
                </a:moveTo>
                <a:lnTo>
                  <a:pt x="4658" y="0"/>
                </a:lnTo>
                <a:lnTo>
                  <a:pt x="465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2" name=""/>
          <p:cNvSpPr/>
          <p:nvPr/>
        </p:nvSpPr>
        <p:spPr>
          <a:xfrm>
            <a:off x="4390920" y="3000240"/>
            <a:ext cx="5086800" cy="371880"/>
          </a:xfrm>
          <a:custGeom>
            <a:avLst/>
            <a:gdLst/>
            <a:ahLst/>
            <a:rect l="0" t="0" r="r" b="b"/>
            <a:pathLst>
              <a:path w="14130" h="1033">
                <a:moveTo>
                  <a:pt x="0" y="0"/>
                </a:moveTo>
                <a:lnTo>
                  <a:pt x="14130" y="0"/>
                </a:lnTo>
                <a:lnTo>
                  <a:pt x="1413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3" name=""/>
          <p:cNvSpPr/>
          <p:nvPr/>
        </p:nvSpPr>
        <p:spPr>
          <a:xfrm>
            <a:off x="2714400" y="3752640"/>
            <a:ext cx="1676880" cy="371880"/>
          </a:xfrm>
          <a:custGeom>
            <a:avLst/>
            <a:gdLst/>
            <a:ahLst/>
            <a:rect l="0" t="0" r="r" b="b"/>
            <a:pathLst>
              <a:path w="4658" h="1033">
                <a:moveTo>
                  <a:pt x="0" y="0"/>
                </a:moveTo>
                <a:lnTo>
                  <a:pt x="4658" y="0"/>
                </a:lnTo>
                <a:lnTo>
                  <a:pt x="465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4" name=""/>
          <p:cNvSpPr/>
          <p:nvPr/>
        </p:nvSpPr>
        <p:spPr>
          <a:xfrm>
            <a:off x="4390920" y="3752640"/>
            <a:ext cx="5086800" cy="371880"/>
          </a:xfrm>
          <a:custGeom>
            <a:avLst/>
            <a:gdLst/>
            <a:ahLst/>
            <a:rect l="0" t="0" r="r" b="b"/>
            <a:pathLst>
              <a:path w="14130" h="1033">
                <a:moveTo>
                  <a:pt x="0" y="0"/>
                </a:moveTo>
                <a:lnTo>
                  <a:pt x="14130" y="0"/>
                </a:lnTo>
                <a:lnTo>
                  <a:pt x="1413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5" name=""/>
          <p:cNvSpPr/>
          <p:nvPr/>
        </p:nvSpPr>
        <p:spPr>
          <a:xfrm>
            <a:off x="2714400" y="186660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6" name=""/>
          <p:cNvSpPr/>
          <p:nvPr/>
        </p:nvSpPr>
        <p:spPr>
          <a:xfrm>
            <a:off x="2714400" y="1866600"/>
            <a:ext cx="1676880" cy="10080"/>
          </a:xfrm>
          <a:custGeom>
            <a:avLst/>
            <a:gdLst/>
            <a:ahLst/>
            <a:rect l="0" t="0" r="r" b="b"/>
            <a:pathLst>
              <a:path w="4658" h="28">
                <a:moveTo>
                  <a:pt x="0" y="0"/>
                </a:moveTo>
                <a:lnTo>
                  <a:pt x="4658" y="0"/>
                </a:lnTo>
                <a:lnTo>
                  <a:pt x="46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7" name=""/>
          <p:cNvSpPr/>
          <p:nvPr/>
        </p:nvSpPr>
        <p:spPr>
          <a:xfrm>
            <a:off x="4381200" y="186660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8" name=""/>
          <p:cNvSpPr/>
          <p:nvPr/>
        </p:nvSpPr>
        <p:spPr>
          <a:xfrm>
            <a:off x="4390920" y="1866600"/>
            <a:ext cx="5086800" cy="10080"/>
          </a:xfrm>
          <a:custGeom>
            <a:avLst/>
            <a:gdLst/>
            <a:ahLst/>
            <a:rect l="0" t="0" r="r" b="b"/>
            <a:pathLst>
              <a:path w="14130" h="28">
                <a:moveTo>
                  <a:pt x="0" y="0"/>
                </a:moveTo>
                <a:lnTo>
                  <a:pt x="14130" y="0"/>
                </a:lnTo>
                <a:lnTo>
                  <a:pt x="14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9" name=""/>
          <p:cNvSpPr/>
          <p:nvPr/>
        </p:nvSpPr>
        <p:spPr>
          <a:xfrm>
            <a:off x="9467640" y="186660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0" name=""/>
          <p:cNvSpPr/>
          <p:nvPr/>
        </p:nvSpPr>
        <p:spPr>
          <a:xfrm>
            <a:off x="2714400" y="2238120"/>
            <a:ext cx="1676880" cy="10080"/>
          </a:xfrm>
          <a:custGeom>
            <a:avLst/>
            <a:gdLst/>
            <a:ahLst/>
            <a:rect l="0" t="0" r="r" b="b"/>
            <a:pathLst>
              <a:path w="4658" h="28">
                <a:moveTo>
                  <a:pt x="0" y="0"/>
                </a:moveTo>
                <a:lnTo>
                  <a:pt x="4658" y="0"/>
                </a:lnTo>
                <a:lnTo>
                  <a:pt x="46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1" name=""/>
          <p:cNvSpPr/>
          <p:nvPr/>
        </p:nvSpPr>
        <p:spPr>
          <a:xfrm>
            <a:off x="4390920" y="2238120"/>
            <a:ext cx="5086800" cy="10080"/>
          </a:xfrm>
          <a:custGeom>
            <a:avLst/>
            <a:gdLst/>
            <a:ahLst/>
            <a:rect l="0" t="0" r="r" b="b"/>
            <a:pathLst>
              <a:path w="14130" h="28">
                <a:moveTo>
                  <a:pt x="0" y="0"/>
                </a:moveTo>
                <a:lnTo>
                  <a:pt x="14130" y="0"/>
                </a:lnTo>
                <a:lnTo>
                  <a:pt x="14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2" name=""/>
          <p:cNvSpPr/>
          <p:nvPr/>
        </p:nvSpPr>
        <p:spPr>
          <a:xfrm>
            <a:off x="2714400" y="22478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3" name=""/>
          <p:cNvSpPr/>
          <p:nvPr/>
        </p:nvSpPr>
        <p:spPr>
          <a:xfrm>
            <a:off x="4381200" y="22478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4" name=""/>
          <p:cNvSpPr/>
          <p:nvPr/>
        </p:nvSpPr>
        <p:spPr>
          <a:xfrm>
            <a:off x="9467640" y="22478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5" name=""/>
          <p:cNvSpPr/>
          <p:nvPr/>
        </p:nvSpPr>
        <p:spPr>
          <a:xfrm>
            <a:off x="2714400" y="262872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6" name=""/>
          <p:cNvSpPr/>
          <p:nvPr/>
        </p:nvSpPr>
        <p:spPr>
          <a:xfrm>
            <a:off x="2714400" y="261936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4658" y="0"/>
                </a:lnTo>
                <a:lnTo>
                  <a:pt x="46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7" name=""/>
          <p:cNvSpPr/>
          <p:nvPr/>
        </p:nvSpPr>
        <p:spPr>
          <a:xfrm>
            <a:off x="4381200" y="262872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8" name=""/>
          <p:cNvSpPr/>
          <p:nvPr/>
        </p:nvSpPr>
        <p:spPr>
          <a:xfrm>
            <a:off x="4390920" y="2619360"/>
            <a:ext cx="5086800" cy="9720"/>
          </a:xfrm>
          <a:custGeom>
            <a:avLst/>
            <a:gdLst/>
            <a:ahLst/>
            <a:rect l="0" t="0" r="r" b="b"/>
            <a:pathLst>
              <a:path w="14130" h="27">
                <a:moveTo>
                  <a:pt x="0" y="0"/>
                </a:moveTo>
                <a:lnTo>
                  <a:pt x="14130" y="0"/>
                </a:lnTo>
                <a:lnTo>
                  <a:pt x="14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9" name=""/>
          <p:cNvSpPr/>
          <p:nvPr/>
        </p:nvSpPr>
        <p:spPr>
          <a:xfrm>
            <a:off x="9467640" y="262872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0" name=""/>
          <p:cNvSpPr/>
          <p:nvPr/>
        </p:nvSpPr>
        <p:spPr>
          <a:xfrm>
            <a:off x="2714400" y="3000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1" name=""/>
          <p:cNvSpPr/>
          <p:nvPr/>
        </p:nvSpPr>
        <p:spPr>
          <a:xfrm>
            <a:off x="2714400" y="2990520"/>
            <a:ext cx="1676880" cy="10080"/>
          </a:xfrm>
          <a:custGeom>
            <a:avLst/>
            <a:gdLst/>
            <a:ahLst/>
            <a:rect l="0" t="0" r="r" b="b"/>
            <a:pathLst>
              <a:path w="4658" h="28">
                <a:moveTo>
                  <a:pt x="0" y="0"/>
                </a:moveTo>
                <a:lnTo>
                  <a:pt x="4658" y="0"/>
                </a:lnTo>
                <a:lnTo>
                  <a:pt x="46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2" name=""/>
          <p:cNvSpPr/>
          <p:nvPr/>
        </p:nvSpPr>
        <p:spPr>
          <a:xfrm>
            <a:off x="4381200" y="3000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3" name=""/>
          <p:cNvSpPr/>
          <p:nvPr/>
        </p:nvSpPr>
        <p:spPr>
          <a:xfrm>
            <a:off x="4390920" y="2990520"/>
            <a:ext cx="5086800" cy="10080"/>
          </a:xfrm>
          <a:custGeom>
            <a:avLst/>
            <a:gdLst/>
            <a:ahLst/>
            <a:rect l="0" t="0" r="r" b="b"/>
            <a:pathLst>
              <a:path w="14130" h="28">
                <a:moveTo>
                  <a:pt x="0" y="0"/>
                </a:moveTo>
                <a:lnTo>
                  <a:pt x="14130" y="0"/>
                </a:lnTo>
                <a:lnTo>
                  <a:pt x="14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4" name=""/>
          <p:cNvSpPr/>
          <p:nvPr/>
        </p:nvSpPr>
        <p:spPr>
          <a:xfrm>
            <a:off x="9467640" y="3000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5" name=""/>
          <p:cNvSpPr/>
          <p:nvPr/>
        </p:nvSpPr>
        <p:spPr>
          <a:xfrm>
            <a:off x="2714400" y="338112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6" name=""/>
          <p:cNvSpPr/>
          <p:nvPr/>
        </p:nvSpPr>
        <p:spPr>
          <a:xfrm>
            <a:off x="2714400" y="337176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4658" y="0"/>
                </a:lnTo>
                <a:lnTo>
                  <a:pt x="46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7" name=""/>
          <p:cNvSpPr/>
          <p:nvPr/>
        </p:nvSpPr>
        <p:spPr>
          <a:xfrm>
            <a:off x="4381200" y="338112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8" name=""/>
          <p:cNvSpPr/>
          <p:nvPr/>
        </p:nvSpPr>
        <p:spPr>
          <a:xfrm>
            <a:off x="4390920" y="3371760"/>
            <a:ext cx="5086800" cy="9720"/>
          </a:xfrm>
          <a:custGeom>
            <a:avLst/>
            <a:gdLst/>
            <a:ahLst/>
            <a:rect l="0" t="0" r="r" b="b"/>
            <a:pathLst>
              <a:path w="14130" h="27">
                <a:moveTo>
                  <a:pt x="0" y="0"/>
                </a:moveTo>
                <a:lnTo>
                  <a:pt x="14130" y="0"/>
                </a:lnTo>
                <a:lnTo>
                  <a:pt x="14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9" name=""/>
          <p:cNvSpPr/>
          <p:nvPr/>
        </p:nvSpPr>
        <p:spPr>
          <a:xfrm>
            <a:off x="9467640" y="338112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0" name=""/>
          <p:cNvSpPr/>
          <p:nvPr/>
        </p:nvSpPr>
        <p:spPr>
          <a:xfrm>
            <a:off x="2714400" y="3752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1" name=""/>
          <p:cNvSpPr/>
          <p:nvPr/>
        </p:nvSpPr>
        <p:spPr>
          <a:xfrm>
            <a:off x="2714400" y="374328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4658" y="0"/>
                </a:lnTo>
                <a:lnTo>
                  <a:pt x="46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2" name=""/>
          <p:cNvSpPr/>
          <p:nvPr/>
        </p:nvSpPr>
        <p:spPr>
          <a:xfrm>
            <a:off x="4381200" y="3752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3" name=""/>
          <p:cNvSpPr/>
          <p:nvPr/>
        </p:nvSpPr>
        <p:spPr>
          <a:xfrm>
            <a:off x="4390920" y="3743280"/>
            <a:ext cx="5086800" cy="9720"/>
          </a:xfrm>
          <a:custGeom>
            <a:avLst/>
            <a:gdLst/>
            <a:ahLst/>
            <a:rect l="0" t="0" r="r" b="b"/>
            <a:pathLst>
              <a:path w="14130" h="27">
                <a:moveTo>
                  <a:pt x="0" y="0"/>
                </a:moveTo>
                <a:lnTo>
                  <a:pt x="14130" y="0"/>
                </a:lnTo>
                <a:lnTo>
                  <a:pt x="14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4" name=""/>
          <p:cNvSpPr/>
          <p:nvPr/>
        </p:nvSpPr>
        <p:spPr>
          <a:xfrm>
            <a:off x="9467640" y="3752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5" name=""/>
          <p:cNvSpPr/>
          <p:nvPr/>
        </p:nvSpPr>
        <p:spPr>
          <a:xfrm>
            <a:off x="2714400" y="412416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4658" y="0"/>
                </a:lnTo>
                <a:lnTo>
                  <a:pt x="46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6" name=""/>
          <p:cNvSpPr/>
          <p:nvPr/>
        </p:nvSpPr>
        <p:spPr>
          <a:xfrm>
            <a:off x="4390920" y="4124160"/>
            <a:ext cx="5086800" cy="9720"/>
          </a:xfrm>
          <a:custGeom>
            <a:avLst/>
            <a:gdLst/>
            <a:ahLst/>
            <a:rect l="0" t="0" r="r" b="b"/>
            <a:pathLst>
              <a:path w="14130" h="27">
                <a:moveTo>
                  <a:pt x="0" y="0"/>
                </a:moveTo>
                <a:lnTo>
                  <a:pt x="14130" y="0"/>
                </a:lnTo>
                <a:lnTo>
                  <a:pt x="14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7" name=""/>
          <p:cNvSpPr txBox="1"/>
          <p:nvPr/>
        </p:nvSpPr>
        <p:spPr>
          <a:xfrm>
            <a:off x="2109240" y="1176480"/>
            <a:ext cx="4395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Ph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8" name=""/>
          <p:cNvSpPr txBox="1"/>
          <p:nvPr/>
        </p:nvSpPr>
        <p:spPr>
          <a:xfrm>
            <a:off x="2585520" y="1206720"/>
            <a:ext cx="53424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ươ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9" name=""/>
          <p:cNvSpPr txBox="1"/>
          <p:nvPr/>
        </p:nvSpPr>
        <p:spPr>
          <a:xfrm>
            <a:off x="3142440" y="1176480"/>
            <a:ext cx="14072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 pháp 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0" name=""/>
          <p:cNvSpPr txBox="1"/>
          <p:nvPr/>
        </p:nvSpPr>
        <p:spPr>
          <a:xfrm>
            <a:off x="4635720" y="12067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Đ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1" name=""/>
          <p:cNvSpPr txBox="1"/>
          <p:nvPr/>
        </p:nvSpPr>
        <p:spPr>
          <a:xfrm>
            <a:off x="4916160" y="1176480"/>
            <a:ext cx="36154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ánh giá — Khung 5 chi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2" name=""/>
          <p:cNvSpPr txBox="1"/>
          <p:nvPr/>
        </p:nvSpPr>
        <p:spPr>
          <a:xfrm>
            <a:off x="8799120" y="12067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ề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3" name=""/>
          <p:cNvSpPr txBox="1"/>
          <p:nvPr/>
        </p:nvSpPr>
        <p:spPr>
          <a:xfrm>
            <a:off x="9017640" y="1176480"/>
            <a:ext cx="10018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u (5D)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4" name=""/>
          <p:cNvSpPr txBox="1"/>
          <p:nvPr/>
        </p:nvSpPr>
        <p:spPr>
          <a:xfrm>
            <a:off x="3246120" y="1926720"/>
            <a:ext cx="3085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Chi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5" name=""/>
          <p:cNvSpPr txBox="1"/>
          <p:nvPr/>
        </p:nvSpPr>
        <p:spPr>
          <a:xfrm>
            <a:off x="3600720" y="194400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ề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6" name=""/>
          <p:cNvSpPr txBox="1"/>
          <p:nvPr/>
        </p:nvSpPr>
        <p:spPr>
          <a:xfrm>
            <a:off x="3728880" y="192672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u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7" name=""/>
          <p:cNvSpPr txBox="1"/>
          <p:nvPr/>
        </p:nvSpPr>
        <p:spPr>
          <a:xfrm>
            <a:off x="6096600" y="1926720"/>
            <a:ext cx="2552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Ch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8" name=""/>
          <p:cNvSpPr txBox="1"/>
          <p:nvPr/>
        </p:nvSpPr>
        <p:spPr>
          <a:xfrm>
            <a:off x="6379920" y="194400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ỉ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9" name=""/>
          <p:cNvSpPr txBox="1"/>
          <p:nvPr/>
        </p:nvSpPr>
        <p:spPr>
          <a:xfrm>
            <a:off x="6449760" y="192672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 </a:t>
            </a:r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s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0" name=""/>
          <p:cNvSpPr txBox="1"/>
          <p:nvPr/>
        </p:nvSpPr>
        <p:spPr>
          <a:xfrm>
            <a:off x="6606360" y="194400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ố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1" name=""/>
          <p:cNvSpPr txBox="1"/>
          <p:nvPr/>
        </p:nvSpPr>
        <p:spPr>
          <a:xfrm>
            <a:off x="6746400" y="192672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 </a:t>
            </a:r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v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2" name=""/>
          <p:cNvSpPr txBox="1"/>
          <p:nvPr/>
        </p:nvSpPr>
        <p:spPr>
          <a:xfrm>
            <a:off x="6926400" y="194400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ậ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3" name=""/>
          <p:cNvSpPr txBox="1"/>
          <p:nvPr/>
        </p:nvSpPr>
        <p:spPr>
          <a:xfrm>
            <a:off x="7054920" y="1926720"/>
            <a:ext cx="6271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n hành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4" name=""/>
          <p:cNvSpPr txBox="1"/>
          <p:nvPr/>
        </p:nvSpPr>
        <p:spPr>
          <a:xfrm>
            <a:off x="2807640" y="2307600"/>
            <a:ext cx="8586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Accuracy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5" name=""/>
          <p:cNvSpPr txBox="1"/>
          <p:nvPr/>
        </p:nvSpPr>
        <p:spPr>
          <a:xfrm>
            <a:off x="4478400" y="2307600"/>
            <a:ext cx="40806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Precision / Recall / F1 · APT recall · zero-day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6" name=""/>
          <p:cNvSpPr txBox="1"/>
          <p:nvPr/>
        </p:nvSpPr>
        <p:spPr>
          <a:xfrm>
            <a:off x="2807640" y="2679120"/>
            <a:ext cx="12016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Performance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7" name=""/>
          <p:cNvSpPr txBox="1"/>
          <p:nvPr/>
        </p:nvSpPr>
        <p:spPr>
          <a:xfrm>
            <a:off x="4478400" y="2696400"/>
            <a:ext cx="2674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Độ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8" name=""/>
          <p:cNvSpPr txBox="1"/>
          <p:nvPr/>
        </p:nvSpPr>
        <p:spPr>
          <a:xfrm>
            <a:off x="4770000" y="267912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tr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9" name=""/>
          <p:cNvSpPr txBox="1"/>
          <p:nvPr/>
        </p:nvSpPr>
        <p:spPr>
          <a:xfrm>
            <a:off x="5008680" y="269640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ễ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0" name=""/>
          <p:cNvSpPr txBox="1"/>
          <p:nvPr/>
        </p:nvSpPr>
        <p:spPr>
          <a:xfrm>
            <a:off x="5137200" y="2679120"/>
            <a:ext cx="17107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Tier-1 vs Tier-2 · t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1" name=""/>
          <p:cNvSpPr txBox="1"/>
          <p:nvPr/>
        </p:nvSpPr>
        <p:spPr>
          <a:xfrm>
            <a:off x="7054560" y="269640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ỷ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2" name=""/>
          <p:cNvSpPr txBox="1"/>
          <p:nvPr/>
        </p:nvSpPr>
        <p:spPr>
          <a:xfrm>
            <a:off x="7171200" y="267912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l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3" name=""/>
          <p:cNvSpPr txBox="1"/>
          <p:nvPr/>
        </p:nvSpPr>
        <p:spPr>
          <a:xfrm>
            <a:off x="7289280" y="269640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4" name=""/>
          <p:cNvSpPr txBox="1"/>
          <p:nvPr/>
        </p:nvSpPr>
        <p:spPr>
          <a:xfrm>
            <a:off x="7417440" y="2679120"/>
            <a:ext cx="9043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leo thang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5" name=""/>
          <p:cNvSpPr txBox="1"/>
          <p:nvPr/>
        </p:nvSpPr>
        <p:spPr>
          <a:xfrm>
            <a:off x="2807640" y="3060360"/>
            <a:ext cx="7628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Security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6" name=""/>
          <p:cNvSpPr txBox="1"/>
          <p:nvPr/>
        </p:nvSpPr>
        <p:spPr>
          <a:xfrm>
            <a:off x="4478400" y="306036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T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7" name=""/>
          <p:cNvSpPr txBox="1"/>
          <p:nvPr/>
        </p:nvSpPr>
        <p:spPr>
          <a:xfrm>
            <a:off x="4613760" y="307728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ỷ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8" name=""/>
          <p:cNvSpPr txBox="1"/>
          <p:nvPr/>
        </p:nvSpPr>
        <p:spPr>
          <a:xfrm>
            <a:off x="4730400" y="306036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l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9" name=""/>
          <p:cNvSpPr txBox="1"/>
          <p:nvPr/>
        </p:nvSpPr>
        <p:spPr>
          <a:xfrm>
            <a:off x="4848480" y="307728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0" name=""/>
          <p:cNvSpPr txBox="1"/>
          <p:nvPr/>
        </p:nvSpPr>
        <p:spPr>
          <a:xfrm>
            <a:off x="4976640" y="3060360"/>
            <a:ext cx="18295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kháng adversarial (t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1" name=""/>
          <p:cNvSpPr txBox="1"/>
          <p:nvPr/>
        </p:nvSpPr>
        <p:spPr>
          <a:xfrm>
            <a:off x="7062840" y="307728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ĩ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2" name=""/>
          <p:cNvSpPr txBox="1"/>
          <p:nvPr/>
        </p:nvSpPr>
        <p:spPr>
          <a:xfrm>
            <a:off x="7132680" y="3060360"/>
            <a:ext cx="16801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nh vs full-pipeline)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3" name=""/>
          <p:cNvSpPr txBox="1"/>
          <p:nvPr/>
        </p:nvSpPr>
        <p:spPr>
          <a:xfrm>
            <a:off x="2807640" y="3431880"/>
            <a:ext cx="12459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Explainability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4" name=""/>
          <p:cNvSpPr txBox="1"/>
          <p:nvPr/>
        </p:nvSpPr>
        <p:spPr>
          <a:xfrm>
            <a:off x="4478400" y="3431880"/>
            <a:ext cx="18723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LLM-as-Judge liên-h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5" name=""/>
          <p:cNvSpPr txBox="1"/>
          <p:nvPr/>
        </p:nvSpPr>
        <p:spPr>
          <a:xfrm>
            <a:off x="6562080" y="344880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ọ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6" name=""/>
          <p:cNvSpPr txBox="1"/>
          <p:nvPr/>
        </p:nvSpPr>
        <p:spPr>
          <a:xfrm>
            <a:off x="6690600" y="3431880"/>
            <a:ext cx="10051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(RAGAS) · 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7" name=""/>
          <p:cNvSpPr txBox="1"/>
          <p:nvPr/>
        </p:nvSpPr>
        <p:spPr>
          <a:xfrm>
            <a:off x="7806240" y="3448800"/>
            <a:ext cx="2322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độ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8" name=""/>
          <p:cNvSpPr txBox="1"/>
          <p:nvPr/>
        </p:nvSpPr>
        <p:spPr>
          <a:xfrm>
            <a:off x="8062920" y="343188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9" name=""/>
          <p:cNvSpPr txBox="1"/>
          <p:nvPr/>
        </p:nvSpPr>
        <p:spPr>
          <a:xfrm>
            <a:off x="8115480" y="3448800"/>
            <a:ext cx="2322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đầ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0" name=""/>
          <p:cNvSpPr txBox="1"/>
          <p:nvPr/>
        </p:nvSpPr>
        <p:spPr>
          <a:xfrm>
            <a:off x="8372160" y="343188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y 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1" name=""/>
          <p:cNvSpPr txBox="1"/>
          <p:nvPr/>
        </p:nvSpPr>
        <p:spPr>
          <a:xfrm>
            <a:off x="8543880" y="3448800"/>
            <a:ext cx="2322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đủ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2" name=""/>
          <p:cNvSpPr txBox="1"/>
          <p:nvPr/>
        </p:nvSpPr>
        <p:spPr>
          <a:xfrm>
            <a:off x="8800920" y="3431880"/>
            <a:ext cx="5158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audit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3" name=""/>
          <p:cNvSpPr txBox="1"/>
          <p:nvPr/>
        </p:nvSpPr>
        <p:spPr>
          <a:xfrm>
            <a:off x="2807640" y="3812760"/>
            <a:ext cx="7977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Integrity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4" name=""/>
          <p:cNvSpPr txBox="1"/>
          <p:nvPr/>
        </p:nvSpPr>
        <p:spPr>
          <a:xfrm>
            <a:off x="4478400" y="3812760"/>
            <a:ext cx="5842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Xác th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5" name=""/>
          <p:cNvSpPr txBox="1"/>
          <p:nvPr/>
        </p:nvSpPr>
        <p:spPr>
          <a:xfrm>
            <a:off x="5123520" y="38300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ự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6" name=""/>
          <p:cNvSpPr txBox="1"/>
          <p:nvPr/>
        </p:nvSpPr>
        <p:spPr>
          <a:xfrm>
            <a:off x="5275800" y="3812760"/>
            <a:ext cx="4852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c chu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7" name=""/>
          <p:cNvSpPr txBox="1"/>
          <p:nvPr/>
        </p:nvSpPr>
        <p:spPr>
          <a:xfrm>
            <a:off x="5804640" y="38300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ỗ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8" name=""/>
          <p:cNvSpPr/>
          <p:nvPr/>
        </p:nvSpPr>
        <p:spPr>
          <a:xfrm>
            <a:off x="819000" y="4514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89" name=""/>
          <p:cNvSpPr txBox="1"/>
          <p:nvPr/>
        </p:nvSpPr>
        <p:spPr>
          <a:xfrm>
            <a:off x="5932800" y="3812760"/>
            <a:ext cx="7383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i HMAC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0" name=""/>
          <p:cNvSpPr txBox="1"/>
          <p:nvPr/>
        </p:nvSpPr>
        <p:spPr>
          <a:xfrm>
            <a:off x="1047600" y="43941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1" name=""/>
          <p:cNvSpPr txBox="1"/>
          <p:nvPr/>
        </p:nvSpPr>
        <p:spPr>
          <a:xfrm>
            <a:off x="1319040" y="4414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2" name=""/>
          <p:cNvSpPr txBox="1"/>
          <p:nvPr/>
        </p:nvSpPr>
        <p:spPr>
          <a:xfrm>
            <a:off x="1468440" y="4394160"/>
            <a:ext cx="268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3" name=""/>
          <p:cNvSpPr txBox="1"/>
          <p:nvPr/>
        </p:nvSpPr>
        <p:spPr>
          <a:xfrm>
            <a:off x="1753560" y="4414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4" name=""/>
          <p:cNvSpPr txBox="1"/>
          <p:nvPr/>
        </p:nvSpPr>
        <p:spPr>
          <a:xfrm>
            <a:off x="1997280" y="4394160"/>
            <a:ext cx="573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5" name=""/>
          <p:cNvSpPr txBox="1"/>
          <p:nvPr/>
        </p:nvSpPr>
        <p:spPr>
          <a:xfrm>
            <a:off x="2634480" y="4414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6" name=""/>
          <p:cNvSpPr/>
          <p:nvPr/>
        </p:nvSpPr>
        <p:spPr>
          <a:xfrm>
            <a:off x="819000" y="492408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4" y="194"/>
                  <a:pt x="203" y="205"/>
                </a:cubicBezTo>
                <a:cubicBezTo>
                  <a:pt x="192" y="216"/>
                  <a:pt x="179" y="224"/>
                  <a:pt x="165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1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7"/>
                  <a:pt x="73" y="11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11"/>
                </a:cubicBezTo>
                <a:cubicBezTo>
                  <a:pt x="179" y="17"/>
                  <a:pt x="192" y="25"/>
                  <a:pt x="203" y="36"/>
                </a:cubicBezTo>
                <a:cubicBezTo>
                  <a:pt x="214" y="47"/>
                  <a:pt x="223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97" name=""/>
          <p:cNvSpPr txBox="1"/>
          <p:nvPr/>
        </p:nvSpPr>
        <p:spPr>
          <a:xfrm>
            <a:off x="2797920" y="4394160"/>
            <a:ext cx="5674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kê: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McNemar,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Mann-Whitney U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,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Wilson 95% CI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8" name=""/>
          <p:cNvSpPr txBox="1"/>
          <p:nvPr/>
        </p:nvSpPr>
        <p:spPr>
          <a:xfrm>
            <a:off x="1047600" y="48038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D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9" name=""/>
          <p:cNvSpPr txBox="1"/>
          <p:nvPr/>
        </p:nvSpPr>
        <p:spPr>
          <a:xfrm>
            <a:off x="1243440" y="482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0" name=""/>
          <p:cNvSpPr txBox="1"/>
          <p:nvPr/>
        </p:nvSpPr>
        <p:spPr>
          <a:xfrm>
            <a:off x="1434600" y="48038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li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1" name=""/>
          <p:cNvSpPr txBox="1"/>
          <p:nvPr/>
        </p:nvSpPr>
        <p:spPr>
          <a:xfrm>
            <a:off x="1659240" y="482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2" name=""/>
          <p:cNvSpPr txBox="1"/>
          <p:nvPr/>
        </p:nvSpPr>
        <p:spPr>
          <a:xfrm>
            <a:off x="1809000" y="4803840"/>
            <a:ext cx="540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3" name=""/>
          <p:cNvSpPr txBox="1"/>
          <p:nvPr/>
        </p:nvSpPr>
        <p:spPr>
          <a:xfrm>
            <a:off x="2383560" y="482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4" name=""/>
          <p:cNvSpPr txBox="1"/>
          <p:nvPr/>
        </p:nvSpPr>
        <p:spPr>
          <a:xfrm>
            <a:off x="2574360" y="4803840"/>
            <a:ext cx="4059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CSE-CIC-IDS2018 + DAPT2020 ·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5" name=""/>
          <p:cNvSpPr txBox="1"/>
          <p:nvPr/>
        </p:nvSpPr>
        <p:spPr>
          <a:xfrm>
            <a:off x="6917040" y="482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6" name=""/>
          <p:cNvSpPr txBox="1"/>
          <p:nvPr/>
        </p:nvSpPr>
        <p:spPr>
          <a:xfrm>
            <a:off x="7066800" y="48038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7" name=""/>
          <p:cNvSpPr txBox="1"/>
          <p:nvPr/>
        </p:nvSpPr>
        <p:spPr>
          <a:xfrm>
            <a:off x="7237440" y="482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8" name=""/>
          <p:cNvSpPr txBox="1"/>
          <p:nvPr/>
        </p:nvSpPr>
        <p:spPr>
          <a:xfrm>
            <a:off x="7481160" y="4803840"/>
            <a:ext cx="3289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(seed=42) ·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isolation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không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9" name=""/>
          <p:cNvSpPr txBox="1"/>
          <p:nvPr/>
        </p:nvSpPr>
        <p:spPr>
          <a:xfrm>
            <a:off x="1047600" y="515736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0" name=""/>
          <p:cNvSpPr txBox="1"/>
          <p:nvPr/>
        </p:nvSpPr>
        <p:spPr>
          <a:xfrm>
            <a:off x="1347120" y="5137200"/>
            <a:ext cx="470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d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1" name=""/>
          <p:cNvSpPr txBox="1"/>
          <p:nvPr/>
        </p:nvSpPr>
        <p:spPr>
          <a:xfrm>
            <a:off x="1845000" y="5157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2" name=""/>
          <p:cNvSpPr txBox="1"/>
          <p:nvPr/>
        </p:nvSpPr>
        <p:spPr>
          <a:xfrm>
            <a:off x="2022840" y="51372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3" name=""/>
          <p:cNvSpPr txBox="1"/>
          <p:nvPr/>
        </p:nvSpPr>
        <p:spPr>
          <a:xfrm>
            <a:off x="2233080" y="5157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4" name=""/>
          <p:cNvSpPr txBox="1"/>
          <p:nvPr/>
        </p:nvSpPr>
        <p:spPr>
          <a:xfrm>
            <a:off x="2382840" y="5137200"/>
            <a:ext cx="398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lu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5" name=""/>
          <p:cNvSpPr txBox="1"/>
          <p:nvPr/>
        </p:nvSpPr>
        <p:spPr>
          <a:xfrm>
            <a:off x="2817000" y="5157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6" name=""/>
          <p:cNvSpPr txBox="1"/>
          <p:nvPr/>
        </p:nvSpPr>
        <p:spPr>
          <a:xfrm>
            <a:off x="2966760" y="5137200"/>
            <a:ext cx="329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7" name=""/>
          <p:cNvSpPr txBox="1"/>
          <p:nvPr/>
        </p:nvSpPr>
        <p:spPr>
          <a:xfrm>
            <a:off x="3314520" y="51573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8" name=""/>
          <p:cNvSpPr txBox="1"/>
          <p:nvPr/>
        </p:nvSpPr>
        <p:spPr>
          <a:xfrm>
            <a:off x="3464280" y="51372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9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0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1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2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3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4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5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6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7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8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9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0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1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2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3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12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7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8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9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0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1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2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3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4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5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6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7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8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9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0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1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2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3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4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5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6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7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8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9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0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1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2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3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4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5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6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7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8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9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0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1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2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3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4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5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6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7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8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9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0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1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2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3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4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5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6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7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8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9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0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1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2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3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4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5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6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7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8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9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0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1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2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3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4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5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6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7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8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9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0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1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2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3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4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5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6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7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8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9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0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1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2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3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4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5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6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7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8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9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0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1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2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3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4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5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6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7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8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9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0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1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2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3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4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5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6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7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8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9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0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1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2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3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4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5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6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7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8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9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0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1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2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3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4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5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6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7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8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9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0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1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2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3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4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5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6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7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8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9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0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1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2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3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4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5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6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7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8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9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0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1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2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3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4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5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6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7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8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9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0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1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2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3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4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5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6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7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8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9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0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1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2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3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4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5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6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7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8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9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0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1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2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3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4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5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6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7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8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9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0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1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2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3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4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5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6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7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8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9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0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1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2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3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4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5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6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7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8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9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0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1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2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3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4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5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6" name=""/>
          <p:cNvSpPr txBox="1"/>
          <p:nvPr/>
        </p:nvSpPr>
        <p:spPr>
          <a:xfrm>
            <a:off x="4074840" y="188136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K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7" name=""/>
          <p:cNvSpPr txBox="1"/>
          <p:nvPr/>
        </p:nvSpPr>
        <p:spPr>
          <a:xfrm>
            <a:off x="4352040" y="191160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ế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8" name=""/>
          <p:cNvSpPr txBox="1"/>
          <p:nvPr/>
        </p:nvSpPr>
        <p:spPr>
          <a:xfrm>
            <a:off x="4570560" y="1881360"/>
            <a:ext cx="6498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t qu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9" name=""/>
          <p:cNvSpPr txBox="1"/>
          <p:nvPr/>
        </p:nvSpPr>
        <p:spPr>
          <a:xfrm>
            <a:off x="5269320" y="191160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ả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0" name=""/>
          <p:cNvSpPr txBox="1"/>
          <p:nvPr/>
        </p:nvSpPr>
        <p:spPr>
          <a:xfrm>
            <a:off x="5487840" y="1881360"/>
            <a:ext cx="11635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1 — Hi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1" name=""/>
          <p:cNvSpPr txBox="1"/>
          <p:nvPr/>
        </p:nvSpPr>
        <p:spPr>
          <a:xfrm>
            <a:off x="6708240" y="191160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ệ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2" name=""/>
          <p:cNvSpPr txBox="1"/>
          <p:nvPr/>
        </p:nvSpPr>
        <p:spPr>
          <a:xfrm>
            <a:off x="6926760" y="1881360"/>
            <a:ext cx="5097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u n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3" name=""/>
          <p:cNvSpPr txBox="1"/>
          <p:nvPr/>
        </p:nvSpPr>
        <p:spPr>
          <a:xfrm>
            <a:off x="7464960" y="191160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ă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4" name=""/>
          <p:cNvSpPr/>
          <p:nvPr/>
        </p:nvSpPr>
        <p:spPr>
          <a:xfrm>
            <a:off x="819000" y="2733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65" name=""/>
          <p:cNvSpPr txBox="1"/>
          <p:nvPr/>
        </p:nvSpPr>
        <p:spPr>
          <a:xfrm>
            <a:off x="7683480" y="1881360"/>
            <a:ext cx="4060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6" name=""/>
          <p:cNvSpPr txBox="1"/>
          <p:nvPr/>
        </p:nvSpPr>
        <p:spPr>
          <a:xfrm>
            <a:off x="1047600" y="2633400"/>
            <a:ext cx="331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7" name=""/>
          <p:cNvSpPr txBox="1"/>
          <p:nvPr/>
        </p:nvSpPr>
        <p:spPr>
          <a:xfrm>
            <a:off x="1401840" y="26132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8" name=""/>
          <p:cNvSpPr txBox="1"/>
          <p:nvPr/>
        </p:nvSpPr>
        <p:spPr>
          <a:xfrm>
            <a:off x="168660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ễ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9" name=""/>
          <p:cNvSpPr/>
          <p:nvPr/>
        </p:nvSpPr>
        <p:spPr>
          <a:xfrm>
            <a:off x="3828960" y="2638080"/>
            <a:ext cx="248040" cy="248040"/>
          </a:xfrm>
          <a:custGeom>
            <a:avLst/>
            <a:gdLst/>
            <a:ahLst/>
            <a:rect l="0" t="0" r="r" b="b"/>
            <a:pathLst>
              <a:path w="689" h="689">
                <a:moveTo>
                  <a:pt x="689" y="613"/>
                </a:moveTo>
                <a:cubicBezTo>
                  <a:pt x="689" y="655"/>
                  <a:pt x="654" y="689"/>
                  <a:pt x="612" y="689"/>
                </a:cubicBezTo>
                <a:lnTo>
                  <a:pt x="77" y="689"/>
                </a:lnTo>
                <a:cubicBezTo>
                  <a:pt x="35" y="689"/>
                  <a:pt x="0" y="655"/>
                  <a:pt x="0" y="613"/>
                </a:cubicBezTo>
                <a:lnTo>
                  <a:pt x="0" y="77"/>
                </a:lnTo>
                <a:cubicBezTo>
                  <a:pt x="0" y="35"/>
                  <a:pt x="35" y="0"/>
                  <a:pt x="77" y="0"/>
                </a:cubicBezTo>
                <a:lnTo>
                  <a:pt x="612" y="0"/>
                </a:lnTo>
                <a:cubicBezTo>
                  <a:pt x="654" y="0"/>
                  <a:pt x="689" y="35"/>
                  <a:pt x="689" y="77"/>
                </a:cubicBezTo>
                <a:lnTo>
                  <a:pt x="689" y="61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70" name=""/>
          <p:cNvSpPr/>
          <p:nvPr/>
        </p:nvSpPr>
        <p:spPr>
          <a:xfrm>
            <a:off x="3849480" y="2700000"/>
            <a:ext cx="206640" cy="124200"/>
          </a:xfrm>
          <a:custGeom>
            <a:avLst/>
            <a:gdLst/>
            <a:ahLst/>
            <a:rect l="0" t="0" r="r" b="b"/>
            <a:pathLst>
              <a:path w="574" h="345">
                <a:moveTo>
                  <a:pt x="191" y="0"/>
                </a:moveTo>
                <a:lnTo>
                  <a:pt x="0" y="172"/>
                </a:lnTo>
                <a:lnTo>
                  <a:pt x="191" y="345"/>
                </a:lnTo>
                <a:lnTo>
                  <a:pt x="191" y="0"/>
                </a:lnTo>
                <a:moveTo>
                  <a:pt x="574" y="172"/>
                </a:moveTo>
                <a:lnTo>
                  <a:pt x="382" y="0"/>
                </a:lnTo>
                <a:lnTo>
                  <a:pt x="382" y="345"/>
                </a:lnTo>
                <a:lnTo>
                  <a:pt x="574" y="17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1" name=""/>
          <p:cNvSpPr/>
          <p:nvPr/>
        </p:nvSpPr>
        <p:spPr>
          <a:xfrm>
            <a:off x="3911400" y="2734560"/>
            <a:ext cx="82800" cy="55440"/>
          </a:xfrm>
          <a:custGeom>
            <a:avLst/>
            <a:gdLst/>
            <a:ahLst/>
            <a:rect l="0" t="0" r="r" b="b"/>
            <a:pathLst>
              <a:path w="230" h="154">
                <a:moveTo>
                  <a:pt x="0" y="0"/>
                </a:moveTo>
                <a:lnTo>
                  <a:pt x="230" y="0"/>
                </a:lnTo>
                <a:lnTo>
                  <a:pt x="230" y="154"/>
                </a:lnTo>
                <a:lnTo>
                  <a:pt x="0" y="1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2" name=""/>
          <p:cNvSpPr txBox="1"/>
          <p:nvPr/>
        </p:nvSpPr>
        <p:spPr>
          <a:xfrm>
            <a:off x="1836000" y="2613240"/>
            <a:ext cx="1789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Tier-1: ~0.6 ms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3" name=""/>
          <p:cNvSpPr txBox="1"/>
          <p:nvPr/>
        </p:nvSpPr>
        <p:spPr>
          <a:xfrm>
            <a:off x="4085640" y="2613240"/>
            <a:ext cx="3209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Tier-2 (LLM): 4–6 s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 tách bi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4" name=""/>
          <p:cNvSpPr txBox="1"/>
          <p:nvPr/>
        </p:nvSpPr>
        <p:spPr>
          <a:xfrm>
            <a:off x="759168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5" name=""/>
          <p:cNvSpPr txBox="1"/>
          <p:nvPr/>
        </p:nvSpPr>
        <p:spPr>
          <a:xfrm>
            <a:off x="7741440" y="26132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6" name=""/>
          <p:cNvSpPr txBox="1"/>
          <p:nvPr/>
        </p:nvSpPr>
        <p:spPr>
          <a:xfrm>
            <a:off x="7905240" y="2633400"/>
            <a:ext cx="4669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đượ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7" name=""/>
          <p:cNvSpPr txBox="1"/>
          <p:nvPr/>
        </p:nvSpPr>
        <p:spPr>
          <a:xfrm>
            <a:off x="8407080" y="2613240"/>
            <a:ext cx="367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ki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8" name=""/>
          <p:cNvSpPr txBox="1"/>
          <p:nvPr/>
        </p:nvSpPr>
        <p:spPr>
          <a:xfrm>
            <a:off x="881136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9" name=""/>
          <p:cNvSpPr txBox="1"/>
          <p:nvPr/>
        </p:nvSpPr>
        <p:spPr>
          <a:xfrm>
            <a:off x="8960760" y="261324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0" name=""/>
          <p:cNvSpPr txBox="1"/>
          <p:nvPr/>
        </p:nvSpPr>
        <p:spPr>
          <a:xfrm>
            <a:off x="923580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1" name=""/>
          <p:cNvSpPr txBox="1"/>
          <p:nvPr/>
        </p:nvSpPr>
        <p:spPr>
          <a:xfrm>
            <a:off x="9452520" y="2613240"/>
            <a:ext cx="1073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nh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Mann-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2" name=""/>
          <p:cNvSpPr txBox="1"/>
          <p:nvPr/>
        </p:nvSpPr>
        <p:spPr>
          <a:xfrm>
            <a:off x="1047600" y="2946600"/>
            <a:ext cx="2803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Whitney U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p = 2.8 × 10</a:t>
            </a:r>
            <a:r>
              <a:rPr b="0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⁻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¹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3" name=""/>
          <p:cNvSpPr txBox="1"/>
          <p:nvPr/>
        </p:nvSpPr>
        <p:spPr>
          <a:xfrm>
            <a:off x="4104000" y="2966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⁷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4" name=""/>
          <p:cNvSpPr/>
          <p:nvPr/>
        </p:nvSpPr>
        <p:spPr>
          <a:xfrm>
            <a:off x="819000" y="34765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4" y="192"/>
                  <a:pt x="203" y="203"/>
                </a:cubicBezTo>
                <a:cubicBezTo>
                  <a:pt x="192" y="214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85" name=""/>
          <p:cNvSpPr txBox="1"/>
          <p:nvPr/>
        </p:nvSpPr>
        <p:spPr>
          <a:xfrm>
            <a:off x="4218120" y="2946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6" name=""/>
          <p:cNvSpPr txBox="1"/>
          <p:nvPr/>
        </p:nvSpPr>
        <p:spPr>
          <a:xfrm>
            <a:off x="1047600" y="3355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7" name=""/>
          <p:cNvSpPr txBox="1"/>
          <p:nvPr/>
        </p:nvSpPr>
        <p:spPr>
          <a:xfrm>
            <a:off x="131832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8" name=""/>
          <p:cNvSpPr txBox="1"/>
          <p:nvPr/>
        </p:nvSpPr>
        <p:spPr>
          <a:xfrm>
            <a:off x="1468080" y="3355920"/>
            <a:ext cx="268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9" name=""/>
          <p:cNvSpPr txBox="1"/>
          <p:nvPr/>
        </p:nvSpPr>
        <p:spPr>
          <a:xfrm>
            <a:off x="1752840" y="337644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0" name=""/>
          <p:cNvSpPr txBox="1"/>
          <p:nvPr/>
        </p:nvSpPr>
        <p:spPr>
          <a:xfrm>
            <a:off x="2079360" y="3355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1" name=""/>
          <p:cNvSpPr txBox="1"/>
          <p:nvPr/>
        </p:nvSpPr>
        <p:spPr>
          <a:xfrm>
            <a:off x="236412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ễ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2" name=""/>
          <p:cNvSpPr txBox="1"/>
          <p:nvPr/>
        </p:nvSpPr>
        <p:spPr>
          <a:xfrm>
            <a:off x="2513880" y="3355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3" name=""/>
          <p:cNvSpPr txBox="1"/>
          <p:nvPr/>
        </p:nvSpPr>
        <p:spPr>
          <a:xfrm>
            <a:off x="2573640" y="3376440"/>
            <a:ext cx="2901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4" name=""/>
          <p:cNvSpPr txBox="1"/>
          <p:nvPr/>
        </p:nvSpPr>
        <p:spPr>
          <a:xfrm>
            <a:off x="2886480" y="3355920"/>
            <a:ext cx="492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u-cu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5" name=""/>
          <p:cNvSpPr txBox="1"/>
          <p:nvPr/>
        </p:nvSpPr>
        <p:spPr>
          <a:xfrm>
            <a:off x="343332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6" name=""/>
          <p:cNvSpPr txBox="1"/>
          <p:nvPr/>
        </p:nvSpPr>
        <p:spPr>
          <a:xfrm>
            <a:off x="3596400" y="3355920"/>
            <a:ext cx="2917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82.97%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: LLM-only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26.9 s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7" name=""/>
          <p:cNvSpPr txBox="1"/>
          <p:nvPr/>
        </p:nvSpPr>
        <p:spPr>
          <a:xfrm>
            <a:off x="6746040" y="337644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8" name=""/>
          <p:cNvSpPr txBox="1"/>
          <p:nvPr/>
        </p:nvSpPr>
        <p:spPr>
          <a:xfrm>
            <a:off x="7005600" y="3355920"/>
            <a:ext cx="1978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Two-Tier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4.6 s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9" name=""/>
          <p:cNvSpPr txBox="1"/>
          <p:nvPr/>
        </p:nvSpPr>
        <p:spPr>
          <a:xfrm>
            <a:off x="910224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0" name=""/>
          <p:cNvSpPr txBox="1"/>
          <p:nvPr/>
        </p:nvSpPr>
        <p:spPr>
          <a:xfrm>
            <a:off x="9252000" y="3355920"/>
            <a:ext cx="668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tiêu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1" name=""/>
          <p:cNvSpPr txBox="1"/>
          <p:nvPr/>
        </p:nvSpPr>
        <p:spPr>
          <a:xfrm>
            <a:off x="996984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2" name=""/>
          <p:cNvSpPr/>
          <p:nvPr/>
        </p:nvSpPr>
        <p:spPr>
          <a:xfrm>
            <a:off x="819000" y="38858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3" y="181"/>
                  <a:pt x="214" y="194"/>
                  <a:pt x="203" y="205"/>
                </a:cubicBezTo>
                <a:cubicBezTo>
                  <a:pt x="192" y="216"/>
                  <a:pt x="179" y="225"/>
                  <a:pt x="165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4" y="48"/>
                  <a:pt x="35" y="36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19" y="0"/>
                </a:cubicBezTo>
                <a:cubicBezTo>
                  <a:pt x="135" y="0"/>
                  <a:pt x="150" y="4"/>
                  <a:pt x="165" y="10"/>
                </a:cubicBezTo>
                <a:cubicBezTo>
                  <a:pt x="179" y="16"/>
                  <a:pt x="192" y="24"/>
                  <a:pt x="203" y="36"/>
                </a:cubicBezTo>
                <a:cubicBezTo>
                  <a:pt x="214" y="48"/>
                  <a:pt x="223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03" name=""/>
          <p:cNvSpPr txBox="1"/>
          <p:nvPr/>
        </p:nvSpPr>
        <p:spPr>
          <a:xfrm>
            <a:off x="10117800" y="3355920"/>
            <a:ext cx="6746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60%).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4" name=""/>
          <p:cNvSpPr txBox="1"/>
          <p:nvPr/>
        </p:nvSpPr>
        <p:spPr>
          <a:xfrm>
            <a:off x="1047600" y="3765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5" name=""/>
          <p:cNvSpPr txBox="1"/>
          <p:nvPr/>
        </p:nvSpPr>
        <p:spPr>
          <a:xfrm>
            <a:off x="131904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6" name=""/>
          <p:cNvSpPr txBox="1"/>
          <p:nvPr/>
        </p:nvSpPr>
        <p:spPr>
          <a:xfrm>
            <a:off x="1468440" y="3765600"/>
            <a:ext cx="10706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 soát 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7" name=""/>
          <p:cNvSpPr txBox="1"/>
          <p:nvPr/>
        </p:nvSpPr>
        <p:spPr>
          <a:xfrm>
            <a:off x="264276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8" name=""/>
          <p:cNvSpPr txBox="1"/>
          <p:nvPr/>
        </p:nvSpPr>
        <p:spPr>
          <a:xfrm>
            <a:off x="2834280" y="3765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9" name=""/>
          <p:cNvSpPr txBox="1"/>
          <p:nvPr/>
        </p:nvSpPr>
        <p:spPr>
          <a:xfrm>
            <a:off x="302616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0" name=""/>
          <p:cNvSpPr txBox="1"/>
          <p:nvPr/>
        </p:nvSpPr>
        <p:spPr>
          <a:xfrm>
            <a:off x="3175560" y="3765600"/>
            <a:ext cx="3817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nén Drain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bão hoà ~80 token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1" name=""/>
          <p:cNvSpPr txBox="1"/>
          <p:nvPr/>
        </p:nvSpPr>
        <p:spPr>
          <a:xfrm>
            <a:off x="733968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2" name=""/>
          <p:cNvSpPr txBox="1"/>
          <p:nvPr/>
        </p:nvSpPr>
        <p:spPr>
          <a:xfrm>
            <a:off x="7489080" y="3765600"/>
            <a:ext cx="277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k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3" name=""/>
          <p:cNvSpPr txBox="1"/>
          <p:nvPr/>
        </p:nvSpPr>
        <p:spPr>
          <a:xfrm>
            <a:off x="779472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4" name=""/>
          <p:cNvSpPr txBox="1"/>
          <p:nvPr/>
        </p:nvSpPr>
        <p:spPr>
          <a:xfrm>
            <a:off x="7944480" y="3765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s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5" name=""/>
          <p:cNvSpPr txBox="1"/>
          <p:nvPr/>
        </p:nvSpPr>
        <p:spPr>
          <a:xfrm>
            <a:off x="812340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6" name=""/>
          <p:cNvSpPr txBox="1"/>
          <p:nvPr/>
        </p:nvSpPr>
        <p:spPr>
          <a:xfrm>
            <a:off x="8273160" y="3765600"/>
            <a:ext cx="1293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log (RAW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7" name=""/>
          <p:cNvSpPr txBox="1"/>
          <p:nvPr/>
        </p:nvSpPr>
        <p:spPr>
          <a:xfrm>
            <a:off x="9646200" y="3785760"/>
            <a:ext cx="329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8" name=""/>
          <p:cNvSpPr txBox="1"/>
          <p:nvPr/>
        </p:nvSpPr>
        <p:spPr>
          <a:xfrm>
            <a:off x="9997920" y="3765600"/>
            <a:ext cx="270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9" name=""/>
          <p:cNvSpPr txBox="1"/>
          <p:nvPr/>
        </p:nvSpPr>
        <p:spPr>
          <a:xfrm>
            <a:off x="1028952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0" name=""/>
          <p:cNvSpPr txBox="1"/>
          <p:nvPr/>
        </p:nvSpPr>
        <p:spPr>
          <a:xfrm>
            <a:off x="10467360" y="3765600"/>
            <a:ext cx="294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 s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1" name=""/>
          <p:cNvSpPr txBox="1"/>
          <p:nvPr/>
        </p:nvSpPr>
        <p:spPr>
          <a:xfrm>
            <a:off x="1078380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2" name=""/>
          <p:cNvSpPr txBox="1"/>
          <p:nvPr/>
        </p:nvSpPr>
        <p:spPr>
          <a:xfrm>
            <a:off x="1047600" y="4098960"/>
            <a:ext cx="729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8192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3" name=""/>
          <p:cNvSpPr txBox="1"/>
          <p:nvPr/>
        </p:nvSpPr>
        <p:spPr>
          <a:xfrm>
            <a:off x="183384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4" name=""/>
          <p:cNvSpPr txBox="1"/>
          <p:nvPr/>
        </p:nvSpPr>
        <p:spPr>
          <a:xfrm>
            <a:off x="1983600" y="4098960"/>
            <a:ext cx="313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5" name=""/>
          <p:cNvSpPr txBox="1"/>
          <p:nvPr/>
        </p:nvSpPr>
        <p:spPr>
          <a:xfrm>
            <a:off x="231768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≈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6" name=""/>
          <p:cNvSpPr txBox="1"/>
          <p:nvPr/>
        </p:nvSpPr>
        <p:spPr>
          <a:xfrm>
            <a:off x="2465640" y="4098960"/>
            <a:ext cx="556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100).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7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8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9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0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1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2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3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4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5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6" name=""/>
          <p:cNvSpPr txBox="1"/>
          <p:nvPr/>
        </p:nvSpPr>
        <p:spPr>
          <a:xfrm>
            <a:off x="914400" y="4680000"/>
            <a:ext cx="916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Tier-1 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7" name=""/>
          <p:cNvSpPr txBox="1"/>
          <p:nvPr/>
        </p:nvSpPr>
        <p:spPr>
          <a:xfrm>
            <a:off x="192780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8" name=""/>
          <p:cNvSpPr txBox="1"/>
          <p:nvPr/>
        </p:nvSpPr>
        <p:spPr>
          <a:xfrm>
            <a:off x="2077560" y="4680000"/>
            <a:ext cx="529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quy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9" name=""/>
          <p:cNvSpPr txBox="1"/>
          <p:nvPr/>
        </p:nvSpPr>
        <p:spPr>
          <a:xfrm>
            <a:off x="265140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0" name=""/>
          <p:cNvSpPr txBox="1"/>
          <p:nvPr/>
        </p:nvSpPr>
        <p:spPr>
          <a:xfrm>
            <a:off x="2800800" y="4680000"/>
            <a:ext cx="910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~91%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1" name=""/>
          <p:cNvSpPr txBox="1"/>
          <p:nvPr/>
        </p:nvSpPr>
        <p:spPr>
          <a:xfrm>
            <a:off x="378108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2" name=""/>
          <p:cNvSpPr txBox="1"/>
          <p:nvPr/>
        </p:nvSpPr>
        <p:spPr>
          <a:xfrm>
            <a:off x="3958920" y="4680000"/>
            <a:ext cx="261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3" name=""/>
          <p:cNvSpPr txBox="1"/>
          <p:nvPr/>
        </p:nvSpPr>
        <p:spPr>
          <a:xfrm>
            <a:off x="4243320" y="4700160"/>
            <a:ext cx="329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4" name=""/>
          <p:cNvSpPr txBox="1"/>
          <p:nvPr/>
        </p:nvSpPr>
        <p:spPr>
          <a:xfrm>
            <a:off x="4595400" y="4680000"/>
            <a:ext cx="331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5" name=""/>
          <p:cNvSpPr txBox="1"/>
          <p:nvPr/>
        </p:nvSpPr>
        <p:spPr>
          <a:xfrm>
            <a:off x="4943160" y="4659840"/>
            <a:ext cx="247320" cy="37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NotoSansMath"/>
                <a:ea typeface="NotoSansMath"/>
              </a:rPr>
              <a:t>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6" name=""/>
          <p:cNvSpPr txBox="1"/>
          <p:nvPr/>
        </p:nvSpPr>
        <p:spPr>
          <a:xfrm>
            <a:off x="5156640" y="4680000"/>
            <a:ext cx="319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7" name=""/>
          <p:cNvSpPr txBox="1"/>
          <p:nvPr/>
        </p:nvSpPr>
        <p:spPr>
          <a:xfrm>
            <a:off x="549360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ỉ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8" name=""/>
          <p:cNvSpPr txBox="1"/>
          <p:nvPr/>
        </p:nvSpPr>
        <p:spPr>
          <a:xfrm>
            <a:off x="5560560" y="4680000"/>
            <a:ext cx="895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~9%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ph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9" name=""/>
          <p:cNvSpPr txBox="1"/>
          <p:nvPr/>
        </p:nvSpPr>
        <p:spPr>
          <a:xfrm>
            <a:off x="650376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0" name=""/>
          <p:cNvSpPr txBox="1"/>
          <p:nvPr/>
        </p:nvSpPr>
        <p:spPr>
          <a:xfrm>
            <a:off x="6653520" y="4680000"/>
            <a:ext cx="252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1" name=""/>
          <p:cNvSpPr txBox="1"/>
          <p:nvPr/>
        </p:nvSpPr>
        <p:spPr>
          <a:xfrm>
            <a:off x="692676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2" name=""/>
          <p:cNvSpPr txBox="1"/>
          <p:nvPr/>
        </p:nvSpPr>
        <p:spPr>
          <a:xfrm>
            <a:off x="7076520" y="4680000"/>
            <a:ext cx="668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LLM.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3" name=""/>
          <p:cNvSpPr txBox="1"/>
          <p:nvPr/>
        </p:nvSpPr>
        <p:spPr>
          <a:xfrm>
            <a:off x="666720" y="46944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4" name=""/>
          <p:cNvSpPr txBox="1"/>
          <p:nvPr/>
        </p:nvSpPr>
        <p:spPr>
          <a:xfrm rot="10800000">
            <a:off x="11280240" y="46998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5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6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7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8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9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0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13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4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5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6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7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8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9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0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1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2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3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4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5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6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7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8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9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0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1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2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3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4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5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6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7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8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9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0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1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2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3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4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5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6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7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8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9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0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1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2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3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4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5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6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7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8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9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0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1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2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3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4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5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6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7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8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9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0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1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2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3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4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5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6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7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8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9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0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1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2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3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4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5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6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7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8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9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0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1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2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3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4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5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6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7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8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9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0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1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2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3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4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5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6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7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8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9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0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1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2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3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4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5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6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7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8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9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0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1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2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3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4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5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6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7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8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9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0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1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2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3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4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5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6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7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8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9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0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1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2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3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4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5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6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7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8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9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0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1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2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3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4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5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6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7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8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9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0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1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2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3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4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5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6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7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8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9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0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1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2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3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4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5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6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7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8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9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0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1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2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3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4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5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6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7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8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9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0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1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2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3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4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5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6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7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8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9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0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1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2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3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4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5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6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7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8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9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0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1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2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3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4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5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6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7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8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9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0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1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2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3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4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5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6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7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8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9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0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1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2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3" name=""/>
          <p:cNvSpPr txBox="1"/>
          <p:nvPr/>
        </p:nvSpPr>
        <p:spPr>
          <a:xfrm>
            <a:off x="3830400" y="204300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K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4" name=""/>
          <p:cNvSpPr txBox="1"/>
          <p:nvPr/>
        </p:nvSpPr>
        <p:spPr>
          <a:xfrm>
            <a:off x="4107600" y="207360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ế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5" name=""/>
          <p:cNvSpPr txBox="1"/>
          <p:nvPr/>
        </p:nvSpPr>
        <p:spPr>
          <a:xfrm>
            <a:off x="4326120" y="2043000"/>
            <a:ext cx="6498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t qu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6" name=""/>
          <p:cNvSpPr txBox="1"/>
          <p:nvPr/>
        </p:nvSpPr>
        <p:spPr>
          <a:xfrm>
            <a:off x="5024880" y="207360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ả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7" name=""/>
          <p:cNvSpPr txBox="1"/>
          <p:nvPr/>
        </p:nvSpPr>
        <p:spPr>
          <a:xfrm>
            <a:off x="5243400" y="2043000"/>
            <a:ext cx="7826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2 — 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8" name=""/>
          <p:cNvSpPr txBox="1"/>
          <p:nvPr/>
        </p:nvSpPr>
        <p:spPr>
          <a:xfrm>
            <a:off x="6053400" y="2073600"/>
            <a:ext cx="49608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Độ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9" name=""/>
          <p:cNvSpPr/>
          <p:nvPr/>
        </p:nvSpPr>
        <p:spPr>
          <a:xfrm>
            <a:off x="819000" y="2904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3" y="181"/>
                  <a:pt x="214" y="193"/>
                  <a:pt x="203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0" name=""/>
          <p:cNvSpPr txBox="1"/>
          <p:nvPr/>
        </p:nvSpPr>
        <p:spPr>
          <a:xfrm>
            <a:off x="6572520" y="2043000"/>
            <a:ext cx="16452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chính xác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1" name=""/>
          <p:cNvSpPr txBox="1"/>
          <p:nvPr/>
        </p:nvSpPr>
        <p:spPr>
          <a:xfrm>
            <a:off x="1047600" y="2784600"/>
            <a:ext cx="825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Phân lo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2" name=""/>
          <p:cNvSpPr txBox="1"/>
          <p:nvPr/>
        </p:nvSpPr>
        <p:spPr>
          <a:xfrm>
            <a:off x="1971720" y="2804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3" name=""/>
          <p:cNvSpPr/>
          <p:nvPr/>
        </p:nvSpPr>
        <p:spPr>
          <a:xfrm>
            <a:off x="819000" y="33145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4" y="192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4" name=""/>
          <p:cNvSpPr txBox="1"/>
          <p:nvPr/>
        </p:nvSpPr>
        <p:spPr>
          <a:xfrm>
            <a:off x="2121480" y="2784600"/>
            <a:ext cx="6838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(Unified Stream):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F1 =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0.594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· Precision =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0.939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· Recall =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1.0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5" name=""/>
          <p:cNvSpPr txBox="1"/>
          <p:nvPr/>
        </p:nvSpPr>
        <p:spPr>
          <a:xfrm>
            <a:off x="1047600" y="3193920"/>
            <a:ext cx="535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APT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6" name=""/>
          <p:cNvSpPr txBox="1"/>
          <p:nvPr/>
        </p:nvSpPr>
        <p:spPr>
          <a:xfrm>
            <a:off x="1631880" y="3214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7" name=""/>
          <p:cNvSpPr txBox="1"/>
          <p:nvPr/>
        </p:nvSpPr>
        <p:spPr>
          <a:xfrm>
            <a:off x="1795320" y="3193920"/>
            <a:ext cx="1657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a-ngày: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3/3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chi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8" name=""/>
          <p:cNvSpPr txBox="1"/>
          <p:nvPr/>
        </p:nvSpPr>
        <p:spPr>
          <a:xfrm>
            <a:off x="3604680" y="3214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9" name=""/>
          <p:cNvSpPr txBox="1"/>
          <p:nvPr/>
        </p:nvSpPr>
        <p:spPr>
          <a:xfrm>
            <a:off x="3754440" y="3193920"/>
            <a:ext cx="340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d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0" name=""/>
          <p:cNvSpPr txBox="1"/>
          <p:nvPr/>
        </p:nvSpPr>
        <p:spPr>
          <a:xfrm>
            <a:off x="4114080" y="3214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1" name=""/>
          <p:cNvSpPr/>
          <p:nvPr/>
        </p:nvSpPr>
        <p:spPr>
          <a:xfrm>
            <a:off x="819000" y="3724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79" y="16"/>
                  <a:pt x="192" y="24"/>
                  <a:pt x="203" y="36"/>
                </a:cubicBezTo>
                <a:cubicBezTo>
                  <a:pt x="214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02" name=""/>
          <p:cNvSpPr txBox="1"/>
          <p:nvPr/>
        </p:nvSpPr>
        <p:spPr>
          <a:xfrm>
            <a:off x="4181040" y="3193920"/>
            <a:ext cx="3192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ch · recall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1.0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· specificity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1.0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3" name=""/>
          <p:cNvSpPr txBox="1"/>
          <p:nvPr/>
        </p:nvSpPr>
        <p:spPr>
          <a:xfrm>
            <a:off x="1047600" y="3603600"/>
            <a:ext cx="2243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Zero-day: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Welford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4" name=""/>
          <p:cNvSpPr txBox="1"/>
          <p:nvPr/>
        </p:nvSpPr>
        <p:spPr>
          <a:xfrm>
            <a:off x="3507480" y="3624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5" name=""/>
          <p:cNvSpPr txBox="1"/>
          <p:nvPr/>
        </p:nvSpPr>
        <p:spPr>
          <a:xfrm>
            <a:off x="3656880" y="3603600"/>
            <a:ext cx="1027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7/7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ngo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6" name=""/>
          <p:cNvSpPr txBox="1"/>
          <p:nvPr/>
        </p:nvSpPr>
        <p:spPr>
          <a:xfrm>
            <a:off x="4740480" y="3624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7" name=""/>
          <p:cNvSpPr txBox="1"/>
          <p:nvPr/>
        </p:nvSpPr>
        <p:spPr>
          <a:xfrm>
            <a:off x="4890240" y="3603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8" name=""/>
          <p:cNvSpPr txBox="1"/>
          <p:nvPr/>
        </p:nvSpPr>
        <p:spPr>
          <a:xfrm>
            <a:off x="5100480" y="3624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9" name=""/>
          <p:cNvSpPr txBox="1"/>
          <p:nvPr/>
        </p:nvSpPr>
        <p:spPr>
          <a:xfrm>
            <a:off x="5249880" y="3603600"/>
            <a:ext cx="2902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signature-less mà engine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0" name=""/>
          <p:cNvSpPr txBox="1"/>
          <p:nvPr/>
        </p:nvSpPr>
        <p:spPr>
          <a:xfrm>
            <a:off x="8423280" y="3624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1" name=""/>
          <p:cNvSpPr txBox="1"/>
          <p:nvPr/>
        </p:nvSpPr>
        <p:spPr>
          <a:xfrm>
            <a:off x="8503920" y="3603600"/>
            <a:ext cx="4806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nh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2" name=""/>
          <p:cNvSpPr txBox="1"/>
          <p:nvPr/>
        </p:nvSpPr>
        <p:spPr>
          <a:xfrm>
            <a:off x="9018360" y="3624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3" name=""/>
          <p:cNvSpPr txBox="1"/>
          <p:nvPr/>
        </p:nvSpPr>
        <p:spPr>
          <a:xfrm>
            <a:off x="9181440" y="3603600"/>
            <a:ext cx="461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sót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4" name=""/>
          <p:cNvSpPr txBox="1"/>
          <p:nvPr/>
        </p:nvSpPr>
        <p:spPr>
          <a:xfrm>
            <a:off x="841320" y="4241160"/>
            <a:ext cx="1409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40" spc="-1" strike="noStrike">
                <a:solidFill>
                  <a:srgbClr val="555555"/>
                </a:solidFill>
                <a:latin typeface="Lato"/>
                <a:ea typeface="Lato"/>
              </a:rPr>
              <a:t>Ghi chú trung th</a:t>
            </a:r>
            <a:endParaRPr b="0" lang="en-US" sz="1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5" name=""/>
          <p:cNvSpPr txBox="1"/>
          <p:nvPr/>
        </p:nvSpPr>
        <p:spPr>
          <a:xfrm>
            <a:off x="2324160" y="425664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ự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6" name=""/>
          <p:cNvSpPr txBox="1"/>
          <p:nvPr/>
        </p:nvSpPr>
        <p:spPr>
          <a:xfrm>
            <a:off x="2503800" y="4241160"/>
            <a:ext cx="1900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40" spc="-1" strike="noStrike">
                <a:solidFill>
                  <a:srgbClr val="555555"/>
                </a:solidFill>
                <a:latin typeface="Lato"/>
                <a:ea typeface="Lato"/>
              </a:rPr>
              <a:t>c:</a:t>
            </a:r>
            <a:endParaRPr b="0" lang="en-US" sz="1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7" name=""/>
          <p:cNvSpPr txBox="1"/>
          <p:nvPr/>
        </p:nvSpPr>
        <p:spPr>
          <a:xfrm>
            <a:off x="2617560" y="4241160"/>
            <a:ext cx="19422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 </a:t>
            </a:r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Precision cao (0.94) nh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8" name=""/>
          <p:cNvSpPr txBox="1"/>
          <p:nvPr/>
        </p:nvSpPr>
        <p:spPr>
          <a:xfrm>
            <a:off x="4813920" y="425664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ư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9" name=""/>
          <p:cNvSpPr txBox="1"/>
          <p:nvPr/>
        </p:nvSpPr>
        <p:spPr>
          <a:xfrm>
            <a:off x="4953600" y="4241160"/>
            <a:ext cx="13158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ng Recall/F1 ph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0" name=""/>
          <p:cNvSpPr txBox="1"/>
          <p:nvPr/>
        </p:nvSpPr>
        <p:spPr>
          <a:xfrm>
            <a:off x="6414840" y="425664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ả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1" name=""/>
          <p:cNvSpPr txBox="1"/>
          <p:nvPr/>
        </p:nvSpPr>
        <p:spPr>
          <a:xfrm>
            <a:off x="6532560" y="4241160"/>
            <a:ext cx="6544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n ánh vi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2" name=""/>
          <p:cNvSpPr txBox="1"/>
          <p:nvPr/>
        </p:nvSpPr>
        <p:spPr>
          <a:xfrm>
            <a:off x="7262280" y="425664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ệ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3" name=""/>
          <p:cNvSpPr txBox="1"/>
          <p:nvPr/>
        </p:nvSpPr>
        <p:spPr>
          <a:xfrm>
            <a:off x="7380000" y="4241160"/>
            <a:ext cx="6973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c Tier-1 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4" name=""/>
          <p:cNvSpPr txBox="1"/>
          <p:nvPr/>
        </p:nvSpPr>
        <p:spPr>
          <a:xfrm>
            <a:off x="8164080" y="425664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ư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5" name=""/>
          <p:cNvSpPr txBox="1"/>
          <p:nvPr/>
        </p:nvSpPr>
        <p:spPr>
          <a:xfrm>
            <a:off x="8303400" y="4241160"/>
            <a:ext cx="14270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u-tiên-precision (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6" name=""/>
          <p:cNvSpPr txBox="1"/>
          <p:nvPr/>
        </p:nvSpPr>
        <p:spPr>
          <a:xfrm>
            <a:off x="9938160" y="425664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đ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7" name=""/>
          <p:cNvSpPr txBox="1"/>
          <p:nvPr/>
        </p:nvSpPr>
        <p:spPr>
          <a:xfrm>
            <a:off x="10055880" y="4241160"/>
            <a:ext cx="3556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ánh 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8" name=""/>
          <p:cNvSpPr txBox="1"/>
          <p:nvPr/>
        </p:nvSpPr>
        <p:spPr>
          <a:xfrm>
            <a:off x="10448640" y="4256640"/>
            <a:ext cx="21240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đổ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9" name=""/>
          <p:cNvSpPr txBox="1"/>
          <p:nvPr/>
        </p:nvSpPr>
        <p:spPr>
          <a:xfrm>
            <a:off x="10684440" y="4241160"/>
            <a:ext cx="5403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i có ch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0" name=""/>
          <p:cNvSpPr txBox="1"/>
          <p:nvPr/>
        </p:nvSpPr>
        <p:spPr>
          <a:xfrm>
            <a:off x="11279880" y="425664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ủ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1" name=""/>
          <p:cNvSpPr txBox="1"/>
          <p:nvPr/>
        </p:nvSpPr>
        <p:spPr>
          <a:xfrm>
            <a:off x="139788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đ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2" name=""/>
          <p:cNvSpPr txBox="1"/>
          <p:nvPr/>
        </p:nvSpPr>
        <p:spPr>
          <a:xfrm>
            <a:off x="1515600" y="4574520"/>
            <a:ext cx="8175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ích); giá tr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3" name=""/>
          <p:cNvSpPr txBox="1"/>
          <p:nvPr/>
        </p:nvSpPr>
        <p:spPr>
          <a:xfrm>
            <a:off x="247140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ị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4" name=""/>
          <p:cNvSpPr txBox="1"/>
          <p:nvPr/>
        </p:nvSpPr>
        <p:spPr>
          <a:xfrm>
            <a:off x="2525760" y="4574520"/>
            <a:ext cx="1911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 </a:t>
            </a:r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ki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5" name=""/>
          <p:cNvSpPr txBox="1"/>
          <p:nvPr/>
        </p:nvSpPr>
        <p:spPr>
          <a:xfrm>
            <a:off x="274680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ế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6" name=""/>
          <p:cNvSpPr txBox="1"/>
          <p:nvPr/>
        </p:nvSpPr>
        <p:spPr>
          <a:xfrm>
            <a:off x="2864520" y="4574520"/>
            <a:ext cx="6454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n trúc n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7" name=""/>
          <p:cNvSpPr txBox="1"/>
          <p:nvPr/>
        </p:nvSpPr>
        <p:spPr>
          <a:xfrm>
            <a:off x="358776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ằ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8" name=""/>
          <p:cNvSpPr txBox="1"/>
          <p:nvPr/>
        </p:nvSpPr>
        <p:spPr>
          <a:xfrm>
            <a:off x="3705840" y="4574520"/>
            <a:ext cx="2048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m 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9" name=""/>
          <p:cNvSpPr txBox="1"/>
          <p:nvPr/>
        </p:nvSpPr>
        <p:spPr>
          <a:xfrm>
            <a:off x="392256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ở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0" name=""/>
          <p:cNvSpPr txBox="1"/>
          <p:nvPr/>
        </p:nvSpPr>
        <p:spPr>
          <a:xfrm>
            <a:off x="4059360" y="4574520"/>
            <a:ext cx="5353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 </a:t>
            </a:r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suy lu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1" name=""/>
          <p:cNvSpPr txBox="1"/>
          <p:nvPr/>
        </p:nvSpPr>
        <p:spPr>
          <a:xfrm>
            <a:off x="465732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ậ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2" name=""/>
          <p:cNvSpPr txBox="1"/>
          <p:nvPr/>
        </p:nvSpPr>
        <p:spPr>
          <a:xfrm>
            <a:off x="4775040" y="4574520"/>
            <a:ext cx="6087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n có ng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3" name=""/>
          <p:cNvSpPr txBox="1"/>
          <p:nvPr/>
        </p:nvSpPr>
        <p:spPr>
          <a:xfrm>
            <a:off x="543600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ữ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4" name=""/>
          <p:cNvSpPr txBox="1"/>
          <p:nvPr/>
        </p:nvSpPr>
        <p:spPr>
          <a:xfrm>
            <a:off x="5575320" y="4574520"/>
            <a:ext cx="1900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 </a:t>
            </a:r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c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5" name=""/>
          <p:cNvSpPr txBox="1"/>
          <p:nvPr/>
        </p:nvSpPr>
        <p:spPr>
          <a:xfrm>
            <a:off x="572508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ả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6" name=""/>
          <p:cNvSpPr txBox="1"/>
          <p:nvPr/>
        </p:nvSpPr>
        <p:spPr>
          <a:xfrm>
            <a:off x="5842800" y="4574520"/>
            <a:ext cx="25732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nh + APT + zero-day, không ch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7" name=""/>
          <p:cNvSpPr txBox="1"/>
          <p:nvPr/>
        </p:nvSpPr>
        <p:spPr>
          <a:xfrm>
            <a:off x="867168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ỉ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8" name=""/>
          <p:cNvSpPr txBox="1"/>
          <p:nvPr/>
        </p:nvSpPr>
        <p:spPr>
          <a:xfrm>
            <a:off x="8726040" y="4574520"/>
            <a:ext cx="1900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 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9" name=""/>
          <p:cNvSpPr txBox="1"/>
          <p:nvPr/>
        </p:nvSpPr>
        <p:spPr>
          <a:xfrm>
            <a:off x="877464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ở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0" name=""/>
          <p:cNvSpPr txBox="1"/>
          <p:nvPr/>
        </p:nvSpPr>
        <p:spPr>
          <a:xfrm>
            <a:off x="8911440" y="4574520"/>
            <a:ext cx="6649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 </a:t>
            </a:r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phân lo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1" name=""/>
          <p:cNvSpPr txBox="1"/>
          <p:nvPr/>
        </p:nvSpPr>
        <p:spPr>
          <a:xfrm>
            <a:off x="964836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ạ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2" name=""/>
          <p:cNvSpPr txBox="1"/>
          <p:nvPr/>
        </p:nvSpPr>
        <p:spPr>
          <a:xfrm>
            <a:off x="9766440" y="4574520"/>
            <a:ext cx="30708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i nh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3" name=""/>
          <p:cNvSpPr txBox="1"/>
          <p:nvPr/>
        </p:nvSpPr>
        <p:spPr>
          <a:xfrm>
            <a:off x="10111320" y="459000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ị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4" name=""/>
          <p:cNvSpPr txBox="1"/>
          <p:nvPr/>
        </p:nvSpPr>
        <p:spPr>
          <a:xfrm>
            <a:off x="10165680" y="4574520"/>
            <a:ext cx="5889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 </a:t>
            </a:r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phân.*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5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6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7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8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9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0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1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2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3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4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5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6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7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8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9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14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3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4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5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6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7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8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9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0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1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2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3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4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5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6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7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8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9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0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1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2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3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4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5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6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7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8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9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0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1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2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3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4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5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6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7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8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9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0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1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2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3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4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5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6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7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8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9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0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1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2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3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4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5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6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7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8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9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0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1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2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3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4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5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6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7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8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9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0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1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2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3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4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5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6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7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8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9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0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1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2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3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4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5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6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7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8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9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0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1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2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3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4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5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6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7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8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9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0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1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2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3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4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5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6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7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8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9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0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1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2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3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4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5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6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7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8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9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0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1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2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3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4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5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6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7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8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9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0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1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2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3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4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5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6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7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8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9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0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1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2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3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4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5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6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7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8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9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0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1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2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3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4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5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6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7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8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9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0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1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2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3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4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5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6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7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8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9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0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1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2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3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4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5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6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7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8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9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0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1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2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3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4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5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6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7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8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9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0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1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2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3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4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5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6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7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8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9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0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1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2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3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4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5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6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7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8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9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0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1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2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3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4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5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6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7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8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9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0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1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2" name=""/>
          <p:cNvSpPr txBox="1"/>
          <p:nvPr/>
        </p:nvSpPr>
        <p:spPr>
          <a:xfrm>
            <a:off x="2732760" y="188136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K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3" name=""/>
          <p:cNvSpPr txBox="1"/>
          <p:nvPr/>
        </p:nvSpPr>
        <p:spPr>
          <a:xfrm>
            <a:off x="3009960" y="191160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ế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4" name=""/>
          <p:cNvSpPr txBox="1"/>
          <p:nvPr/>
        </p:nvSpPr>
        <p:spPr>
          <a:xfrm>
            <a:off x="3228480" y="1881360"/>
            <a:ext cx="6498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t qu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5" name=""/>
          <p:cNvSpPr txBox="1"/>
          <p:nvPr/>
        </p:nvSpPr>
        <p:spPr>
          <a:xfrm>
            <a:off x="3927240" y="191160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ả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6" name=""/>
          <p:cNvSpPr txBox="1"/>
          <p:nvPr/>
        </p:nvSpPr>
        <p:spPr>
          <a:xfrm>
            <a:off x="4145760" y="1881360"/>
            <a:ext cx="1028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3 — B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7" name=""/>
          <p:cNvSpPr txBox="1"/>
          <p:nvPr/>
        </p:nvSpPr>
        <p:spPr>
          <a:xfrm>
            <a:off x="5211360" y="191160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ả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8" name=""/>
          <p:cNvSpPr txBox="1"/>
          <p:nvPr/>
        </p:nvSpPr>
        <p:spPr>
          <a:xfrm>
            <a:off x="5429880" y="1881360"/>
            <a:ext cx="6148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o m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9" name=""/>
          <p:cNvSpPr txBox="1"/>
          <p:nvPr/>
        </p:nvSpPr>
        <p:spPr>
          <a:xfrm>
            <a:off x="6072480" y="191160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ậ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0" name=""/>
          <p:cNvSpPr txBox="1"/>
          <p:nvPr/>
        </p:nvSpPr>
        <p:spPr>
          <a:xfrm>
            <a:off x="6291000" y="1881360"/>
            <a:ext cx="17060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t &amp; Tính gi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1" name=""/>
          <p:cNvSpPr txBox="1"/>
          <p:nvPr/>
        </p:nvSpPr>
        <p:spPr>
          <a:xfrm>
            <a:off x="8113680" y="191160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ả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2" name=""/>
          <p:cNvSpPr/>
          <p:nvPr/>
        </p:nvSpPr>
        <p:spPr>
          <a:xfrm>
            <a:off x="819000" y="2733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03" name=""/>
          <p:cNvSpPr txBox="1"/>
          <p:nvPr/>
        </p:nvSpPr>
        <p:spPr>
          <a:xfrm>
            <a:off x="8332200" y="1881360"/>
            <a:ext cx="10155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i thích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4" name=""/>
          <p:cNvSpPr txBox="1"/>
          <p:nvPr/>
        </p:nvSpPr>
        <p:spPr>
          <a:xfrm>
            <a:off x="1047600" y="2613240"/>
            <a:ext cx="767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Kháng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5" name=""/>
          <p:cNvSpPr txBox="1"/>
          <p:nvPr/>
        </p:nvSpPr>
        <p:spPr>
          <a:xfrm>
            <a:off x="1893960" y="263340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6" name=""/>
          <p:cNvSpPr txBox="1"/>
          <p:nvPr/>
        </p:nvSpPr>
        <p:spPr>
          <a:xfrm>
            <a:off x="2220480" y="2613240"/>
            <a:ext cx="6352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kháng (full-pipeline, LLM + Consensus Guard):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100%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(0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7" name=""/>
          <p:cNvSpPr txBox="1"/>
          <p:nvPr/>
        </p:nvSpPr>
        <p:spPr>
          <a:xfrm>
            <a:off x="926676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8" name=""/>
          <p:cNvSpPr txBox="1"/>
          <p:nvPr/>
        </p:nvSpPr>
        <p:spPr>
          <a:xfrm>
            <a:off x="9333720" y="2613240"/>
            <a:ext cx="378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9" name=""/>
          <p:cNvSpPr txBox="1"/>
          <p:nvPr/>
        </p:nvSpPr>
        <p:spPr>
          <a:xfrm>
            <a:off x="974592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0" name=""/>
          <p:cNvSpPr txBox="1"/>
          <p:nvPr/>
        </p:nvSpPr>
        <p:spPr>
          <a:xfrm>
            <a:off x="9895680" y="2613240"/>
            <a:ext cx="672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 quy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1" name=""/>
          <p:cNvSpPr txBox="1"/>
          <p:nvPr/>
        </p:nvSpPr>
        <p:spPr>
          <a:xfrm>
            <a:off x="1060920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2" name=""/>
          <p:cNvSpPr/>
          <p:nvPr/>
        </p:nvSpPr>
        <p:spPr>
          <a:xfrm>
            <a:off x="819000" y="3143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4" y="192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13" name=""/>
          <p:cNvSpPr txBox="1"/>
          <p:nvPr/>
        </p:nvSpPr>
        <p:spPr>
          <a:xfrm>
            <a:off x="10758960" y="2613240"/>
            <a:ext cx="262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4" name=""/>
          <p:cNvSpPr txBox="1"/>
          <p:nvPr/>
        </p:nvSpPr>
        <p:spPr>
          <a:xfrm>
            <a:off x="1047600" y="3022560"/>
            <a:ext cx="749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Rào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5" name=""/>
          <p:cNvSpPr txBox="1"/>
          <p:nvPr/>
        </p:nvSpPr>
        <p:spPr>
          <a:xfrm>
            <a:off x="1872720" y="3043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6" name=""/>
          <p:cNvSpPr txBox="1"/>
          <p:nvPr/>
        </p:nvSpPr>
        <p:spPr>
          <a:xfrm>
            <a:off x="2022480" y="3022560"/>
            <a:ext cx="2934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7" name=""/>
          <p:cNvSpPr txBox="1"/>
          <p:nvPr/>
        </p:nvSpPr>
        <p:spPr>
          <a:xfrm>
            <a:off x="2348640" y="3043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8" name=""/>
          <p:cNvSpPr txBox="1"/>
          <p:nvPr/>
        </p:nvSpPr>
        <p:spPr>
          <a:xfrm>
            <a:off x="2429280" y="3022560"/>
            <a:ext cx="3207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 (120 payload OWASP):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9" name=""/>
          <p:cNvSpPr txBox="1"/>
          <p:nvPr/>
        </p:nvSpPr>
        <p:spPr>
          <a:xfrm>
            <a:off x="5939280" y="3043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ặ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0" name=""/>
          <p:cNvSpPr txBox="1"/>
          <p:nvPr/>
        </p:nvSpPr>
        <p:spPr>
          <a:xfrm>
            <a:off x="6089040" y="3022560"/>
            <a:ext cx="3672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100% encoding-bypass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; ~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50%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1" name=""/>
          <p:cNvSpPr txBox="1"/>
          <p:nvPr/>
        </p:nvSpPr>
        <p:spPr>
          <a:xfrm>
            <a:off x="10088640" y="3043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2" name=""/>
          <p:cNvSpPr txBox="1"/>
          <p:nvPr/>
        </p:nvSpPr>
        <p:spPr>
          <a:xfrm>
            <a:off x="10238400" y="3022560"/>
            <a:ext cx="558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3" name=""/>
          <p:cNvSpPr txBox="1"/>
          <p:nvPr/>
        </p:nvSpPr>
        <p:spPr>
          <a:xfrm>
            <a:off x="10839960" y="3043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4" name=""/>
          <p:cNvSpPr txBox="1"/>
          <p:nvPr/>
        </p:nvSpPr>
        <p:spPr>
          <a:xfrm>
            <a:off x="10989720" y="3022560"/>
            <a:ext cx="261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5" name=""/>
          <p:cNvSpPr txBox="1"/>
          <p:nvPr/>
        </p:nvSpPr>
        <p:spPr>
          <a:xfrm>
            <a:off x="1047600" y="3355920"/>
            <a:ext cx="277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6" name=""/>
          <p:cNvSpPr txBox="1"/>
          <p:nvPr/>
        </p:nvSpPr>
        <p:spPr>
          <a:xfrm>
            <a:off x="134604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7" name=""/>
          <p:cNvSpPr txBox="1"/>
          <p:nvPr/>
        </p:nvSpPr>
        <p:spPr>
          <a:xfrm>
            <a:off x="1495440" y="3355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8" name=""/>
          <p:cNvSpPr txBox="1"/>
          <p:nvPr/>
        </p:nvSpPr>
        <p:spPr>
          <a:xfrm>
            <a:off x="1766160" y="3355920"/>
            <a:ext cx="2750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ng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9" name=""/>
          <p:cNvSpPr txBox="1"/>
          <p:nvPr/>
        </p:nvSpPr>
        <p:spPr>
          <a:xfrm>
            <a:off x="199296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0" name=""/>
          <p:cNvSpPr txBox="1"/>
          <p:nvPr/>
        </p:nvSpPr>
        <p:spPr>
          <a:xfrm>
            <a:off x="2223000" y="3355920"/>
            <a:ext cx="4809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ngh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1" name=""/>
          <p:cNvSpPr txBox="1"/>
          <p:nvPr/>
        </p:nvSpPr>
        <p:spPr>
          <a:xfrm>
            <a:off x="265932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2" name=""/>
          <p:cNvSpPr txBox="1"/>
          <p:nvPr/>
        </p:nvSpPr>
        <p:spPr>
          <a:xfrm>
            <a:off x="2787120" y="335592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a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3" name=""/>
          <p:cNvSpPr txBox="1"/>
          <p:nvPr/>
        </p:nvSpPr>
        <p:spPr>
          <a:xfrm>
            <a:off x="2863800" y="3355920"/>
            <a:ext cx="583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còn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4" name=""/>
          <p:cNvSpPr txBox="1"/>
          <p:nvPr/>
        </p:nvSpPr>
        <p:spPr>
          <a:xfrm>
            <a:off x="348516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5" name=""/>
          <p:cNvSpPr txBox="1"/>
          <p:nvPr/>
        </p:nvSpPr>
        <p:spPr>
          <a:xfrm>
            <a:off x="3634920" y="3355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6" name=""/>
          <p:cNvSpPr txBox="1"/>
          <p:nvPr/>
        </p:nvSpPr>
        <p:spPr>
          <a:xfrm>
            <a:off x="3769920" y="3376440"/>
            <a:ext cx="4669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đượ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7" name=""/>
          <p:cNvSpPr txBox="1"/>
          <p:nvPr/>
        </p:nvSpPr>
        <p:spPr>
          <a:xfrm>
            <a:off x="4271400" y="3355920"/>
            <a:ext cx="689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lá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8" name=""/>
          <p:cNvSpPr txBox="1"/>
          <p:nvPr/>
        </p:nvSpPr>
        <p:spPr>
          <a:xfrm>
            <a:off x="503424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9" name=""/>
          <p:cNvSpPr txBox="1"/>
          <p:nvPr/>
        </p:nvSpPr>
        <p:spPr>
          <a:xfrm>
            <a:off x="5184000" y="3355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0" name=""/>
          <p:cNvSpPr txBox="1"/>
          <p:nvPr/>
        </p:nvSpPr>
        <p:spPr>
          <a:xfrm>
            <a:off x="5399280" y="337644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đồ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1" name=""/>
          <p:cNvSpPr txBox="1"/>
          <p:nvPr/>
        </p:nvSpPr>
        <p:spPr>
          <a:xfrm>
            <a:off x="5725440" y="3355920"/>
            <a:ext cx="704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thu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2" name=""/>
          <p:cNvSpPr txBox="1"/>
          <p:nvPr/>
        </p:nvSpPr>
        <p:spPr>
          <a:xfrm>
            <a:off x="650412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3" name=""/>
          <p:cNvSpPr txBox="1"/>
          <p:nvPr/>
        </p:nvSpPr>
        <p:spPr>
          <a:xfrm>
            <a:off x="6653880" y="33559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4" name=""/>
          <p:cNvSpPr txBox="1"/>
          <p:nvPr/>
        </p:nvSpPr>
        <p:spPr>
          <a:xfrm>
            <a:off x="6869160" y="337644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5" name=""/>
          <p:cNvSpPr txBox="1"/>
          <p:nvPr/>
        </p:nvSpPr>
        <p:spPr>
          <a:xfrm>
            <a:off x="7168320" y="3355920"/>
            <a:ext cx="319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y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6" name=""/>
          <p:cNvSpPr txBox="1"/>
          <p:nvPr/>
        </p:nvSpPr>
        <p:spPr>
          <a:xfrm>
            <a:off x="750564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7" name=""/>
          <p:cNvSpPr/>
          <p:nvPr/>
        </p:nvSpPr>
        <p:spPr>
          <a:xfrm>
            <a:off x="819000" y="38858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3" y="181"/>
                  <a:pt x="214" y="194"/>
                  <a:pt x="203" y="205"/>
                </a:cubicBezTo>
                <a:cubicBezTo>
                  <a:pt x="192" y="216"/>
                  <a:pt x="179" y="225"/>
                  <a:pt x="165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4" y="48"/>
                  <a:pt x="35" y="36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19" y="0"/>
                </a:cubicBezTo>
                <a:cubicBezTo>
                  <a:pt x="135" y="0"/>
                  <a:pt x="150" y="4"/>
                  <a:pt x="165" y="10"/>
                </a:cubicBezTo>
                <a:cubicBezTo>
                  <a:pt x="179" y="16"/>
                  <a:pt x="192" y="24"/>
                  <a:pt x="203" y="36"/>
                </a:cubicBezTo>
                <a:cubicBezTo>
                  <a:pt x="214" y="48"/>
                  <a:pt x="223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48" name=""/>
          <p:cNvSpPr txBox="1"/>
          <p:nvPr/>
        </p:nvSpPr>
        <p:spPr>
          <a:xfrm>
            <a:off x="7655040" y="3355920"/>
            <a:ext cx="654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HITL.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9" name=""/>
          <p:cNvSpPr txBox="1"/>
          <p:nvPr/>
        </p:nvSpPr>
        <p:spPr>
          <a:xfrm>
            <a:off x="1047600" y="3765600"/>
            <a:ext cx="2256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LLM-as-Judge liên-h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0" name=""/>
          <p:cNvSpPr txBox="1"/>
          <p:nvPr/>
        </p:nvSpPr>
        <p:spPr>
          <a:xfrm>
            <a:off x="354996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1" name=""/>
          <p:cNvSpPr txBox="1"/>
          <p:nvPr/>
        </p:nvSpPr>
        <p:spPr>
          <a:xfrm>
            <a:off x="3713040" y="3765600"/>
            <a:ext cx="1323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(Llama-3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2" name=""/>
          <p:cNvSpPr txBox="1"/>
          <p:nvPr/>
        </p:nvSpPr>
        <p:spPr>
          <a:xfrm>
            <a:off x="515376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3" name=""/>
          <p:cNvSpPr txBox="1"/>
          <p:nvPr/>
        </p:nvSpPr>
        <p:spPr>
          <a:xfrm>
            <a:off x="5303520" y="3765600"/>
            <a:ext cx="1629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 Gemma-2):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4" name=""/>
          <p:cNvSpPr txBox="1"/>
          <p:nvPr/>
        </p:nvSpPr>
        <p:spPr>
          <a:xfrm>
            <a:off x="705960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5" name=""/>
          <p:cNvSpPr txBox="1"/>
          <p:nvPr/>
        </p:nvSpPr>
        <p:spPr>
          <a:xfrm>
            <a:off x="7209360" y="3765600"/>
            <a:ext cx="3620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3.91/5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;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Faithfulness 4.00/5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(k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6" name=""/>
          <p:cNvSpPr txBox="1"/>
          <p:nvPr/>
        </p:nvSpPr>
        <p:spPr>
          <a:xfrm>
            <a:off x="1117332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7" name=""/>
          <p:cNvSpPr txBox="1"/>
          <p:nvPr/>
        </p:nvSpPr>
        <p:spPr>
          <a:xfrm>
            <a:off x="11323080" y="3765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8" name=""/>
          <p:cNvSpPr txBox="1"/>
          <p:nvPr/>
        </p:nvSpPr>
        <p:spPr>
          <a:xfrm>
            <a:off x="1047600" y="40989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9" name=""/>
          <p:cNvSpPr txBox="1"/>
          <p:nvPr/>
        </p:nvSpPr>
        <p:spPr>
          <a:xfrm>
            <a:off x="127260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0" name=""/>
          <p:cNvSpPr txBox="1"/>
          <p:nvPr/>
        </p:nvSpPr>
        <p:spPr>
          <a:xfrm>
            <a:off x="1422360" y="4098960"/>
            <a:ext cx="9896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bám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1" name=""/>
          <p:cNvSpPr txBox="1"/>
          <p:nvPr/>
        </p:nvSpPr>
        <p:spPr>
          <a:xfrm>
            <a:off x="247140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2" name=""/>
          <p:cNvSpPr txBox="1"/>
          <p:nvPr/>
        </p:nvSpPr>
        <p:spPr>
          <a:xfrm>
            <a:off x="2649240" y="4098960"/>
            <a:ext cx="450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3" name=""/>
          <p:cNvSpPr txBox="1"/>
          <p:nvPr/>
        </p:nvSpPr>
        <p:spPr>
          <a:xfrm>
            <a:off x="3124440" y="41191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4" name=""/>
          <p:cNvSpPr txBox="1"/>
          <p:nvPr/>
        </p:nvSpPr>
        <p:spPr>
          <a:xfrm>
            <a:off x="3302280" y="4098960"/>
            <a:ext cx="6926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RAG).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5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6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7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8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9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0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1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2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3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4" name=""/>
          <p:cNvSpPr txBox="1"/>
          <p:nvPr/>
        </p:nvSpPr>
        <p:spPr>
          <a:xfrm>
            <a:off x="914400" y="4680000"/>
            <a:ext cx="988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Phòng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5" name=""/>
          <p:cNvSpPr txBox="1"/>
          <p:nvPr/>
        </p:nvSpPr>
        <p:spPr>
          <a:xfrm>
            <a:off x="197856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6" name=""/>
          <p:cNvSpPr txBox="1"/>
          <p:nvPr/>
        </p:nvSpPr>
        <p:spPr>
          <a:xfrm>
            <a:off x="2127960" y="4680000"/>
            <a:ext cx="384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7" name=""/>
          <p:cNvSpPr txBox="1"/>
          <p:nvPr/>
        </p:nvSpPr>
        <p:spPr>
          <a:xfrm>
            <a:off x="255816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8" name=""/>
          <p:cNvSpPr txBox="1"/>
          <p:nvPr/>
        </p:nvSpPr>
        <p:spPr>
          <a:xfrm>
            <a:off x="2707920" y="4680000"/>
            <a:ext cx="1709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 sâu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, không ph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9" name=""/>
          <p:cNvSpPr txBox="1"/>
          <p:nvPr/>
        </p:nvSpPr>
        <p:spPr>
          <a:xfrm>
            <a:off x="455580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0" name=""/>
          <p:cNvSpPr txBox="1"/>
          <p:nvPr/>
        </p:nvSpPr>
        <p:spPr>
          <a:xfrm>
            <a:off x="4705560" y="4680000"/>
            <a:ext cx="326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1" name=""/>
          <p:cNvSpPr txBox="1"/>
          <p:nvPr/>
        </p:nvSpPr>
        <p:spPr>
          <a:xfrm>
            <a:off x="505584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2" name=""/>
          <p:cNvSpPr txBox="1"/>
          <p:nvPr/>
        </p:nvSpPr>
        <p:spPr>
          <a:xfrm>
            <a:off x="5205240" y="4680000"/>
            <a:ext cx="351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bi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3" name=""/>
          <p:cNvSpPr txBox="1"/>
          <p:nvPr/>
        </p:nvSpPr>
        <p:spPr>
          <a:xfrm>
            <a:off x="559512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4" name=""/>
          <p:cNvSpPr txBox="1"/>
          <p:nvPr/>
        </p:nvSpPr>
        <p:spPr>
          <a:xfrm>
            <a:off x="5744520" y="4680000"/>
            <a:ext cx="429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5" name=""/>
          <p:cNvSpPr txBox="1"/>
          <p:nvPr/>
        </p:nvSpPr>
        <p:spPr>
          <a:xfrm>
            <a:off x="620784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6" name=""/>
          <p:cNvSpPr txBox="1"/>
          <p:nvPr/>
        </p:nvSpPr>
        <p:spPr>
          <a:xfrm>
            <a:off x="6385680" y="4680000"/>
            <a:ext cx="851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regex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7" name=""/>
          <p:cNvSpPr txBox="1"/>
          <p:nvPr/>
        </p:nvSpPr>
        <p:spPr>
          <a:xfrm>
            <a:off x="7295400" y="4700160"/>
            <a:ext cx="300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8" name=""/>
          <p:cNvSpPr txBox="1"/>
          <p:nvPr/>
        </p:nvSpPr>
        <p:spPr>
          <a:xfrm>
            <a:off x="7619400" y="4680000"/>
            <a:ext cx="261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9" name=""/>
          <p:cNvSpPr txBox="1"/>
          <p:nvPr/>
        </p:nvSpPr>
        <p:spPr>
          <a:xfrm>
            <a:off x="790380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ẻ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0" name=""/>
          <p:cNvSpPr txBox="1"/>
          <p:nvPr/>
        </p:nvSpPr>
        <p:spPr>
          <a:xfrm>
            <a:off x="8053560" y="46800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1" name=""/>
          <p:cNvSpPr txBox="1"/>
          <p:nvPr/>
        </p:nvSpPr>
        <p:spPr>
          <a:xfrm>
            <a:off x="666720" y="46944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2" name=""/>
          <p:cNvSpPr txBox="1"/>
          <p:nvPr/>
        </p:nvSpPr>
        <p:spPr>
          <a:xfrm rot="10800000">
            <a:off x="11280240" y="46998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3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4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5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6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7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8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15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2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3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4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5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6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7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8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9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0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1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2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3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4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5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6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7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8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9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0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1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2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3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4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5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6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7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8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9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0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1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2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3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4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5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6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7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8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9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0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1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2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3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4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5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6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7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8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9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0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1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2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3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4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5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6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7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8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9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0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1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2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3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4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5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6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7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8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9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0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1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2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3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4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5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6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7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8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9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0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1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2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3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4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5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6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7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8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9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0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1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2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3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4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5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6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7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8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9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0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1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2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3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4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5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6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7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8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9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0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1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2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3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4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5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6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7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8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9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0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1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2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3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4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5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6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7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8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9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0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1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2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3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4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5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6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7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8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9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0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1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2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3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4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5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6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7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8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9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0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1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2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3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4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5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6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7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8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9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0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1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2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3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4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5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6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7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8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9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0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1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2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3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4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5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6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7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8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9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0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1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2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3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4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5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6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7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8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9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0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1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2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3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4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5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6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7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8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9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0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1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2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3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4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5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6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7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8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9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0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1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2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3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4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5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6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7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8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9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0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1" name=""/>
          <p:cNvSpPr/>
          <p:nvPr/>
        </p:nvSpPr>
        <p:spPr>
          <a:xfrm>
            <a:off x="2533320" y="2057040"/>
            <a:ext cx="3858120" cy="381600"/>
          </a:xfrm>
          <a:custGeom>
            <a:avLst/>
            <a:gdLst/>
            <a:ahLst/>
            <a:rect l="0" t="0" r="r" b="b"/>
            <a:pathLst>
              <a:path w="10717" h="1060">
                <a:moveTo>
                  <a:pt x="0" y="0"/>
                </a:moveTo>
                <a:lnTo>
                  <a:pt x="10717" y="0"/>
                </a:lnTo>
                <a:lnTo>
                  <a:pt x="1071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2" name=""/>
          <p:cNvSpPr/>
          <p:nvPr/>
        </p:nvSpPr>
        <p:spPr>
          <a:xfrm>
            <a:off x="6391080" y="2057040"/>
            <a:ext cx="572040" cy="381600"/>
          </a:xfrm>
          <a:custGeom>
            <a:avLst/>
            <a:gdLst/>
            <a:ahLst/>
            <a:rect l="0" t="0" r="r" b="b"/>
            <a:pathLst>
              <a:path w="1589" h="1060">
                <a:moveTo>
                  <a:pt x="0" y="0"/>
                </a:moveTo>
                <a:lnTo>
                  <a:pt x="1589" y="0"/>
                </a:lnTo>
                <a:lnTo>
                  <a:pt x="158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3" name=""/>
          <p:cNvSpPr/>
          <p:nvPr/>
        </p:nvSpPr>
        <p:spPr>
          <a:xfrm>
            <a:off x="6962760" y="2057040"/>
            <a:ext cx="1886040" cy="381600"/>
          </a:xfrm>
          <a:custGeom>
            <a:avLst/>
            <a:gdLst/>
            <a:ahLst/>
            <a:rect l="0" t="0" r="r" b="b"/>
            <a:pathLst>
              <a:path w="5239" h="1060">
                <a:moveTo>
                  <a:pt x="0" y="0"/>
                </a:moveTo>
                <a:lnTo>
                  <a:pt x="5239" y="0"/>
                </a:lnTo>
                <a:lnTo>
                  <a:pt x="523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4" name=""/>
          <p:cNvSpPr/>
          <p:nvPr/>
        </p:nvSpPr>
        <p:spPr>
          <a:xfrm>
            <a:off x="8848440" y="2057040"/>
            <a:ext cx="810000" cy="381600"/>
          </a:xfrm>
          <a:custGeom>
            <a:avLst/>
            <a:gdLst/>
            <a:ahLst/>
            <a:rect l="0" t="0" r="r" b="b"/>
            <a:pathLst>
              <a:path w="2250" h="1060">
                <a:moveTo>
                  <a:pt x="0" y="0"/>
                </a:moveTo>
                <a:lnTo>
                  <a:pt x="2250" y="0"/>
                </a:lnTo>
                <a:lnTo>
                  <a:pt x="225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5" name=""/>
          <p:cNvSpPr/>
          <p:nvPr/>
        </p:nvSpPr>
        <p:spPr>
          <a:xfrm>
            <a:off x="2533320" y="2438280"/>
            <a:ext cx="3858120" cy="371880"/>
          </a:xfrm>
          <a:custGeom>
            <a:avLst/>
            <a:gdLst/>
            <a:ahLst/>
            <a:rect l="0" t="0" r="r" b="b"/>
            <a:pathLst>
              <a:path w="10717" h="1033">
                <a:moveTo>
                  <a:pt x="0" y="0"/>
                </a:moveTo>
                <a:lnTo>
                  <a:pt x="10717" y="0"/>
                </a:lnTo>
                <a:lnTo>
                  <a:pt x="1071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6" name=""/>
          <p:cNvSpPr/>
          <p:nvPr/>
        </p:nvSpPr>
        <p:spPr>
          <a:xfrm>
            <a:off x="6391080" y="2438280"/>
            <a:ext cx="572040" cy="371880"/>
          </a:xfrm>
          <a:custGeom>
            <a:avLst/>
            <a:gdLst/>
            <a:ahLst/>
            <a:rect l="0" t="0" r="r" b="b"/>
            <a:pathLst>
              <a:path w="1589" h="1033">
                <a:moveTo>
                  <a:pt x="0" y="0"/>
                </a:moveTo>
                <a:lnTo>
                  <a:pt x="1589" y="0"/>
                </a:lnTo>
                <a:lnTo>
                  <a:pt x="158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7" name=""/>
          <p:cNvSpPr/>
          <p:nvPr/>
        </p:nvSpPr>
        <p:spPr>
          <a:xfrm>
            <a:off x="6962760" y="2438280"/>
            <a:ext cx="1886040" cy="371880"/>
          </a:xfrm>
          <a:custGeom>
            <a:avLst/>
            <a:gdLst/>
            <a:ahLst/>
            <a:rect l="0" t="0" r="r" b="b"/>
            <a:pathLst>
              <a:path w="5239" h="1033">
                <a:moveTo>
                  <a:pt x="0" y="0"/>
                </a:moveTo>
                <a:lnTo>
                  <a:pt x="5239" y="0"/>
                </a:lnTo>
                <a:lnTo>
                  <a:pt x="523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8" name=""/>
          <p:cNvSpPr/>
          <p:nvPr/>
        </p:nvSpPr>
        <p:spPr>
          <a:xfrm>
            <a:off x="8848440" y="2438280"/>
            <a:ext cx="810000" cy="371880"/>
          </a:xfrm>
          <a:custGeom>
            <a:avLst/>
            <a:gdLst/>
            <a:ahLst/>
            <a:rect l="0" t="0" r="r" b="b"/>
            <a:pathLst>
              <a:path w="2250" h="1033">
                <a:moveTo>
                  <a:pt x="0" y="0"/>
                </a:moveTo>
                <a:lnTo>
                  <a:pt x="2250" y="0"/>
                </a:lnTo>
                <a:lnTo>
                  <a:pt x="225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9" name=""/>
          <p:cNvSpPr/>
          <p:nvPr/>
        </p:nvSpPr>
        <p:spPr>
          <a:xfrm>
            <a:off x="2533320" y="3190680"/>
            <a:ext cx="3858120" cy="371880"/>
          </a:xfrm>
          <a:custGeom>
            <a:avLst/>
            <a:gdLst/>
            <a:ahLst/>
            <a:rect l="0" t="0" r="r" b="b"/>
            <a:pathLst>
              <a:path w="10717" h="1033">
                <a:moveTo>
                  <a:pt x="0" y="0"/>
                </a:moveTo>
                <a:lnTo>
                  <a:pt x="10717" y="0"/>
                </a:lnTo>
                <a:lnTo>
                  <a:pt x="1071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0" name=""/>
          <p:cNvSpPr/>
          <p:nvPr/>
        </p:nvSpPr>
        <p:spPr>
          <a:xfrm>
            <a:off x="6391080" y="3190680"/>
            <a:ext cx="572040" cy="371880"/>
          </a:xfrm>
          <a:custGeom>
            <a:avLst/>
            <a:gdLst/>
            <a:ahLst/>
            <a:rect l="0" t="0" r="r" b="b"/>
            <a:pathLst>
              <a:path w="1589" h="1033">
                <a:moveTo>
                  <a:pt x="0" y="0"/>
                </a:moveTo>
                <a:lnTo>
                  <a:pt x="1589" y="0"/>
                </a:lnTo>
                <a:lnTo>
                  <a:pt x="158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1" name=""/>
          <p:cNvSpPr/>
          <p:nvPr/>
        </p:nvSpPr>
        <p:spPr>
          <a:xfrm>
            <a:off x="6962760" y="3190680"/>
            <a:ext cx="1886040" cy="371880"/>
          </a:xfrm>
          <a:custGeom>
            <a:avLst/>
            <a:gdLst/>
            <a:ahLst/>
            <a:rect l="0" t="0" r="r" b="b"/>
            <a:pathLst>
              <a:path w="5239" h="1033">
                <a:moveTo>
                  <a:pt x="0" y="0"/>
                </a:moveTo>
                <a:lnTo>
                  <a:pt x="5239" y="0"/>
                </a:lnTo>
                <a:lnTo>
                  <a:pt x="523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2" name=""/>
          <p:cNvSpPr/>
          <p:nvPr/>
        </p:nvSpPr>
        <p:spPr>
          <a:xfrm>
            <a:off x="8848440" y="3190680"/>
            <a:ext cx="810000" cy="371880"/>
          </a:xfrm>
          <a:custGeom>
            <a:avLst/>
            <a:gdLst/>
            <a:ahLst/>
            <a:rect l="0" t="0" r="r" b="b"/>
            <a:pathLst>
              <a:path w="2250" h="1033">
                <a:moveTo>
                  <a:pt x="0" y="0"/>
                </a:moveTo>
                <a:lnTo>
                  <a:pt x="2250" y="0"/>
                </a:lnTo>
                <a:lnTo>
                  <a:pt x="225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3" name=""/>
          <p:cNvSpPr/>
          <p:nvPr/>
        </p:nvSpPr>
        <p:spPr>
          <a:xfrm>
            <a:off x="2523960" y="20570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4" name=""/>
          <p:cNvSpPr/>
          <p:nvPr/>
        </p:nvSpPr>
        <p:spPr>
          <a:xfrm>
            <a:off x="2523960" y="2057040"/>
            <a:ext cx="3867480" cy="10080"/>
          </a:xfrm>
          <a:custGeom>
            <a:avLst/>
            <a:gdLst/>
            <a:ahLst/>
            <a:rect l="0" t="0" r="r" b="b"/>
            <a:pathLst>
              <a:path w="10743" h="28">
                <a:moveTo>
                  <a:pt x="0" y="0"/>
                </a:moveTo>
                <a:lnTo>
                  <a:pt x="10743" y="0"/>
                </a:lnTo>
                <a:lnTo>
                  <a:pt x="10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5" name=""/>
          <p:cNvSpPr/>
          <p:nvPr/>
        </p:nvSpPr>
        <p:spPr>
          <a:xfrm>
            <a:off x="6381720" y="20570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6" name=""/>
          <p:cNvSpPr/>
          <p:nvPr/>
        </p:nvSpPr>
        <p:spPr>
          <a:xfrm>
            <a:off x="6391080" y="2057040"/>
            <a:ext cx="581400" cy="10080"/>
          </a:xfrm>
          <a:custGeom>
            <a:avLst/>
            <a:gdLst/>
            <a:ahLst/>
            <a:rect l="0" t="0" r="r" b="b"/>
            <a:pathLst>
              <a:path w="1615" h="28">
                <a:moveTo>
                  <a:pt x="0" y="0"/>
                </a:moveTo>
                <a:lnTo>
                  <a:pt x="1615" y="0"/>
                </a:lnTo>
                <a:lnTo>
                  <a:pt x="16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7" name=""/>
          <p:cNvSpPr/>
          <p:nvPr/>
        </p:nvSpPr>
        <p:spPr>
          <a:xfrm>
            <a:off x="6962760" y="20570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8" name=""/>
          <p:cNvSpPr/>
          <p:nvPr/>
        </p:nvSpPr>
        <p:spPr>
          <a:xfrm>
            <a:off x="6972120" y="2057040"/>
            <a:ext cx="1886400" cy="10080"/>
          </a:xfrm>
          <a:custGeom>
            <a:avLst/>
            <a:gdLst/>
            <a:ahLst/>
            <a:rect l="0" t="0" r="r" b="b"/>
            <a:pathLst>
              <a:path w="5240" h="28">
                <a:moveTo>
                  <a:pt x="0" y="0"/>
                </a:moveTo>
                <a:lnTo>
                  <a:pt x="5240" y="0"/>
                </a:lnTo>
                <a:lnTo>
                  <a:pt x="52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9" name=""/>
          <p:cNvSpPr/>
          <p:nvPr/>
        </p:nvSpPr>
        <p:spPr>
          <a:xfrm>
            <a:off x="8848440" y="2057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0" name=""/>
          <p:cNvSpPr/>
          <p:nvPr/>
        </p:nvSpPr>
        <p:spPr>
          <a:xfrm>
            <a:off x="8858160" y="205704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1" name=""/>
          <p:cNvSpPr/>
          <p:nvPr/>
        </p:nvSpPr>
        <p:spPr>
          <a:xfrm>
            <a:off x="9658080" y="2057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2" name=""/>
          <p:cNvSpPr/>
          <p:nvPr/>
        </p:nvSpPr>
        <p:spPr>
          <a:xfrm>
            <a:off x="2523960" y="2428560"/>
            <a:ext cx="3867480" cy="10440"/>
          </a:xfrm>
          <a:custGeom>
            <a:avLst/>
            <a:gdLst/>
            <a:ahLst/>
            <a:rect l="0" t="0" r="r" b="b"/>
            <a:pathLst>
              <a:path w="10743" h="29">
                <a:moveTo>
                  <a:pt x="0" y="0"/>
                </a:moveTo>
                <a:lnTo>
                  <a:pt x="10743" y="0"/>
                </a:lnTo>
                <a:lnTo>
                  <a:pt x="1074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3" name=""/>
          <p:cNvSpPr/>
          <p:nvPr/>
        </p:nvSpPr>
        <p:spPr>
          <a:xfrm>
            <a:off x="6391080" y="2428560"/>
            <a:ext cx="581400" cy="10440"/>
          </a:xfrm>
          <a:custGeom>
            <a:avLst/>
            <a:gdLst/>
            <a:ahLst/>
            <a:rect l="0" t="0" r="r" b="b"/>
            <a:pathLst>
              <a:path w="1615" h="29">
                <a:moveTo>
                  <a:pt x="0" y="0"/>
                </a:moveTo>
                <a:lnTo>
                  <a:pt x="1615" y="0"/>
                </a:lnTo>
                <a:lnTo>
                  <a:pt x="161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4" name=""/>
          <p:cNvSpPr/>
          <p:nvPr/>
        </p:nvSpPr>
        <p:spPr>
          <a:xfrm>
            <a:off x="6972120" y="2428560"/>
            <a:ext cx="1886400" cy="10440"/>
          </a:xfrm>
          <a:custGeom>
            <a:avLst/>
            <a:gdLst/>
            <a:ahLst/>
            <a:rect l="0" t="0" r="r" b="b"/>
            <a:pathLst>
              <a:path w="5240" h="29">
                <a:moveTo>
                  <a:pt x="0" y="0"/>
                </a:moveTo>
                <a:lnTo>
                  <a:pt x="5240" y="0"/>
                </a:lnTo>
                <a:lnTo>
                  <a:pt x="524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5" name=""/>
          <p:cNvSpPr/>
          <p:nvPr/>
        </p:nvSpPr>
        <p:spPr>
          <a:xfrm>
            <a:off x="8858160" y="2428560"/>
            <a:ext cx="810000" cy="10440"/>
          </a:xfrm>
          <a:custGeom>
            <a:avLst/>
            <a:gdLst/>
            <a:ahLst/>
            <a:rect l="0" t="0" r="r" b="b"/>
            <a:pathLst>
              <a:path w="2250" h="29">
                <a:moveTo>
                  <a:pt x="0" y="0"/>
                </a:moveTo>
                <a:lnTo>
                  <a:pt x="2250" y="0"/>
                </a:lnTo>
                <a:lnTo>
                  <a:pt x="225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6" name=""/>
          <p:cNvSpPr/>
          <p:nvPr/>
        </p:nvSpPr>
        <p:spPr>
          <a:xfrm>
            <a:off x="2523960" y="24382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7" name=""/>
          <p:cNvSpPr/>
          <p:nvPr/>
        </p:nvSpPr>
        <p:spPr>
          <a:xfrm>
            <a:off x="6381720" y="24382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8" name=""/>
          <p:cNvSpPr/>
          <p:nvPr/>
        </p:nvSpPr>
        <p:spPr>
          <a:xfrm>
            <a:off x="6962760" y="24382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9" name=""/>
          <p:cNvSpPr/>
          <p:nvPr/>
        </p:nvSpPr>
        <p:spPr>
          <a:xfrm>
            <a:off x="8848440" y="2438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0" name=""/>
          <p:cNvSpPr/>
          <p:nvPr/>
        </p:nvSpPr>
        <p:spPr>
          <a:xfrm>
            <a:off x="9658080" y="2438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1" name=""/>
          <p:cNvSpPr/>
          <p:nvPr/>
        </p:nvSpPr>
        <p:spPr>
          <a:xfrm>
            <a:off x="2523960" y="2819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2" name=""/>
          <p:cNvSpPr/>
          <p:nvPr/>
        </p:nvSpPr>
        <p:spPr>
          <a:xfrm>
            <a:off x="2523960" y="2809800"/>
            <a:ext cx="3867480" cy="9720"/>
          </a:xfrm>
          <a:custGeom>
            <a:avLst/>
            <a:gdLst/>
            <a:ahLst/>
            <a:rect l="0" t="0" r="r" b="b"/>
            <a:pathLst>
              <a:path w="10743" h="27">
                <a:moveTo>
                  <a:pt x="0" y="0"/>
                </a:moveTo>
                <a:lnTo>
                  <a:pt x="10743" y="0"/>
                </a:lnTo>
                <a:lnTo>
                  <a:pt x="107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3" name=""/>
          <p:cNvSpPr/>
          <p:nvPr/>
        </p:nvSpPr>
        <p:spPr>
          <a:xfrm>
            <a:off x="6381720" y="2819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4" name=""/>
          <p:cNvSpPr/>
          <p:nvPr/>
        </p:nvSpPr>
        <p:spPr>
          <a:xfrm>
            <a:off x="6391080" y="2809800"/>
            <a:ext cx="581400" cy="9720"/>
          </a:xfrm>
          <a:custGeom>
            <a:avLst/>
            <a:gdLst/>
            <a:ahLst/>
            <a:rect l="0" t="0" r="r" b="b"/>
            <a:pathLst>
              <a:path w="1615" h="27">
                <a:moveTo>
                  <a:pt x="0" y="0"/>
                </a:moveTo>
                <a:lnTo>
                  <a:pt x="1615" y="0"/>
                </a:lnTo>
                <a:lnTo>
                  <a:pt x="16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5" name=""/>
          <p:cNvSpPr/>
          <p:nvPr/>
        </p:nvSpPr>
        <p:spPr>
          <a:xfrm>
            <a:off x="6962760" y="2819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6" name=""/>
          <p:cNvSpPr/>
          <p:nvPr/>
        </p:nvSpPr>
        <p:spPr>
          <a:xfrm>
            <a:off x="6972120" y="2809800"/>
            <a:ext cx="1886400" cy="9720"/>
          </a:xfrm>
          <a:custGeom>
            <a:avLst/>
            <a:gdLst/>
            <a:ahLst/>
            <a:rect l="0" t="0" r="r" b="b"/>
            <a:pathLst>
              <a:path w="5240" h="27">
                <a:moveTo>
                  <a:pt x="0" y="0"/>
                </a:moveTo>
                <a:lnTo>
                  <a:pt x="5240" y="0"/>
                </a:lnTo>
                <a:lnTo>
                  <a:pt x="52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7" name=""/>
          <p:cNvSpPr/>
          <p:nvPr/>
        </p:nvSpPr>
        <p:spPr>
          <a:xfrm>
            <a:off x="8848440" y="2819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8" name=""/>
          <p:cNvSpPr/>
          <p:nvPr/>
        </p:nvSpPr>
        <p:spPr>
          <a:xfrm>
            <a:off x="8858160" y="280980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9" name=""/>
          <p:cNvSpPr/>
          <p:nvPr/>
        </p:nvSpPr>
        <p:spPr>
          <a:xfrm>
            <a:off x="9658080" y="2819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0" name=""/>
          <p:cNvSpPr/>
          <p:nvPr/>
        </p:nvSpPr>
        <p:spPr>
          <a:xfrm>
            <a:off x="2523960" y="31906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1" name=""/>
          <p:cNvSpPr/>
          <p:nvPr/>
        </p:nvSpPr>
        <p:spPr>
          <a:xfrm>
            <a:off x="2523960" y="3181320"/>
            <a:ext cx="3867480" cy="9720"/>
          </a:xfrm>
          <a:custGeom>
            <a:avLst/>
            <a:gdLst/>
            <a:ahLst/>
            <a:rect l="0" t="0" r="r" b="b"/>
            <a:pathLst>
              <a:path w="10743" h="27">
                <a:moveTo>
                  <a:pt x="0" y="0"/>
                </a:moveTo>
                <a:lnTo>
                  <a:pt x="10743" y="0"/>
                </a:lnTo>
                <a:lnTo>
                  <a:pt x="107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2" name=""/>
          <p:cNvSpPr/>
          <p:nvPr/>
        </p:nvSpPr>
        <p:spPr>
          <a:xfrm>
            <a:off x="6381720" y="31906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3" name=""/>
          <p:cNvSpPr/>
          <p:nvPr/>
        </p:nvSpPr>
        <p:spPr>
          <a:xfrm>
            <a:off x="6391080" y="3181320"/>
            <a:ext cx="581400" cy="9720"/>
          </a:xfrm>
          <a:custGeom>
            <a:avLst/>
            <a:gdLst/>
            <a:ahLst/>
            <a:rect l="0" t="0" r="r" b="b"/>
            <a:pathLst>
              <a:path w="1615" h="27">
                <a:moveTo>
                  <a:pt x="0" y="0"/>
                </a:moveTo>
                <a:lnTo>
                  <a:pt x="1615" y="0"/>
                </a:lnTo>
                <a:lnTo>
                  <a:pt x="16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4" name=""/>
          <p:cNvSpPr/>
          <p:nvPr/>
        </p:nvSpPr>
        <p:spPr>
          <a:xfrm>
            <a:off x="6962760" y="31906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5" name=""/>
          <p:cNvSpPr/>
          <p:nvPr/>
        </p:nvSpPr>
        <p:spPr>
          <a:xfrm>
            <a:off x="6972120" y="3181320"/>
            <a:ext cx="1886400" cy="9720"/>
          </a:xfrm>
          <a:custGeom>
            <a:avLst/>
            <a:gdLst/>
            <a:ahLst/>
            <a:rect l="0" t="0" r="r" b="b"/>
            <a:pathLst>
              <a:path w="5240" h="27">
                <a:moveTo>
                  <a:pt x="0" y="0"/>
                </a:moveTo>
                <a:lnTo>
                  <a:pt x="5240" y="0"/>
                </a:lnTo>
                <a:lnTo>
                  <a:pt x="52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6" name=""/>
          <p:cNvSpPr/>
          <p:nvPr/>
        </p:nvSpPr>
        <p:spPr>
          <a:xfrm>
            <a:off x="8848440" y="31906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7" name=""/>
          <p:cNvSpPr/>
          <p:nvPr/>
        </p:nvSpPr>
        <p:spPr>
          <a:xfrm>
            <a:off x="8858160" y="31813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8" name=""/>
          <p:cNvSpPr/>
          <p:nvPr/>
        </p:nvSpPr>
        <p:spPr>
          <a:xfrm>
            <a:off x="9658080" y="31906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9" name=""/>
          <p:cNvSpPr/>
          <p:nvPr/>
        </p:nvSpPr>
        <p:spPr>
          <a:xfrm>
            <a:off x="2523960" y="3562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0" name=""/>
          <p:cNvSpPr/>
          <p:nvPr/>
        </p:nvSpPr>
        <p:spPr>
          <a:xfrm>
            <a:off x="2523960" y="3552480"/>
            <a:ext cx="3867480" cy="10080"/>
          </a:xfrm>
          <a:custGeom>
            <a:avLst/>
            <a:gdLst/>
            <a:ahLst/>
            <a:rect l="0" t="0" r="r" b="b"/>
            <a:pathLst>
              <a:path w="10743" h="28">
                <a:moveTo>
                  <a:pt x="0" y="0"/>
                </a:moveTo>
                <a:lnTo>
                  <a:pt x="10743" y="0"/>
                </a:lnTo>
                <a:lnTo>
                  <a:pt x="10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1" name=""/>
          <p:cNvSpPr/>
          <p:nvPr/>
        </p:nvSpPr>
        <p:spPr>
          <a:xfrm>
            <a:off x="6381720" y="3562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2" name=""/>
          <p:cNvSpPr/>
          <p:nvPr/>
        </p:nvSpPr>
        <p:spPr>
          <a:xfrm>
            <a:off x="6391080" y="3552480"/>
            <a:ext cx="581400" cy="10080"/>
          </a:xfrm>
          <a:custGeom>
            <a:avLst/>
            <a:gdLst/>
            <a:ahLst/>
            <a:rect l="0" t="0" r="r" b="b"/>
            <a:pathLst>
              <a:path w="1615" h="28">
                <a:moveTo>
                  <a:pt x="0" y="0"/>
                </a:moveTo>
                <a:lnTo>
                  <a:pt x="1615" y="0"/>
                </a:lnTo>
                <a:lnTo>
                  <a:pt x="16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3" name=""/>
          <p:cNvSpPr/>
          <p:nvPr/>
        </p:nvSpPr>
        <p:spPr>
          <a:xfrm>
            <a:off x="6962760" y="3562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4" name=""/>
          <p:cNvSpPr/>
          <p:nvPr/>
        </p:nvSpPr>
        <p:spPr>
          <a:xfrm>
            <a:off x="6972120" y="3552480"/>
            <a:ext cx="1886400" cy="10080"/>
          </a:xfrm>
          <a:custGeom>
            <a:avLst/>
            <a:gdLst/>
            <a:ahLst/>
            <a:rect l="0" t="0" r="r" b="b"/>
            <a:pathLst>
              <a:path w="5240" h="28">
                <a:moveTo>
                  <a:pt x="0" y="0"/>
                </a:moveTo>
                <a:lnTo>
                  <a:pt x="5240" y="0"/>
                </a:lnTo>
                <a:lnTo>
                  <a:pt x="52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5" name=""/>
          <p:cNvSpPr/>
          <p:nvPr/>
        </p:nvSpPr>
        <p:spPr>
          <a:xfrm>
            <a:off x="8848440" y="3562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6" name=""/>
          <p:cNvSpPr/>
          <p:nvPr/>
        </p:nvSpPr>
        <p:spPr>
          <a:xfrm>
            <a:off x="8858160" y="355248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7" name=""/>
          <p:cNvSpPr/>
          <p:nvPr/>
        </p:nvSpPr>
        <p:spPr>
          <a:xfrm>
            <a:off x="9658080" y="3562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8" name=""/>
          <p:cNvSpPr/>
          <p:nvPr/>
        </p:nvSpPr>
        <p:spPr>
          <a:xfrm>
            <a:off x="2523960" y="3933720"/>
            <a:ext cx="3867480" cy="9720"/>
          </a:xfrm>
          <a:custGeom>
            <a:avLst/>
            <a:gdLst/>
            <a:ahLst/>
            <a:rect l="0" t="0" r="r" b="b"/>
            <a:pathLst>
              <a:path w="10743" h="27">
                <a:moveTo>
                  <a:pt x="0" y="0"/>
                </a:moveTo>
                <a:lnTo>
                  <a:pt x="10743" y="0"/>
                </a:lnTo>
                <a:lnTo>
                  <a:pt x="107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9" name=""/>
          <p:cNvSpPr/>
          <p:nvPr/>
        </p:nvSpPr>
        <p:spPr>
          <a:xfrm>
            <a:off x="6391080" y="3933720"/>
            <a:ext cx="581400" cy="9720"/>
          </a:xfrm>
          <a:custGeom>
            <a:avLst/>
            <a:gdLst/>
            <a:ahLst/>
            <a:rect l="0" t="0" r="r" b="b"/>
            <a:pathLst>
              <a:path w="1615" h="27">
                <a:moveTo>
                  <a:pt x="0" y="0"/>
                </a:moveTo>
                <a:lnTo>
                  <a:pt x="1615" y="0"/>
                </a:lnTo>
                <a:lnTo>
                  <a:pt x="16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0" name=""/>
          <p:cNvSpPr/>
          <p:nvPr/>
        </p:nvSpPr>
        <p:spPr>
          <a:xfrm>
            <a:off x="6972120" y="3933720"/>
            <a:ext cx="1886400" cy="9720"/>
          </a:xfrm>
          <a:custGeom>
            <a:avLst/>
            <a:gdLst/>
            <a:ahLst/>
            <a:rect l="0" t="0" r="r" b="b"/>
            <a:pathLst>
              <a:path w="5240" h="27">
                <a:moveTo>
                  <a:pt x="0" y="0"/>
                </a:moveTo>
                <a:lnTo>
                  <a:pt x="5240" y="0"/>
                </a:lnTo>
                <a:lnTo>
                  <a:pt x="52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1" name=""/>
          <p:cNvSpPr/>
          <p:nvPr/>
        </p:nvSpPr>
        <p:spPr>
          <a:xfrm>
            <a:off x="8858160" y="39337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2" name=""/>
          <p:cNvSpPr txBox="1"/>
          <p:nvPr/>
        </p:nvSpPr>
        <p:spPr>
          <a:xfrm>
            <a:off x="3196080" y="136692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K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3" name=""/>
          <p:cNvSpPr txBox="1"/>
          <p:nvPr/>
        </p:nvSpPr>
        <p:spPr>
          <a:xfrm>
            <a:off x="3473280" y="13975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ế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4" name=""/>
          <p:cNvSpPr txBox="1"/>
          <p:nvPr/>
        </p:nvSpPr>
        <p:spPr>
          <a:xfrm>
            <a:off x="3691800" y="1366920"/>
            <a:ext cx="6498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t qu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5" name=""/>
          <p:cNvSpPr txBox="1"/>
          <p:nvPr/>
        </p:nvSpPr>
        <p:spPr>
          <a:xfrm>
            <a:off x="4390560" y="13975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ả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6" name=""/>
          <p:cNvSpPr txBox="1"/>
          <p:nvPr/>
        </p:nvSpPr>
        <p:spPr>
          <a:xfrm>
            <a:off x="4609080" y="1366920"/>
            <a:ext cx="9763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4 — L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7" name=""/>
          <p:cNvSpPr txBox="1"/>
          <p:nvPr/>
        </p:nvSpPr>
        <p:spPr>
          <a:xfrm>
            <a:off x="5623560" y="13975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ớ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8" name=""/>
          <p:cNvSpPr txBox="1"/>
          <p:nvPr/>
        </p:nvSpPr>
        <p:spPr>
          <a:xfrm>
            <a:off x="5899680" y="1366920"/>
            <a:ext cx="11941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p ánh x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9" name=""/>
          <p:cNvSpPr txBox="1"/>
          <p:nvPr/>
        </p:nvSpPr>
        <p:spPr>
          <a:xfrm>
            <a:off x="7185240" y="139752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ạ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0" name=""/>
          <p:cNvSpPr txBox="1"/>
          <p:nvPr/>
        </p:nvSpPr>
        <p:spPr>
          <a:xfrm>
            <a:off x="7403760" y="1366920"/>
            <a:ext cx="15645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ATT&amp;CK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1" name=""/>
          <p:cNvSpPr txBox="1"/>
          <p:nvPr/>
        </p:nvSpPr>
        <p:spPr>
          <a:xfrm>
            <a:off x="3610440" y="2117160"/>
            <a:ext cx="2552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Ch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2" name=""/>
          <p:cNvSpPr txBox="1"/>
          <p:nvPr/>
        </p:nvSpPr>
        <p:spPr>
          <a:xfrm>
            <a:off x="3893400" y="21344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ế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3" name=""/>
          <p:cNvSpPr txBox="1"/>
          <p:nvPr/>
        </p:nvSpPr>
        <p:spPr>
          <a:xfrm>
            <a:off x="4021920" y="211716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 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4" name=""/>
          <p:cNvSpPr txBox="1"/>
          <p:nvPr/>
        </p:nvSpPr>
        <p:spPr>
          <a:xfrm>
            <a:off x="4074120" y="2134440"/>
            <a:ext cx="25524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độ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5" name=""/>
          <p:cNvSpPr txBox="1"/>
          <p:nvPr/>
        </p:nvSpPr>
        <p:spPr>
          <a:xfrm>
            <a:off x="4354200" y="211716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 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6" name=""/>
          <p:cNvSpPr txBox="1"/>
          <p:nvPr/>
        </p:nvSpPr>
        <p:spPr>
          <a:xfrm>
            <a:off x="4406400" y="21344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đ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7" name=""/>
          <p:cNvSpPr txBox="1"/>
          <p:nvPr/>
        </p:nvSpPr>
        <p:spPr>
          <a:xfrm>
            <a:off x="4546440" y="2117160"/>
            <a:ext cx="6620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ánh giá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8" name=""/>
          <p:cNvSpPr txBox="1"/>
          <p:nvPr/>
        </p:nvSpPr>
        <p:spPr>
          <a:xfrm>
            <a:off x="6611400" y="211716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n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9" name=""/>
          <p:cNvSpPr txBox="1"/>
          <p:nvPr/>
        </p:nvSpPr>
        <p:spPr>
          <a:xfrm>
            <a:off x="7055640" y="2117160"/>
            <a:ext cx="2613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Kh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0" name=""/>
          <p:cNvSpPr txBox="1"/>
          <p:nvPr/>
        </p:nvSpPr>
        <p:spPr>
          <a:xfrm>
            <a:off x="7350480" y="21344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ớ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1" name=""/>
          <p:cNvSpPr txBox="1"/>
          <p:nvPr/>
        </p:nvSpPr>
        <p:spPr>
          <a:xfrm>
            <a:off x="7511400" y="2117160"/>
            <a:ext cx="10951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p technique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2" name=""/>
          <p:cNvSpPr txBox="1"/>
          <p:nvPr/>
        </p:nvSpPr>
        <p:spPr>
          <a:xfrm>
            <a:off x="8941320" y="2117160"/>
            <a:ext cx="5662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Tactic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3" name=""/>
          <p:cNvSpPr txBox="1"/>
          <p:nvPr/>
        </p:nvSpPr>
        <p:spPr>
          <a:xfrm>
            <a:off x="2617920" y="2488680"/>
            <a:ext cx="26784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Unit (10 web-attack, curated)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4" name=""/>
          <p:cNvSpPr txBox="1"/>
          <p:nvPr/>
        </p:nvSpPr>
        <p:spPr>
          <a:xfrm>
            <a:off x="6478200" y="248868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—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5" name=""/>
          <p:cNvSpPr txBox="1"/>
          <p:nvPr/>
        </p:nvSpPr>
        <p:spPr>
          <a:xfrm>
            <a:off x="7055640" y="2488680"/>
            <a:ext cx="5342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100%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6" name=""/>
          <p:cNvSpPr txBox="1"/>
          <p:nvPr/>
        </p:nvSpPr>
        <p:spPr>
          <a:xfrm>
            <a:off x="8940600" y="248868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—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7" name=""/>
          <p:cNvSpPr txBox="1"/>
          <p:nvPr/>
        </p:nvSpPr>
        <p:spPr>
          <a:xfrm>
            <a:off x="2617920" y="2869920"/>
            <a:ext cx="25214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Web-payload — pipeline tri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8" name=""/>
          <p:cNvSpPr txBox="1"/>
          <p:nvPr/>
        </p:nvSpPr>
        <p:spPr>
          <a:xfrm>
            <a:off x="5524200" y="28868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Arial"/>
                <a:ea typeface="Arial"/>
              </a:rPr>
              <a:t>ể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9" name=""/>
          <p:cNvSpPr txBox="1"/>
          <p:nvPr/>
        </p:nvSpPr>
        <p:spPr>
          <a:xfrm>
            <a:off x="5652720" y="2869920"/>
            <a:ext cx="5569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n khai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0" name=""/>
          <p:cNvSpPr txBox="1"/>
          <p:nvPr/>
        </p:nvSpPr>
        <p:spPr>
          <a:xfrm>
            <a:off x="6478200" y="2869920"/>
            <a:ext cx="2415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50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1" name=""/>
          <p:cNvSpPr txBox="1"/>
          <p:nvPr/>
        </p:nvSpPr>
        <p:spPr>
          <a:xfrm>
            <a:off x="7055640" y="2869920"/>
            <a:ext cx="5842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64.0%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2" name=""/>
          <p:cNvSpPr txBox="1"/>
          <p:nvPr/>
        </p:nvSpPr>
        <p:spPr>
          <a:xfrm>
            <a:off x="8940600" y="2869920"/>
            <a:ext cx="5799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57.5%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3" name=""/>
          <p:cNvSpPr txBox="1"/>
          <p:nvPr/>
        </p:nvSpPr>
        <p:spPr>
          <a:xfrm>
            <a:off x="2617920" y="3241080"/>
            <a:ext cx="17258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Web-payload — ch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4" name=""/>
          <p:cNvSpPr txBox="1"/>
          <p:nvPr/>
        </p:nvSpPr>
        <p:spPr>
          <a:xfrm>
            <a:off x="4505040" y="325836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ỉ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5" name=""/>
          <p:cNvSpPr txBox="1"/>
          <p:nvPr/>
        </p:nvSpPr>
        <p:spPr>
          <a:xfrm>
            <a:off x="4563360" y="3241080"/>
            <a:ext cx="7016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truy xu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6" name=""/>
          <p:cNvSpPr txBox="1"/>
          <p:nvPr/>
        </p:nvSpPr>
        <p:spPr>
          <a:xfrm>
            <a:off x="5348160" y="325836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7" name=""/>
          <p:cNvSpPr txBox="1"/>
          <p:nvPr/>
        </p:nvSpPr>
        <p:spPr>
          <a:xfrm>
            <a:off x="5476680" y="3241080"/>
            <a:ext cx="4654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t (rrf)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8" name=""/>
          <p:cNvSpPr txBox="1"/>
          <p:nvPr/>
        </p:nvSpPr>
        <p:spPr>
          <a:xfrm>
            <a:off x="6478200" y="3241080"/>
            <a:ext cx="2415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50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9" name=""/>
          <p:cNvSpPr txBox="1"/>
          <p:nvPr/>
        </p:nvSpPr>
        <p:spPr>
          <a:xfrm>
            <a:off x="7055640" y="3241080"/>
            <a:ext cx="5799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62.0%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0" name=""/>
          <p:cNvSpPr txBox="1"/>
          <p:nvPr/>
        </p:nvSpPr>
        <p:spPr>
          <a:xfrm>
            <a:off x="8940600" y="3241080"/>
            <a:ext cx="5799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52.5%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1" name=""/>
          <p:cNvSpPr txBox="1"/>
          <p:nvPr/>
        </p:nvSpPr>
        <p:spPr>
          <a:xfrm>
            <a:off x="2617920" y="3622320"/>
            <a:ext cx="24955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Flow-only GT — pipeline tri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2" name=""/>
          <p:cNvSpPr txBox="1"/>
          <p:nvPr/>
        </p:nvSpPr>
        <p:spPr>
          <a:xfrm>
            <a:off x="5411160" y="363924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3" name=""/>
          <p:cNvSpPr txBox="1"/>
          <p:nvPr/>
        </p:nvSpPr>
        <p:spPr>
          <a:xfrm>
            <a:off x="5539680" y="3622320"/>
            <a:ext cx="5464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n khai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4" name=""/>
          <p:cNvSpPr txBox="1"/>
          <p:nvPr/>
        </p:nvSpPr>
        <p:spPr>
          <a:xfrm>
            <a:off x="6478200" y="3622320"/>
            <a:ext cx="3636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160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5" name=""/>
          <p:cNvSpPr txBox="1"/>
          <p:nvPr/>
        </p:nvSpPr>
        <p:spPr>
          <a:xfrm>
            <a:off x="7055640" y="3622320"/>
            <a:ext cx="4626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0.0%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6" name=""/>
          <p:cNvSpPr/>
          <p:nvPr/>
        </p:nvSpPr>
        <p:spPr>
          <a:xfrm>
            <a:off x="819000" y="4324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79" y="16"/>
                  <a:pt x="192" y="24"/>
                  <a:pt x="203" y="35"/>
                </a:cubicBezTo>
                <a:cubicBezTo>
                  <a:pt x="214" y="47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27" name=""/>
          <p:cNvSpPr txBox="1"/>
          <p:nvPr/>
        </p:nvSpPr>
        <p:spPr>
          <a:xfrm>
            <a:off x="8940600" y="3622320"/>
            <a:ext cx="4593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3.6%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8" name=""/>
          <p:cNvSpPr txBox="1"/>
          <p:nvPr/>
        </p:nvSpPr>
        <p:spPr>
          <a:xfrm>
            <a:off x="1047600" y="4203720"/>
            <a:ext cx="945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Trung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9" name=""/>
          <p:cNvSpPr txBox="1"/>
          <p:nvPr/>
        </p:nvSpPr>
        <p:spPr>
          <a:xfrm>
            <a:off x="208116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0" name=""/>
          <p:cNvSpPr txBox="1"/>
          <p:nvPr/>
        </p:nvSpPr>
        <p:spPr>
          <a:xfrm>
            <a:off x="2272320" y="4203720"/>
            <a:ext cx="2710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0% trên flow-only là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1" name=""/>
          <p:cNvSpPr txBox="1"/>
          <p:nvPr/>
        </p:nvSpPr>
        <p:spPr>
          <a:xfrm>
            <a:off x="522252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2" name=""/>
          <p:cNvSpPr txBox="1"/>
          <p:nvPr/>
        </p:nvSpPr>
        <p:spPr>
          <a:xfrm>
            <a:off x="5410440" y="4203720"/>
            <a:ext cx="262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3" name=""/>
          <p:cNvSpPr txBox="1"/>
          <p:nvPr/>
        </p:nvSpPr>
        <p:spPr>
          <a:xfrm>
            <a:off x="570816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4" name=""/>
          <p:cNvSpPr txBox="1"/>
          <p:nvPr/>
        </p:nvSpPr>
        <p:spPr>
          <a:xfrm>
            <a:off x="5857920" y="4203720"/>
            <a:ext cx="320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5" name=""/>
          <p:cNvSpPr txBox="1"/>
          <p:nvPr/>
        </p:nvSpPr>
        <p:spPr>
          <a:xfrm>
            <a:off x="620532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6" name=""/>
          <p:cNvSpPr txBox="1"/>
          <p:nvPr/>
        </p:nvSpPr>
        <p:spPr>
          <a:xfrm>
            <a:off x="6368760" y="4203720"/>
            <a:ext cx="3246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a bài toán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(ill-posed) — nhãn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7" name=""/>
          <p:cNvSpPr txBox="1"/>
          <p:nvPr/>
        </p:nvSpPr>
        <p:spPr>
          <a:xfrm>
            <a:off x="995796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8" name=""/>
          <p:cNvSpPr txBox="1"/>
          <p:nvPr/>
        </p:nvSpPr>
        <p:spPr>
          <a:xfrm>
            <a:off x="10132200" y="42037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9" name=""/>
          <p:cNvSpPr txBox="1"/>
          <p:nvPr/>
        </p:nvSpPr>
        <p:spPr>
          <a:xfrm>
            <a:off x="1034172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0" name=""/>
          <p:cNvSpPr txBox="1"/>
          <p:nvPr/>
        </p:nvSpPr>
        <p:spPr>
          <a:xfrm>
            <a:off x="10491480" y="42037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1" name=""/>
          <p:cNvSpPr txBox="1"/>
          <p:nvPr/>
        </p:nvSpPr>
        <p:spPr>
          <a:xfrm>
            <a:off x="10678680" y="42238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≠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2" name=""/>
          <p:cNvSpPr txBox="1"/>
          <p:nvPr/>
        </p:nvSpPr>
        <p:spPr>
          <a:xfrm>
            <a:off x="10826280" y="4203720"/>
            <a:ext cx="436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suy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3" name=""/>
          <p:cNvSpPr txBox="1"/>
          <p:nvPr/>
        </p:nvSpPr>
        <p:spPr>
          <a:xfrm>
            <a:off x="1047600" y="45370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4" name=""/>
          <p:cNvSpPr txBox="1"/>
          <p:nvPr/>
        </p:nvSpPr>
        <p:spPr>
          <a:xfrm>
            <a:off x="1272600" y="4557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5" name=""/>
          <p:cNvSpPr txBox="1"/>
          <p:nvPr/>
        </p:nvSpPr>
        <p:spPr>
          <a:xfrm>
            <a:off x="1422360" y="4537080"/>
            <a:ext cx="1843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LLM;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không ph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6" name=""/>
          <p:cNvSpPr txBox="1"/>
          <p:nvPr/>
        </p:nvSpPr>
        <p:spPr>
          <a:xfrm>
            <a:off x="3416760" y="4557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7" name=""/>
          <p:cNvSpPr txBox="1"/>
          <p:nvPr/>
        </p:nvSpPr>
        <p:spPr>
          <a:xfrm>
            <a:off x="3566160" y="45370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8" name=""/>
          <p:cNvSpPr txBox="1"/>
          <p:nvPr/>
        </p:nvSpPr>
        <p:spPr>
          <a:xfrm>
            <a:off x="3791160" y="4557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ỗ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9" name=""/>
          <p:cNvSpPr/>
          <p:nvPr/>
        </p:nvSpPr>
        <p:spPr>
          <a:xfrm>
            <a:off x="819000" y="50670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4" y="193"/>
                  <a:pt x="203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50" name=""/>
          <p:cNvSpPr txBox="1"/>
          <p:nvPr/>
        </p:nvSpPr>
        <p:spPr>
          <a:xfrm>
            <a:off x="3954240" y="4537080"/>
            <a:ext cx="1023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mapper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1" name=""/>
          <p:cNvSpPr txBox="1"/>
          <p:nvPr/>
        </p:nvSpPr>
        <p:spPr>
          <a:xfrm>
            <a:off x="1047600" y="4946760"/>
            <a:ext cx="7584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Signature attacks: Prompt-Inj &amp; Cmd-Inj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100%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, XSS &amp; Path-Trav 80%.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2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3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4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5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6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7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8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9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0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1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2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3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4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5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6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16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0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1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2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3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4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5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6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7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8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9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0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1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2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3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4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5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6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7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8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9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0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1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2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3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4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5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6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7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8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9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0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1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2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3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4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5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6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7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8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9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0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1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2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3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4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5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6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7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8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9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0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1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2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3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4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5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6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7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8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9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0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1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2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3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4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5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6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7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8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9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0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1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2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3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4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5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6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7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8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9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0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1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2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3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4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5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6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7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8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9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0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1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2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3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4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5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6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7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8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9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0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1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2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3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4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5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6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7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8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9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0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1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2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3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4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5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6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7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8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9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0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1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2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3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4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5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6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7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8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9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0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1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2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3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4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5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6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7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8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9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0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1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2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3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4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5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6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7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8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9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0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1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2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3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4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5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6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7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8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9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0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1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2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3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4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5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6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7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8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9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0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1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2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3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4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5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6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7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8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9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0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1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2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3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4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5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6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7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8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9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0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1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2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3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4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5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6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7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8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9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0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1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2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3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4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5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6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7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8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9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0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1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2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3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4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5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6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7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8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9" name=""/>
          <p:cNvSpPr/>
          <p:nvPr/>
        </p:nvSpPr>
        <p:spPr>
          <a:xfrm>
            <a:off x="2647800" y="2914560"/>
            <a:ext cx="4029480" cy="371880"/>
          </a:xfrm>
          <a:custGeom>
            <a:avLst/>
            <a:gdLst/>
            <a:ahLst/>
            <a:rect l="0" t="0" r="r" b="b"/>
            <a:pathLst>
              <a:path w="11193" h="1033">
                <a:moveTo>
                  <a:pt x="0" y="0"/>
                </a:moveTo>
                <a:lnTo>
                  <a:pt x="11193" y="0"/>
                </a:lnTo>
                <a:lnTo>
                  <a:pt x="11193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0" name=""/>
          <p:cNvSpPr/>
          <p:nvPr/>
        </p:nvSpPr>
        <p:spPr>
          <a:xfrm>
            <a:off x="6676920" y="2914560"/>
            <a:ext cx="1171800" cy="371880"/>
          </a:xfrm>
          <a:custGeom>
            <a:avLst/>
            <a:gdLst/>
            <a:ahLst/>
            <a:rect l="0" t="0" r="r" b="b"/>
            <a:pathLst>
              <a:path w="3255" h="1033">
                <a:moveTo>
                  <a:pt x="0" y="0"/>
                </a:moveTo>
                <a:lnTo>
                  <a:pt x="3255" y="0"/>
                </a:lnTo>
                <a:lnTo>
                  <a:pt x="3255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1" name=""/>
          <p:cNvSpPr/>
          <p:nvPr/>
        </p:nvSpPr>
        <p:spPr>
          <a:xfrm>
            <a:off x="7848360" y="2914560"/>
            <a:ext cx="838440" cy="371880"/>
          </a:xfrm>
          <a:custGeom>
            <a:avLst/>
            <a:gdLst/>
            <a:ahLst/>
            <a:rect l="0" t="0" r="r" b="b"/>
            <a:pathLst>
              <a:path w="2329" h="1033">
                <a:moveTo>
                  <a:pt x="0" y="0"/>
                </a:moveTo>
                <a:lnTo>
                  <a:pt x="2329" y="0"/>
                </a:lnTo>
                <a:lnTo>
                  <a:pt x="232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2" name=""/>
          <p:cNvSpPr/>
          <p:nvPr/>
        </p:nvSpPr>
        <p:spPr>
          <a:xfrm>
            <a:off x="8686440" y="2914560"/>
            <a:ext cx="857880" cy="371880"/>
          </a:xfrm>
          <a:custGeom>
            <a:avLst/>
            <a:gdLst/>
            <a:ahLst/>
            <a:rect l="0" t="0" r="r" b="b"/>
            <a:pathLst>
              <a:path w="2383" h="1033">
                <a:moveTo>
                  <a:pt x="0" y="0"/>
                </a:moveTo>
                <a:lnTo>
                  <a:pt x="2383" y="0"/>
                </a:lnTo>
                <a:lnTo>
                  <a:pt x="2383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3" name=""/>
          <p:cNvSpPr/>
          <p:nvPr/>
        </p:nvSpPr>
        <p:spPr>
          <a:xfrm>
            <a:off x="2647800" y="3286080"/>
            <a:ext cx="4029480" cy="381240"/>
          </a:xfrm>
          <a:custGeom>
            <a:avLst/>
            <a:gdLst/>
            <a:ahLst/>
            <a:rect l="0" t="0" r="r" b="b"/>
            <a:pathLst>
              <a:path w="11193" h="1059">
                <a:moveTo>
                  <a:pt x="0" y="0"/>
                </a:moveTo>
                <a:lnTo>
                  <a:pt x="11193" y="0"/>
                </a:lnTo>
                <a:lnTo>
                  <a:pt x="1119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4" name=""/>
          <p:cNvSpPr/>
          <p:nvPr/>
        </p:nvSpPr>
        <p:spPr>
          <a:xfrm>
            <a:off x="6676920" y="3286080"/>
            <a:ext cx="1171800" cy="381240"/>
          </a:xfrm>
          <a:custGeom>
            <a:avLst/>
            <a:gdLst/>
            <a:ahLst/>
            <a:rect l="0" t="0" r="r" b="b"/>
            <a:pathLst>
              <a:path w="3255" h="1059">
                <a:moveTo>
                  <a:pt x="0" y="0"/>
                </a:moveTo>
                <a:lnTo>
                  <a:pt x="3255" y="0"/>
                </a:lnTo>
                <a:lnTo>
                  <a:pt x="325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5" name=""/>
          <p:cNvSpPr/>
          <p:nvPr/>
        </p:nvSpPr>
        <p:spPr>
          <a:xfrm>
            <a:off x="7848360" y="3286080"/>
            <a:ext cx="838440" cy="381240"/>
          </a:xfrm>
          <a:custGeom>
            <a:avLst/>
            <a:gdLst/>
            <a:ahLst/>
            <a:rect l="0" t="0" r="r" b="b"/>
            <a:pathLst>
              <a:path w="2329" h="1059">
                <a:moveTo>
                  <a:pt x="0" y="0"/>
                </a:moveTo>
                <a:lnTo>
                  <a:pt x="2329" y="0"/>
                </a:lnTo>
                <a:lnTo>
                  <a:pt x="23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6" name=""/>
          <p:cNvSpPr/>
          <p:nvPr/>
        </p:nvSpPr>
        <p:spPr>
          <a:xfrm>
            <a:off x="8686440" y="3286080"/>
            <a:ext cx="857880" cy="381240"/>
          </a:xfrm>
          <a:custGeom>
            <a:avLst/>
            <a:gdLst/>
            <a:ahLst/>
            <a:rect l="0" t="0" r="r" b="b"/>
            <a:pathLst>
              <a:path w="2383" h="1059">
                <a:moveTo>
                  <a:pt x="0" y="0"/>
                </a:moveTo>
                <a:lnTo>
                  <a:pt x="2383" y="0"/>
                </a:lnTo>
                <a:lnTo>
                  <a:pt x="238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7" name=""/>
          <p:cNvSpPr/>
          <p:nvPr/>
        </p:nvSpPr>
        <p:spPr>
          <a:xfrm>
            <a:off x="2647800" y="29048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8" name=""/>
          <p:cNvSpPr/>
          <p:nvPr/>
        </p:nvSpPr>
        <p:spPr>
          <a:xfrm>
            <a:off x="2647800" y="2904840"/>
            <a:ext cx="4029480" cy="10080"/>
          </a:xfrm>
          <a:custGeom>
            <a:avLst/>
            <a:gdLst/>
            <a:ahLst/>
            <a:rect l="0" t="0" r="r" b="b"/>
            <a:pathLst>
              <a:path w="11193" h="28">
                <a:moveTo>
                  <a:pt x="0" y="0"/>
                </a:moveTo>
                <a:lnTo>
                  <a:pt x="11193" y="0"/>
                </a:lnTo>
                <a:lnTo>
                  <a:pt x="111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9" name=""/>
          <p:cNvSpPr/>
          <p:nvPr/>
        </p:nvSpPr>
        <p:spPr>
          <a:xfrm>
            <a:off x="6667200" y="29048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0" name=""/>
          <p:cNvSpPr/>
          <p:nvPr/>
        </p:nvSpPr>
        <p:spPr>
          <a:xfrm>
            <a:off x="6676920" y="2904840"/>
            <a:ext cx="1181520" cy="10080"/>
          </a:xfrm>
          <a:custGeom>
            <a:avLst/>
            <a:gdLst/>
            <a:ahLst/>
            <a:rect l="0" t="0" r="r" b="b"/>
            <a:pathLst>
              <a:path w="3282" h="28">
                <a:moveTo>
                  <a:pt x="0" y="0"/>
                </a:moveTo>
                <a:lnTo>
                  <a:pt x="3282" y="0"/>
                </a:lnTo>
                <a:lnTo>
                  <a:pt x="3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1" name=""/>
          <p:cNvSpPr/>
          <p:nvPr/>
        </p:nvSpPr>
        <p:spPr>
          <a:xfrm>
            <a:off x="7848360" y="29048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2" name=""/>
          <p:cNvSpPr/>
          <p:nvPr/>
        </p:nvSpPr>
        <p:spPr>
          <a:xfrm>
            <a:off x="7858080" y="2904840"/>
            <a:ext cx="828720" cy="10080"/>
          </a:xfrm>
          <a:custGeom>
            <a:avLst/>
            <a:gdLst/>
            <a:ahLst/>
            <a:rect l="0" t="0" r="r" b="b"/>
            <a:pathLst>
              <a:path w="2302" h="28">
                <a:moveTo>
                  <a:pt x="0" y="0"/>
                </a:moveTo>
                <a:lnTo>
                  <a:pt x="2302" y="0"/>
                </a:lnTo>
                <a:lnTo>
                  <a:pt x="23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3" name=""/>
          <p:cNvSpPr/>
          <p:nvPr/>
        </p:nvSpPr>
        <p:spPr>
          <a:xfrm>
            <a:off x="8677080" y="29048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4" name=""/>
          <p:cNvSpPr/>
          <p:nvPr/>
        </p:nvSpPr>
        <p:spPr>
          <a:xfrm>
            <a:off x="8686440" y="29048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5" name=""/>
          <p:cNvSpPr/>
          <p:nvPr/>
        </p:nvSpPr>
        <p:spPr>
          <a:xfrm>
            <a:off x="9534240" y="29048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6" name=""/>
          <p:cNvSpPr/>
          <p:nvPr/>
        </p:nvSpPr>
        <p:spPr>
          <a:xfrm>
            <a:off x="2647800" y="328608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7" name=""/>
          <p:cNvSpPr/>
          <p:nvPr/>
        </p:nvSpPr>
        <p:spPr>
          <a:xfrm>
            <a:off x="6676920" y="3286080"/>
            <a:ext cx="1181520" cy="9720"/>
          </a:xfrm>
          <a:custGeom>
            <a:avLst/>
            <a:gdLst/>
            <a:ahLst/>
            <a:rect l="0" t="0" r="r" b="b"/>
            <a:pathLst>
              <a:path w="3282" h="27">
                <a:moveTo>
                  <a:pt x="0" y="0"/>
                </a:moveTo>
                <a:lnTo>
                  <a:pt x="3282" y="0"/>
                </a:lnTo>
                <a:lnTo>
                  <a:pt x="32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8" name=""/>
          <p:cNvSpPr/>
          <p:nvPr/>
        </p:nvSpPr>
        <p:spPr>
          <a:xfrm>
            <a:off x="7858080" y="3286080"/>
            <a:ext cx="828720" cy="9720"/>
          </a:xfrm>
          <a:custGeom>
            <a:avLst/>
            <a:gdLst/>
            <a:ahLst/>
            <a:rect l="0" t="0" r="r" b="b"/>
            <a:pathLst>
              <a:path w="2302" h="27">
                <a:moveTo>
                  <a:pt x="0" y="0"/>
                </a:moveTo>
                <a:lnTo>
                  <a:pt x="2302" y="0"/>
                </a:lnTo>
                <a:lnTo>
                  <a:pt x="23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9" name=""/>
          <p:cNvSpPr/>
          <p:nvPr/>
        </p:nvSpPr>
        <p:spPr>
          <a:xfrm>
            <a:off x="8686440" y="328608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0" name=""/>
          <p:cNvSpPr/>
          <p:nvPr/>
        </p:nvSpPr>
        <p:spPr>
          <a:xfrm>
            <a:off x="2647800" y="329544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1" name=""/>
          <p:cNvSpPr/>
          <p:nvPr/>
        </p:nvSpPr>
        <p:spPr>
          <a:xfrm>
            <a:off x="6667200" y="329544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2" name=""/>
          <p:cNvSpPr/>
          <p:nvPr/>
        </p:nvSpPr>
        <p:spPr>
          <a:xfrm>
            <a:off x="7848360" y="329544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3" name=""/>
          <p:cNvSpPr/>
          <p:nvPr/>
        </p:nvSpPr>
        <p:spPr>
          <a:xfrm>
            <a:off x="8677080" y="329544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4" name=""/>
          <p:cNvSpPr/>
          <p:nvPr/>
        </p:nvSpPr>
        <p:spPr>
          <a:xfrm>
            <a:off x="9534240" y="329544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5" name=""/>
          <p:cNvSpPr/>
          <p:nvPr/>
        </p:nvSpPr>
        <p:spPr>
          <a:xfrm>
            <a:off x="2647800" y="36669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6" name=""/>
          <p:cNvSpPr/>
          <p:nvPr/>
        </p:nvSpPr>
        <p:spPr>
          <a:xfrm>
            <a:off x="2647800" y="3657240"/>
            <a:ext cx="4029480" cy="10080"/>
          </a:xfrm>
          <a:custGeom>
            <a:avLst/>
            <a:gdLst/>
            <a:ahLst/>
            <a:rect l="0" t="0" r="r" b="b"/>
            <a:pathLst>
              <a:path w="11193" h="28">
                <a:moveTo>
                  <a:pt x="0" y="0"/>
                </a:moveTo>
                <a:lnTo>
                  <a:pt x="11193" y="0"/>
                </a:lnTo>
                <a:lnTo>
                  <a:pt x="111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7" name=""/>
          <p:cNvSpPr/>
          <p:nvPr/>
        </p:nvSpPr>
        <p:spPr>
          <a:xfrm>
            <a:off x="6667200" y="36669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8" name=""/>
          <p:cNvSpPr/>
          <p:nvPr/>
        </p:nvSpPr>
        <p:spPr>
          <a:xfrm>
            <a:off x="6676920" y="3657240"/>
            <a:ext cx="1181520" cy="10080"/>
          </a:xfrm>
          <a:custGeom>
            <a:avLst/>
            <a:gdLst/>
            <a:ahLst/>
            <a:rect l="0" t="0" r="r" b="b"/>
            <a:pathLst>
              <a:path w="3282" h="28">
                <a:moveTo>
                  <a:pt x="0" y="0"/>
                </a:moveTo>
                <a:lnTo>
                  <a:pt x="3282" y="0"/>
                </a:lnTo>
                <a:lnTo>
                  <a:pt x="32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9" name=""/>
          <p:cNvSpPr/>
          <p:nvPr/>
        </p:nvSpPr>
        <p:spPr>
          <a:xfrm>
            <a:off x="7848360" y="36669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0" name=""/>
          <p:cNvSpPr/>
          <p:nvPr/>
        </p:nvSpPr>
        <p:spPr>
          <a:xfrm>
            <a:off x="7858080" y="3657240"/>
            <a:ext cx="828720" cy="10080"/>
          </a:xfrm>
          <a:custGeom>
            <a:avLst/>
            <a:gdLst/>
            <a:ahLst/>
            <a:rect l="0" t="0" r="r" b="b"/>
            <a:pathLst>
              <a:path w="2302" h="28">
                <a:moveTo>
                  <a:pt x="0" y="0"/>
                </a:moveTo>
                <a:lnTo>
                  <a:pt x="2302" y="0"/>
                </a:lnTo>
                <a:lnTo>
                  <a:pt x="23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1" name=""/>
          <p:cNvSpPr/>
          <p:nvPr/>
        </p:nvSpPr>
        <p:spPr>
          <a:xfrm>
            <a:off x="8677080" y="36669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2" name=""/>
          <p:cNvSpPr/>
          <p:nvPr/>
        </p:nvSpPr>
        <p:spPr>
          <a:xfrm>
            <a:off x="8686440" y="36572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3" name=""/>
          <p:cNvSpPr/>
          <p:nvPr/>
        </p:nvSpPr>
        <p:spPr>
          <a:xfrm>
            <a:off x="9534240" y="36669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4" name=""/>
          <p:cNvSpPr/>
          <p:nvPr/>
        </p:nvSpPr>
        <p:spPr>
          <a:xfrm>
            <a:off x="2647800" y="403848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5" name=""/>
          <p:cNvSpPr/>
          <p:nvPr/>
        </p:nvSpPr>
        <p:spPr>
          <a:xfrm>
            <a:off x="6676920" y="4038480"/>
            <a:ext cx="1181520" cy="9720"/>
          </a:xfrm>
          <a:custGeom>
            <a:avLst/>
            <a:gdLst/>
            <a:ahLst/>
            <a:rect l="0" t="0" r="r" b="b"/>
            <a:pathLst>
              <a:path w="3282" h="27">
                <a:moveTo>
                  <a:pt x="0" y="0"/>
                </a:moveTo>
                <a:lnTo>
                  <a:pt x="3282" y="0"/>
                </a:lnTo>
                <a:lnTo>
                  <a:pt x="32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6" name=""/>
          <p:cNvSpPr/>
          <p:nvPr/>
        </p:nvSpPr>
        <p:spPr>
          <a:xfrm>
            <a:off x="7858080" y="4038480"/>
            <a:ext cx="828720" cy="9720"/>
          </a:xfrm>
          <a:custGeom>
            <a:avLst/>
            <a:gdLst/>
            <a:ahLst/>
            <a:rect l="0" t="0" r="r" b="b"/>
            <a:pathLst>
              <a:path w="2302" h="27">
                <a:moveTo>
                  <a:pt x="0" y="0"/>
                </a:moveTo>
                <a:lnTo>
                  <a:pt x="2302" y="0"/>
                </a:lnTo>
                <a:lnTo>
                  <a:pt x="23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7" name=""/>
          <p:cNvSpPr/>
          <p:nvPr/>
        </p:nvSpPr>
        <p:spPr>
          <a:xfrm>
            <a:off x="8686440" y="403848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8" name=""/>
          <p:cNvSpPr txBox="1"/>
          <p:nvPr/>
        </p:nvSpPr>
        <p:spPr>
          <a:xfrm>
            <a:off x="2724120" y="1262160"/>
            <a:ext cx="29404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Ablation Study — 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9" name=""/>
          <p:cNvSpPr txBox="1"/>
          <p:nvPr/>
        </p:nvSpPr>
        <p:spPr>
          <a:xfrm>
            <a:off x="5928120" y="12927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Đ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0" name=""/>
          <p:cNvSpPr txBox="1"/>
          <p:nvPr/>
        </p:nvSpPr>
        <p:spPr>
          <a:xfrm>
            <a:off x="6208560" y="1262160"/>
            <a:ext cx="15598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óng góp t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1" name=""/>
          <p:cNvSpPr txBox="1"/>
          <p:nvPr/>
        </p:nvSpPr>
        <p:spPr>
          <a:xfrm>
            <a:off x="7857360" y="12927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ừ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2" name=""/>
          <p:cNvSpPr txBox="1"/>
          <p:nvPr/>
        </p:nvSpPr>
        <p:spPr>
          <a:xfrm>
            <a:off x="8138160" y="1262160"/>
            <a:ext cx="6346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 t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3" name=""/>
          <p:cNvSpPr txBox="1"/>
          <p:nvPr/>
        </p:nvSpPr>
        <p:spPr>
          <a:xfrm>
            <a:off x="8815680" y="12927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ầ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4" name=""/>
          <p:cNvSpPr/>
          <p:nvPr/>
        </p:nvSpPr>
        <p:spPr>
          <a:xfrm>
            <a:off x="819000" y="21240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35" name=""/>
          <p:cNvSpPr txBox="1"/>
          <p:nvPr/>
        </p:nvSpPr>
        <p:spPr>
          <a:xfrm>
            <a:off x="9034200" y="1262160"/>
            <a:ext cx="40608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6" name=""/>
          <p:cNvSpPr txBox="1"/>
          <p:nvPr/>
        </p:nvSpPr>
        <p:spPr>
          <a:xfrm>
            <a:off x="1047600" y="20034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7" name=""/>
          <p:cNvSpPr txBox="1"/>
          <p:nvPr/>
        </p:nvSpPr>
        <p:spPr>
          <a:xfrm>
            <a:off x="1205640" y="2023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8" name=""/>
          <p:cNvSpPr txBox="1"/>
          <p:nvPr/>
        </p:nvSpPr>
        <p:spPr>
          <a:xfrm>
            <a:off x="1355400" y="2003400"/>
            <a:ext cx="790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cân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9" name=""/>
          <p:cNvSpPr txBox="1"/>
          <p:nvPr/>
        </p:nvSpPr>
        <p:spPr>
          <a:xfrm>
            <a:off x="2212200" y="2023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0" name=""/>
          <p:cNvSpPr txBox="1"/>
          <p:nvPr/>
        </p:nvSpPr>
        <p:spPr>
          <a:xfrm>
            <a:off x="2361960" y="2003400"/>
            <a:ext cx="2393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150 benign / 150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1" name=""/>
          <p:cNvSpPr txBox="1"/>
          <p:nvPr/>
        </p:nvSpPr>
        <p:spPr>
          <a:xfrm>
            <a:off x="4949640" y="2023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2" name=""/>
          <p:cNvSpPr txBox="1"/>
          <p:nvPr/>
        </p:nvSpPr>
        <p:spPr>
          <a:xfrm>
            <a:off x="5099400" y="2003400"/>
            <a:ext cx="3252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công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(tránh base-rate làm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3" name=""/>
          <p:cNvSpPr txBox="1"/>
          <p:nvPr/>
        </p:nvSpPr>
        <p:spPr>
          <a:xfrm>
            <a:off x="8652600" y="2023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4" name=""/>
          <p:cNvSpPr txBox="1"/>
          <p:nvPr/>
        </p:nvSpPr>
        <p:spPr>
          <a:xfrm>
            <a:off x="8802360" y="20034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5" name=""/>
          <p:cNvSpPr txBox="1"/>
          <p:nvPr/>
        </p:nvSpPr>
        <p:spPr>
          <a:xfrm>
            <a:off x="9064800" y="2023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6" name=""/>
          <p:cNvSpPr txBox="1"/>
          <p:nvPr/>
        </p:nvSpPr>
        <p:spPr>
          <a:xfrm>
            <a:off x="9214560" y="2003400"/>
            <a:ext cx="1192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hình co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7" name=""/>
          <p:cNvSpPr txBox="1"/>
          <p:nvPr/>
        </p:nvSpPr>
        <p:spPr>
          <a:xfrm>
            <a:off x="10483200" y="20239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8" name=""/>
          <p:cNvSpPr txBox="1"/>
          <p:nvPr/>
        </p:nvSpPr>
        <p:spPr>
          <a:xfrm>
            <a:off x="10632960" y="2003400"/>
            <a:ext cx="738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"toàn-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9" name=""/>
          <p:cNvSpPr txBox="1"/>
          <p:nvPr/>
        </p:nvSpPr>
        <p:spPr>
          <a:xfrm>
            <a:off x="1047600" y="2336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d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0" name=""/>
          <p:cNvSpPr txBox="1"/>
          <p:nvPr/>
        </p:nvSpPr>
        <p:spPr>
          <a:xfrm>
            <a:off x="1198080" y="2357280"/>
            <a:ext cx="329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1" name=""/>
          <p:cNvSpPr txBox="1"/>
          <p:nvPr/>
        </p:nvSpPr>
        <p:spPr>
          <a:xfrm>
            <a:off x="1550160" y="2336760"/>
            <a:ext cx="4852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ng").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2" name=""/>
          <p:cNvSpPr txBox="1"/>
          <p:nvPr/>
        </p:nvSpPr>
        <p:spPr>
          <a:xfrm>
            <a:off x="4194720" y="297468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C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3" name=""/>
          <p:cNvSpPr txBox="1"/>
          <p:nvPr/>
        </p:nvSpPr>
        <p:spPr>
          <a:xfrm>
            <a:off x="4344120" y="299160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ấ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4" name=""/>
          <p:cNvSpPr txBox="1"/>
          <p:nvPr/>
        </p:nvSpPr>
        <p:spPr>
          <a:xfrm>
            <a:off x="4472640" y="2974680"/>
            <a:ext cx="5752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u hình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5" name=""/>
          <p:cNvSpPr txBox="1"/>
          <p:nvPr/>
        </p:nvSpPr>
        <p:spPr>
          <a:xfrm>
            <a:off x="6763320" y="2974680"/>
            <a:ext cx="8542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Precision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6" name=""/>
          <p:cNvSpPr txBox="1"/>
          <p:nvPr/>
        </p:nvSpPr>
        <p:spPr>
          <a:xfrm>
            <a:off x="7938720" y="2974680"/>
            <a:ext cx="5554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Recall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7" name=""/>
          <p:cNvSpPr txBox="1"/>
          <p:nvPr/>
        </p:nvSpPr>
        <p:spPr>
          <a:xfrm>
            <a:off x="8775000" y="2991600"/>
            <a:ext cx="27792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Độ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8" name=""/>
          <p:cNvSpPr txBox="1"/>
          <p:nvPr/>
        </p:nvSpPr>
        <p:spPr>
          <a:xfrm>
            <a:off x="9078120" y="297468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 </a:t>
            </a:r>
            <a:r>
              <a:rPr b="1" lang="en-US" sz="1650" spc="-1" strike="noStrike">
                <a:solidFill>
                  <a:srgbClr val="fff8e1"/>
                </a:solidFill>
                <a:latin typeface="Lato"/>
                <a:ea typeface="Lato"/>
              </a:rPr>
              <a:t>tr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9" name=""/>
          <p:cNvSpPr txBox="1"/>
          <p:nvPr/>
        </p:nvSpPr>
        <p:spPr>
          <a:xfrm>
            <a:off x="9324720" y="299160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fff8e1"/>
                </a:solidFill>
                <a:latin typeface="Arial"/>
                <a:ea typeface="Arial"/>
              </a:rPr>
              <a:t>ễ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0" name=""/>
          <p:cNvSpPr txBox="1"/>
          <p:nvPr/>
        </p:nvSpPr>
        <p:spPr>
          <a:xfrm>
            <a:off x="2738880" y="3345840"/>
            <a:ext cx="11786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B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— LLM thu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1" name=""/>
          <p:cNvSpPr txBox="1"/>
          <p:nvPr/>
        </p:nvSpPr>
        <p:spPr>
          <a:xfrm>
            <a:off x="4020120" y="336312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ầ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2" name=""/>
          <p:cNvSpPr txBox="1"/>
          <p:nvPr/>
        </p:nvSpPr>
        <p:spPr>
          <a:xfrm>
            <a:off x="4148280" y="3345840"/>
            <a:ext cx="8938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n (không l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3" name=""/>
          <p:cNvSpPr txBox="1"/>
          <p:nvPr/>
        </p:nvSpPr>
        <p:spPr>
          <a:xfrm>
            <a:off x="5147640" y="336312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ọ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4" name=""/>
          <p:cNvSpPr txBox="1"/>
          <p:nvPr/>
        </p:nvSpPr>
        <p:spPr>
          <a:xfrm>
            <a:off x="5276160" y="3345840"/>
            <a:ext cx="9288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c/RAG/ch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5" name=""/>
          <p:cNvSpPr txBox="1"/>
          <p:nvPr/>
        </p:nvSpPr>
        <p:spPr>
          <a:xfrm>
            <a:off x="6254640" y="336312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ắ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6" name=""/>
          <p:cNvSpPr txBox="1"/>
          <p:nvPr/>
        </p:nvSpPr>
        <p:spPr>
          <a:xfrm>
            <a:off x="6383160" y="3345840"/>
            <a:ext cx="20916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n)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7" name=""/>
          <p:cNvSpPr txBox="1"/>
          <p:nvPr/>
        </p:nvSpPr>
        <p:spPr>
          <a:xfrm>
            <a:off x="6763320" y="3345840"/>
            <a:ext cx="5342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0.508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8" name=""/>
          <p:cNvSpPr txBox="1"/>
          <p:nvPr/>
        </p:nvSpPr>
        <p:spPr>
          <a:xfrm>
            <a:off x="7938720" y="3345840"/>
            <a:ext cx="5342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0.867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9" name=""/>
          <p:cNvSpPr txBox="1"/>
          <p:nvPr/>
        </p:nvSpPr>
        <p:spPr>
          <a:xfrm>
            <a:off x="8775000" y="3345840"/>
            <a:ext cx="55692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6.50 s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0" name=""/>
          <p:cNvSpPr txBox="1"/>
          <p:nvPr/>
        </p:nvSpPr>
        <p:spPr>
          <a:xfrm>
            <a:off x="2738880" y="3727080"/>
            <a:ext cx="6836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C</a:t>
            </a:r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 — + c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1" name=""/>
          <p:cNvSpPr txBox="1"/>
          <p:nvPr/>
        </p:nvSpPr>
        <p:spPr>
          <a:xfrm>
            <a:off x="3472560" y="3744360"/>
            <a:ext cx="209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Arial"/>
                <a:ea typeface="Arial"/>
              </a:rPr>
              <a:t>ổ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2" name=""/>
          <p:cNvSpPr txBox="1"/>
          <p:nvPr/>
        </p:nvSpPr>
        <p:spPr>
          <a:xfrm>
            <a:off x="3601080" y="3727080"/>
            <a:ext cx="103860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ng Welford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3" name=""/>
          <p:cNvSpPr txBox="1"/>
          <p:nvPr/>
        </p:nvSpPr>
        <p:spPr>
          <a:xfrm>
            <a:off x="6763320" y="3727080"/>
            <a:ext cx="5342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0.627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4" name=""/>
          <p:cNvSpPr txBox="1"/>
          <p:nvPr/>
        </p:nvSpPr>
        <p:spPr>
          <a:xfrm>
            <a:off x="7938720" y="3727080"/>
            <a:ext cx="53424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50" spc="-1" strike="noStrike">
                <a:solidFill>
                  <a:srgbClr val="455a64"/>
                </a:solidFill>
                <a:latin typeface="Lato"/>
                <a:ea typeface="Lato"/>
              </a:rPr>
              <a:t>0.493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5" name=""/>
          <p:cNvSpPr/>
          <p:nvPr/>
        </p:nvSpPr>
        <p:spPr>
          <a:xfrm>
            <a:off x="819000" y="4429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3" y="179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4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76" name=""/>
          <p:cNvSpPr txBox="1"/>
          <p:nvPr/>
        </p:nvSpPr>
        <p:spPr>
          <a:xfrm>
            <a:off x="8775000" y="3727080"/>
            <a:ext cx="555480" cy="25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50" spc="-1" strike="noStrike">
                <a:solidFill>
                  <a:srgbClr val="c62828"/>
                </a:solidFill>
                <a:latin typeface="Lato"/>
                <a:ea typeface="Lato"/>
              </a:rPr>
              <a:t>0.59 s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7" name=""/>
          <p:cNvSpPr txBox="1"/>
          <p:nvPr/>
        </p:nvSpPr>
        <p:spPr>
          <a:xfrm>
            <a:off x="1047600" y="43084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8" name=""/>
          <p:cNvSpPr txBox="1"/>
          <p:nvPr/>
        </p:nvSpPr>
        <p:spPr>
          <a:xfrm>
            <a:off x="122220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9" name=""/>
          <p:cNvSpPr txBox="1"/>
          <p:nvPr/>
        </p:nvSpPr>
        <p:spPr>
          <a:xfrm>
            <a:off x="1385640" y="4308480"/>
            <a:ext cx="3062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Welford: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precision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0.508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0" name=""/>
          <p:cNvSpPr txBox="1"/>
          <p:nvPr/>
        </p:nvSpPr>
        <p:spPr>
          <a:xfrm>
            <a:off x="4760280" y="432900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1" name=""/>
          <p:cNvSpPr txBox="1"/>
          <p:nvPr/>
        </p:nvSpPr>
        <p:spPr>
          <a:xfrm>
            <a:off x="5019840" y="4308480"/>
            <a:ext cx="753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0.627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,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2" name=""/>
          <p:cNvSpPr txBox="1"/>
          <p:nvPr/>
        </p:nvSpPr>
        <p:spPr>
          <a:xfrm>
            <a:off x="5836320" y="432900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3" name=""/>
          <p:cNvSpPr txBox="1"/>
          <p:nvPr/>
        </p:nvSpPr>
        <p:spPr>
          <a:xfrm>
            <a:off x="6135840" y="43084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4" name=""/>
          <p:cNvSpPr txBox="1"/>
          <p:nvPr/>
        </p:nvSpPr>
        <p:spPr>
          <a:xfrm>
            <a:off x="641124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ễ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5" name=""/>
          <p:cNvSpPr txBox="1"/>
          <p:nvPr/>
        </p:nvSpPr>
        <p:spPr>
          <a:xfrm>
            <a:off x="6561000" y="4308480"/>
            <a:ext cx="257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6" name=""/>
          <p:cNvSpPr txBox="1"/>
          <p:nvPr/>
        </p:nvSpPr>
        <p:spPr>
          <a:xfrm>
            <a:off x="684468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7" name=""/>
          <p:cNvSpPr txBox="1"/>
          <p:nvPr/>
        </p:nvSpPr>
        <p:spPr>
          <a:xfrm>
            <a:off x="6994440" y="4308480"/>
            <a:ext cx="822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 ~11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8" name=""/>
          <p:cNvSpPr txBox="1"/>
          <p:nvPr/>
        </p:nvSpPr>
        <p:spPr>
          <a:xfrm>
            <a:off x="788796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9" name=""/>
          <p:cNvSpPr txBox="1"/>
          <p:nvPr/>
        </p:nvSpPr>
        <p:spPr>
          <a:xfrm>
            <a:off x="8037720" y="4308480"/>
            <a:ext cx="462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0" name=""/>
          <p:cNvSpPr txBox="1"/>
          <p:nvPr/>
        </p:nvSpPr>
        <p:spPr>
          <a:xfrm>
            <a:off x="852804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1" name=""/>
          <p:cNvSpPr txBox="1"/>
          <p:nvPr/>
        </p:nvSpPr>
        <p:spPr>
          <a:xfrm>
            <a:off x="8677440" y="4308480"/>
            <a:ext cx="464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ánh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2" name=""/>
          <p:cNvSpPr txBox="1"/>
          <p:nvPr/>
        </p:nvSpPr>
        <p:spPr>
          <a:xfrm>
            <a:off x="9173880" y="432900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3" name=""/>
          <p:cNvSpPr txBox="1"/>
          <p:nvPr/>
        </p:nvSpPr>
        <p:spPr>
          <a:xfrm>
            <a:off x="9473040" y="4308480"/>
            <a:ext cx="703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có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4" name=""/>
          <p:cNvSpPr txBox="1"/>
          <p:nvPr/>
        </p:nvSpPr>
        <p:spPr>
          <a:xfrm>
            <a:off x="1022220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5" name=""/>
          <p:cNvSpPr txBox="1"/>
          <p:nvPr/>
        </p:nvSpPr>
        <p:spPr>
          <a:xfrm>
            <a:off x="10371960" y="43084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6" name=""/>
          <p:cNvSpPr txBox="1"/>
          <p:nvPr/>
        </p:nvSpPr>
        <p:spPr>
          <a:xfrm>
            <a:off x="1043172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7" name=""/>
          <p:cNvSpPr txBox="1"/>
          <p:nvPr/>
        </p:nvSpPr>
        <p:spPr>
          <a:xfrm>
            <a:off x="10581120" y="4308480"/>
            <a:ext cx="508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ích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8" name=""/>
          <p:cNvSpPr txBox="1"/>
          <p:nvPr/>
        </p:nvSpPr>
        <p:spPr>
          <a:xfrm>
            <a:off x="11131920" y="4329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9" name=""/>
          <p:cNvSpPr txBox="1"/>
          <p:nvPr/>
        </p:nvSpPr>
        <p:spPr>
          <a:xfrm>
            <a:off x="11306520" y="43084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0" name=""/>
          <p:cNvSpPr/>
          <p:nvPr/>
        </p:nvSpPr>
        <p:spPr>
          <a:xfrm>
            <a:off x="819000" y="5171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4" y="193"/>
                  <a:pt x="203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6"/>
                </a:cubicBezTo>
                <a:cubicBezTo>
                  <a:pt x="214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01" name=""/>
          <p:cNvSpPr txBox="1"/>
          <p:nvPr/>
        </p:nvSpPr>
        <p:spPr>
          <a:xfrm>
            <a:off x="1047600" y="4641840"/>
            <a:ext cx="639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recall.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2" name=""/>
          <p:cNvSpPr txBox="1"/>
          <p:nvPr/>
        </p:nvSpPr>
        <p:spPr>
          <a:xfrm>
            <a:off x="1047600" y="5051520"/>
            <a:ext cx="1962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McNemar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(B vs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3" name=""/>
          <p:cNvSpPr txBox="1"/>
          <p:nvPr/>
        </p:nvSpPr>
        <p:spPr>
          <a:xfrm>
            <a:off x="316584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4" name=""/>
          <p:cNvSpPr txBox="1"/>
          <p:nvPr/>
        </p:nvSpPr>
        <p:spPr>
          <a:xfrm>
            <a:off x="3315600" y="50515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5" name=""/>
          <p:cNvSpPr txBox="1"/>
          <p:nvPr/>
        </p:nvSpPr>
        <p:spPr>
          <a:xfrm>
            <a:off x="357804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6" name=""/>
          <p:cNvSpPr txBox="1"/>
          <p:nvPr/>
        </p:nvSpPr>
        <p:spPr>
          <a:xfrm>
            <a:off x="3727800" y="5051520"/>
            <a:ext cx="1183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hình có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7" name=""/>
          <p:cNvSpPr txBox="1"/>
          <p:nvPr/>
        </p:nvSpPr>
        <p:spPr>
          <a:xfrm>
            <a:off x="498528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8" name=""/>
          <p:cNvSpPr txBox="1"/>
          <p:nvPr/>
        </p:nvSpPr>
        <p:spPr>
          <a:xfrm>
            <a:off x="5134680" y="5051520"/>
            <a:ext cx="3133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ng):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p &lt; 0.001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(138 phán quy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9" name=""/>
          <p:cNvSpPr txBox="1"/>
          <p:nvPr/>
        </p:nvSpPr>
        <p:spPr>
          <a:xfrm>
            <a:off x="852156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0" name=""/>
          <p:cNvSpPr txBox="1"/>
          <p:nvPr/>
        </p:nvSpPr>
        <p:spPr>
          <a:xfrm>
            <a:off x="8671320" y="5051520"/>
            <a:ext cx="291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1" name=""/>
          <p:cNvSpPr txBox="1"/>
          <p:nvPr/>
        </p:nvSpPr>
        <p:spPr>
          <a:xfrm>
            <a:off x="898560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2" name=""/>
          <p:cNvSpPr txBox="1"/>
          <p:nvPr/>
        </p:nvSpPr>
        <p:spPr>
          <a:xfrm>
            <a:off x="9135360" y="50515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3" name=""/>
          <p:cNvSpPr txBox="1"/>
          <p:nvPr/>
        </p:nvSpPr>
        <p:spPr>
          <a:xfrm>
            <a:off x="9299160" y="507168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đồ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4" name=""/>
          <p:cNvSpPr txBox="1"/>
          <p:nvPr/>
        </p:nvSpPr>
        <p:spPr>
          <a:xfrm>
            <a:off x="9598320" y="5051520"/>
            <a:ext cx="535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5" name=""/>
          <p:cNvSpPr txBox="1"/>
          <p:nvPr/>
        </p:nvSpPr>
        <p:spPr>
          <a:xfrm>
            <a:off x="1016136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6" name=""/>
          <p:cNvSpPr txBox="1"/>
          <p:nvPr/>
        </p:nvSpPr>
        <p:spPr>
          <a:xfrm>
            <a:off x="10311120" y="5051520"/>
            <a:ext cx="470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chi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7" name=""/>
          <p:cNvSpPr txBox="1"/>
          <p:nvPr/>
        </p:nvSpPr>
        <p:spPr>
          <a:xfrm>
            <a:off x="10827360" y="50716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8" name=""/>
          <p:cNvSpPr txBox="1"/>
          <p:nvPr/>
        </p:nvSpPr>
        <p:spPr>
          <a:xfrm>
            <a:off x="10977120" y="5051520"/>
            <a:ext cx="262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9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0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1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2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3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4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5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6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7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8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9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0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1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2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3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17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7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38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39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0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1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2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3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4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5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6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7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8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9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0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1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2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3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4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5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6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7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8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9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0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1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2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3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4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5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6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7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8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9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0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1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2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3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4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5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6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7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8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9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0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1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2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3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4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5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6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7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8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9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0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1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2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3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4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5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6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7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8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9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0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1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2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3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4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5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6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7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8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9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0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1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2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3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4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5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6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7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8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9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0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1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2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3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4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5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6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7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8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9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0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1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2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3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4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5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6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7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8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9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0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1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2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3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4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5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6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7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8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9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0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1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2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3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4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5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6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7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8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9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0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1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2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3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4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5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6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7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8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9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0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1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2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3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4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5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6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7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8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9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0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1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2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3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4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5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6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7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8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9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0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1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2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3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4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5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6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7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8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9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0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1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2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3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4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5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6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7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8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9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0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1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2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3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4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5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6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7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8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9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0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1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2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3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4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5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6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7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8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9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0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1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2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3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4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5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6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7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8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9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0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1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2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3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4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5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6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7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8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9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0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1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2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3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4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5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6" name=""/>
          <p:cNvSpPr txBox="1"/>
          <p:nvPr/>
        </p:nvSpPr>
        <p:spPr>
          <a:xfrm>
            <a:off x="4304520" y="184320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7" name=""/>
          <p:cNvSpPr txBox="1"/>
          <p:nvPr/>
        </p:nvSpPr>
        <p:spPr>
          <a:xfrm>
            <a:off x="4597200" y="18734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ạ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8" name=""/>
          <p:cNvSpPr txBox="1"/>
          <p:nvPr/>
        </p:nvSpPr>
        <p:spPr>
          <a:xfrm>
            <a:off x="4815720" y="1843200"/>
            <a:ext cx="6894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 ch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9" name=""/>
          <p:cNvSpPr txBox="1"/>
          <p:nvPr/>
        </p:nvSpPr>
        <p:spPr>
          <a:xfrm>
            <a:off x="5546520" y="18734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ế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0" name=""/>
          <p:cNvSpPr txBox="1"/>
          <p:nvPr/>
        </p:nvSpPr>
        <p:spPr>
          <a:xfrm>
            <a:off x="5765040" y="1843200"/>
            <a:ext cx="12488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 </a:t>
            </a:r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(nêu th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1" name=""/>
          <p:cNvSpPr txBox="1"/>
          <p:nvPr/>
        </p:nvSpPr>
        <p:spPr>
          <a:xfrm>
            <a:off x="7112160" y="18734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ẳ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2" name=""/>
          <p:cNvSpPr/>
          <p:nvPr/>
        </p:nvSpPr>
        <p:spPr>
          <a:xfrm>
            <a:off x="819000" y="2695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6"/>
                  <a:pt x="192" y="25"/>
                  <a:pt x="203" y="36"/>
                </a:cubicBezTo>
                <a:cubicBezTo>
                  <a:pt x="214" y="47"/>
                  <a:pt x="223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63" name=""/>
          <p:cNvSpPr txBox="1"/>
          <p:nvPr/>
        </p:nvSpPr>
        <p:spPr>
          <a:xfrm>
            <a:off x="7330680" y="1843200"/>
            <a:ext cx="5083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ng)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4" name=""/>
          <p:cNvSpPr txBox="1"/>
          <p:nvPr/>
        </p:nvSpPr>
        <p:spPr>
          <a:xfrm>
            <a:off x="1047600" y="2575080"/>
            <a:ext cx="642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Ánh x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5" name=""/>
          <p:cNvSpPr txBox="1"/>
          <p:nvPr/>
        </p:nvSpPr>
        <p:spPr>
          <a:xfrm>
            <a:off x="176688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6" name=""/>
          <p:cNvSpPr txBox="1"/>
          <p:nvPr/>
        </p:nvSpPr>
        <p:spPr>
          <a:xfrm>
            <a:off x="1916280" y="2575080"/>
            <a:ext cx="1197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ATT&amp;CK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7" name=""/>
          <p:cNvSpPr txBox="1"/>
          <p:nvPr/>
        </p:nvSpPr>
        <p:spPr>
          <a:xfrm>
            <a:off x="317628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8" name=""/>
          <p:cNvSpPr txBox="1"/>
          <p:nvPr/>
        </p:nvSpPr>
        <p:spPr>
          <a:xfrm>
            <a:off x="3367440" y="2575080"/>
            <a:ext cx="3838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flow-only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là bài toán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ill-posed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 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9" name=""/>
          <p:cNvSpPr txBox="1"/>
          <p:nvPr/>
        </p:nvSpPr>
        <p:spPr>
          <a:xfrm>
            <a:off x="762588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0" name=""/>
          <p:cNvSpPr txBox="1"/>
          <p:nvPr/>
        </p:nvSpPr>
        <p:spPr>
          <a:xfrm>
            <a:off x="7775640" y="2575080"/>
            <a:ext cx="479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qu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1" name=""/>
          <p:cNvSpPr txBox="1"/>
          <p:nvPr/>
        </p:nvSpPr>
        <p:spPr>
          <a:xfrm>
            <a:off x="828504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2" name=""/>
          <p:cNvSpPr txBox="1"/>
          <p:nvPr/>
        </p:nvSpPr>
        <p:spPr>
          <a:xfrm>
            <a:off x="8434440" y="25750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3" name=""/>
          <p:cNvSpPr txBox="1"/>
          <p:nvPr/>
        </p:nvSpPr>
        <p:spPr>
          <a:xfrm>
            <a:off x="849420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4" name=""/>
          <p:cNvSpPr txBox="1"/>
          <p:nvPr/>
        </p:nvSpPr>
        <p:spPr>
          <a:xfrm>
            <a:off x="8668440" y="2575080"/>
            <a:ext cx="326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5" name=""/>
          <p:cNvSpPr txBox="1"/>
          <p:nvPr/>
        </p:nvSpPr>
        <p:spPr>
          <a:xfrm>
            <a:off x="901872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6" name=""/>
          <p:cNvSpPr txBox="1"/>
          <p:nvPr/>
        </p:nvSpPr>
        <p:spPr>
          <a:xfrm>
            <a:off x="9168480" y="2575080"/>
            <a:ext cx="1757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có payload/ng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7" name=""/>
          <p:cNvSpPr txBox="1"/>
          <p:nvPr/>
        </p:nvSpPr>
        <p:spPr>
          <a:xfrm>
            <a:off x="1102968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8" name=""/>
          <p:cNvSpPr txBox="1"/>
          <p:nvPr/>
        </p:nvSpPr>
        <p:spPr>
          <a:xfrm>
            <a:off x="1047600" y="2908440"/>
            <a:ext cx="406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9" name=""/>
          <p:cNvSpPr txBox="1"/>
          <p:nvPr/>
        </p:nvSpPr>
        <p:spPr>
          <a:xfrm>
            <a:off x="1485360" y="2928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0" name=""/>
          <p:cNvSpPr txBox="1"/>
          <p:nvPr/>
        </p:nvSpPr>
        <p:spPr>
          <a:xfrm>
            <a:off x="1566000" y="2908440"/>
            <a:ext cx="9806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a, không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1" name=""/>
          <p:cNvSpPr txBox="1"/>
          <p:nvPr/>
        </p:nvSpPr>
        <p:spPr>
          <a:xfrm>
            <a:off x="2616480" y="2928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2" name=""/>
          <p:cNvSpPr txBox="1"/>
          <p:nvPr/>
        </p:nvSpPr>
        <p:spPr>
          <a:xfrm>
            <a:off x="2790720" y="2908440"/>
            <a:ext cx="1377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telemetry lu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3" name=""/>
          <p:cNvSpPr txBox="1"/>
          <p:nvPr/>
        </p:nvSpPr>
        <p:spPr>
          <a:xfrm>
            <a:off x="4309560" y="2928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ồ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4" name=""/>
          <p:cNvSpPr txBox="1"/>
          <p:nvPr/>
        </p:nvSpPr>
        <p:spPr>
          <a:xfrm>
            <a:off x="4458960" y="2908440"/>
            <a:ext cx="69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thu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5" name=""/>
          <p:cNvSpPr txBox="1"/>
          <p:nvPr/>
        </p:nvSpPr>
        <p:spPr>
          <a:xfrm>
            <a:off x="5210280" y="29286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6" name=""/>
          <p:cNvSpPr/>
          <p:nvPr/>
        </p:nvSpPr>
        <p:spPr>
          <a:xfrm>
            <a:off x="819000" y="3438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87" name=""/>
          <p:cNvSpPr txBox="1"/>
          <p:nvPr/>
        </p:nvSpPr>
        <p:spPr>
          <a:xfrm>
            <a:off x="5360040" y="29084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8" name=""/>
          <p:cNvSpPr txBox="1"/>
          <p:nvPr/>
        </p:nvSpPr>
        <p:spPr>
          <a:xfrm>
            <a:off x="1047600" y="3317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9" name=""/>
          <p:cNvSpPr txBox="1"/>
          <p:nvPr/>
        </p:nvSpPr>
        <p:spPr>
          <a:xfrm>
            <a:off x="122220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0" name=""/>
          <p:cNvSpPr txBox="1"/>
          <p:nvPr/>
        </p:nvSpPr>
        <p:spPr>
          <a:xfrm>
            <a:off x="1410480" y="331776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1" name=""/>
          <p:cNvSpPr txBox="1"/>
          <p:nvPr/>
        </p:nvSpPr>
        <p:spPr>
          <a:xfrm>
            <a:off x="169524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2" name=""/>
          <p:cNvSpPr txBox="1"/>
          <p:nvPr/>
        </p:nvSpPr>
        <p:spPr>
          <a:xfrm>
            <a:off x="1844640" y="3317760"/>
            <a:ext cx="1015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 APT nh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3" name=""/>
          <p:cNvSpPr txBox="1"/>
          <p:nvPr/>
        </p:nvSpPr>
        <p:spPr>
          <a:xfrm>
            <a:off x="295560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4" name=""/>
          <p:cNvSpPr txBox="1"/>
          <p:nvPr/>
        </p:nvSpPr>
        <p:spPr>
          <a:xfrm>
            <a:off x="3118680" y="3317760"/>
            <a:ext cx="685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(n=3)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5" name=""/>
          <p:cNvSpPr txBox="1"/>
          <p:nvPr/>
        </p:nvSpPr>
        <p:spPr>
          <a:xfrm>
            <a:off x="3871080" y="333828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6" name=""/>
          <p:cNvSpPr txBox="1"/>
          <p:nvPr/>
        </p:nvSpPr>
        <p:spPr>
          <a:xfrm>
            <a:off x="4130640" y="3317760"/>
            <a:ext cx="668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báo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7" name=""/>
          <p:cNvSpPr txBox="1"/>
          <p:nvPr/>
        </p:nvSpPr>
        <p:spPr>
          <a:xfrm>
            <a:off x="483804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8" name=""/>
          <p:cNvSpPr txBox="1"/>
          <p:nvPr/>
        </p:nvSpPr>
        <p:spPr>
          <a:xfrm>
            <a:off x="4987440" y="3317760"/>
            <a:ext cx="2196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Wilson 95% CI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,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9" name=""/>
          <p:cNvSpPr txBox="1"/>
          <p:nvPr/>
        </p:nvSpPr>
        <p:spPr>
          <a:xfrm>
            <a:off x="737208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0" name=""/>
          <p:cNvSpPr txBox="1"/>
          <p:nvPr/>
        </p:nvSpPr>
        <p:spPr>
          <a:xfrm>
            <a:off x="7521480" y="3317760"/>
            <a:ext cx="340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d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1" name=""/>
          <p:cNvSpPr txBox="1"/>
          <p:nvPr/>
        </p:nvSpPr>
        <p:spPr>
          <a:xfrm>
            <a:off x="788112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2" name=""/>
          <p:cNvSpPr txBox="1"/>
          <p:nvPr/>
        </p:nvSpPr>
        <p:spPr>
          <a:xfrm>
            <a:off x="8058960" y="3317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3" name=""/>
          <p:cNvSpPr txBox="1"/>
          <p:nvPr/>
        </p:nvSpPr>
        <p:spPr>
          <a:xfrm>
            <a:off x="826920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4" name=""/>
          <p:cNvSpPr txBox="1"/>
          <p:nvPr/>
        </p:nvSpPr>
        <p:spPr>
          <a:xfrm>
            <a:off x="8418960" y="3317760"/>
            <a:ext cx="7887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APT 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5" name=""/>
          <p:cNvSpPr txBox="1"/>
          <p:nvPr/>
        </p:nvSpPr>
        <p:spPr>
          <a:xfrm>
            <a:off x="926460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6" name=""/>
          <p:cNvSpPr txBox="1"/>
          <p:nvPr/>
        </p:nvSpPr>
        <p:spPr>
          <a:xfrm>
            <a:off x="9438840" y="3317760"/>
            <a:ext cx="340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7" name=""/>
          <p:cNvSpPr txBox="1"/>
          <p:nvPr/>
        </p:nvSpPr>
        <p:spPr>
          <a:xfrm>
            <a:off x="979776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8" name=""/>
          <p:cNvSpPr/>
          <p:nvPr/>
        </p:nvSpPr>
        <p:spPr>
          <a:xfrm>
            <a:off x="819000" y="3848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09" name=""/>
          <p:cNvSpPr txBox="1"/>
          <p:nvPr/>
        </p:nvSpPr>
        <p:spPr>
          <a:xfrm>
            <a:off x="9972360" y="3317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0" name=""/>
          <p:cNvSpPr/>
          <p:nvPr/>
        </p:nvSpPr>
        <p:spPr>
          <a:xfrm>
            <a:off x="3019320" y="3752640"/>
            <a:ext cx="1791000" cy="295560"/>
          </a:xfrm>
          <a:custGeom>
            <a:avLst/>
            <a:gdLst/>
            <a:ahLst/>
            <a:rect l="0" t="0" r="r" b="b"/>
            <a:pathLst>
              <a:path w="4975" h="821">
                <a:moveTo>
                  <a:pt x="0" y="0"/>
                </a:moveTo>
                <a:lnTo>
                  <a:pt x="4975" y="0"/>
                </a:lnTo>
                <a:lnTo>
                  <a:pt x="497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6a7a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11" name=""/>
          <p:cNvSpPr txBox="1"/>
          <p:nvPr/>
        </p:nvSpPr>
        <p:spPr>
          <a:xfrm>
            <a:off x="1047600" y="3727440"/>
            <a:ext cx="1740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Enforcement là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2" name=""/>
          <p:cNvSpPr txBox="1"/>
          <p:nvPr/>
        </p:nvSpPr>
        <p:spPr>
          <a:xfrm>
            <a:off x="3057840" y="3768120"/>
            <a:ext cx="16970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00" spc="-1" strike="noStrike">
                <a:solidFill>
                  <a:srgbClr val="fff8e1"/>
                </a:solidFill>
                <a:latin typeface="RobotoMono"/>
                <a:ea typeface="RobotoMono"/>
              </a:rPr>
              <a:t>[FIREWALL MOCK]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3" name=""/>
          <p:cNvSpPr txBox="1"/>
          <p:nvPr/>
        </p:nvSpPr>
        <p:spPr>
          <a:xfrm>
            <a:off x="4839120" y="3727440"/>
            <a:ext cx="1688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(ghi audit) —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4" name=""/>
          <p:cNvSpPr txBox="1"/>
          <p:nvPr/>
        </p:nvSpPr>
        <p:spPr>
          <a:xfrm>
            <a:off x="6699960" y="3747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5" name=""/>
          <p:cNvSpPr txBox="1"/>
          <p:nvPr/>
        </p:nvSpPr>
        <p:spPr>
          <a:xfrm>
            <a:off x="6877440" y="3727440"/>
            <a:ext cx="761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thi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6" name=""/>
          <p:cNvSpPr txBox="1"/>
          <p:nvPr/>
        </p:nvSpPr>
        <p:spPr>
          <a:xfrm>
            <a:off x="7707600" y="3747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7" name=""/>
          <p:cNvSpPr txBox="1"/>
          <p:nvPr/>
        </p:nvSpPr>
        <p:spPr>
          <a:xfrm>
            <a:off x="7857000" y="3727440"/>
            <a:ext cx="1328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giao cho lu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8" name=""/>
          <p:cNvSpPr txBox="1"/>
          <p:nvPr/>
        </p:nvSpPr>
        <p:spPr>
          <a:xfrm>
            <a:off x="9293040" y="3747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9" name=""/>
          <p:cNvSpPr txBox="1"/>
          <p:nvPr/>
        </p:nvSpPr>
        <p:spPr>
          <a:xfrm>
            <a:off x="9442800" y="3727440"/>
            <a:ext cx="1078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ACTIVE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0" name=""/>
          <p:cNvSpPr txBox="1"/>
          <p:nvPr/>
        </p:nvSpPr>
        <p:spPr>
          <a:xfrm>
            <a:off x="10605240" y="37479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1" name=""/>
          <p:cNvSpPr txBox="1"/>
          <p:nvPr/>
        </p:nvSpPr>
        <p:spPr>
          <a:xfrm>
            <a:off x="10779480" y="3727440"/>
            <a:ext cx="583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Tier-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2" name=""/>
          <p:cNvSpPr txBox="1"/>
          <p:nvPr/>
        </p:nvSpPr>
        <p:spPr>
          <a:xfrm>
            <a:off x="1047600" y="4060800"/>
            <a:ext cx="529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1;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3" name=""/>
          <p:cNvSpPr txBox="1"/>
          <p:nvPr/>
        </p:nvSpPr>
        <p:spPr>
          <a:xfrm>
            <a:off x="1614600" y="40813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ư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4" name=""/>
          <p:cNvSpPr txBox="1"/>
          <p:nvPr/>
        </p:nvSpPr>
        <p:spPr>
          <a:xfrm>
            <a:off x="1792080" y="40608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 tích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5" name=""/>
          <p:cNvSpPr txBox="1"/>
          <p:nvPr/>
        </p:nvSpPr>
        <p:spPr>
          <a:xfrm>
            <a:off x="2655360" y="40813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6" name=""/>
          <p:cNvSpPr txBox="1"/>
          <p:nvPr/>
        </p:nvSpPr>
        <p:spPr>
          <a:xfrm>
            <a:off x="2829600" y="4060800"/>
            <a:ext cx="1174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 firewall s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7" name=""/>
          <p:cNvSpPr txBox="1"/>
          <p:nvPr/>
        </p:nvSpPr>
        <p:spPr>
          <a:xfrm>
            <a:off x="4130640" y="40813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8" name=""/>
          <p:cNvSpPr txBox="1"/>
          <p:nvPr/>
        </p:nvSpPr>
        <p:spPr>
          <a:xfrm>
            <a:off x="4280400" y="4060800"/>
            <a:ext cx="464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xu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9" name=""/>
          <p:cNvSpPr txBox="1"/>
          <p:nvPr/>
        </p:nvSpPr>
        <p:spPr>
          <a:xfrm>
            <a:off x="4776120" y="40813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0" name=""/>
          <p:cNvSpPr/>
          <p:nvPr/>
        </p:nvSpPr>
        <p:spPr>
          <a:xfrm>
            <a:off x="819000" y="45907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6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31" name=""/>
          <p:cNvSpPr txBox="1"/>
          <p:nvPr/>
        </p:nvSpPr>
        <p:spPr>
          <a:xfrm>
            <a:off x="4925880" y="40608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2" name=""/>
          <p:cNvSpPr txBox="1"/>
          <p:nvPr/>
        </p:nvSpPr>
        <p:spPr>
          <a:xfrm>
            <a:off x="1047600" y="4470480"/>
            <a:ext cx="4146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Dataset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CSE-CIC-IDS2018 (2018) —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3" name=""/>
          <p:cNvSpPr txBox="1"/>
          <p:nvPr/>
        </p:nvSpPr>
        <p:spPr>
          <a:xfrm>
            <a:off x="5560200" y="4490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4" name=""/>
          <p:cNvSpPr txBox="1"/>
          <p:nvPr/>
        </p:nvSpPr>
        <p:spPr>
          <a:xfrm>
            <a:off x="5709960" y="4470480"/>
            <a:ext cx="340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d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5" name=""/>
          <p:cNvSpPr txBox="1"/>
          <p:nvPr/>
        </p:nvSpPr>
        <p:spPr>
          <a:xfrm>
            <a:off x="6069600" y="4490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6" name=""/>
          <p:cNvSpPr txBox="1"/>
          <p:nvPr/>
        </p:nvSpPr>
        <p:spPr>
          <a:xfrm>
            <a:off x="6247080" y="44704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7" name=""/>
          <p:cNvSpPr txBox="1"/>
          <p:nvPr/>
        </p:nvSpPr>
        <p:spPr>
          <a:xfrm>
            <a:off x="6457680" y="4490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8" name=""/>
          <p:cNvSpPr txBox="1"/>
          <p:nvPr/>
        </p:nvSpPr>
        <p:spPr>
          <a:xfrm>
            <a:off x="6607080" y="4470480"/>
            <a:ext cx="406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9" name=""/>
          <p:cNvSpPr txBox="1"/>
          <p:nvPr/>
        </p:nvSpPr>
        <p:spPr>
          <a:xfrm>
            <a:off x="7031520" y="4490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0" name=""/>
          <p:cNvSpPr txBox="1"/>
          <p:nvPr/>
        </p:nvSpPr>
        <p:spPr>
          <a:xfrm>
            <a:off x="7181280" y="44704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1" name=""/>
          <p:cNvSpPr txBox="1"/>
          <p:nvPr/>
        </p:nvSpPr>
        <p:spPr>
          <a:xfrm>
            <a:off x="7316280" y="4490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2" name=""/>
          <p:cNvSpPr txBox="1"/>
          <p:nvPr/>
        </p:nvSpPr>
        <p:spPr>
          <a:xfrm>
            <a:off x="7466040" y="4470480"/>
            <a:ext cx="334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e d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3" name=""/>
          <p:cNvSpPr txBox="1"/>
          <p:nvPr/>
        </p:nvSpPr>
        <p:spPr>
          <a:xfrm>
            <a:off x="7817760" y="4490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4" name=""/>
          <p:cNvSpPr txBox="1"/>
          <p:nvPr/>
        </p:nvSpPr>
        <p:spPr>
          <a:xfrm>
            <a:off x="7967160" y="4470480"/>
            <a:ext cx="390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5" name=""/>
          <p:cNvSpPr txBox="1"/>
          <p:nvPr/>
        </p:nvSpPr>
        <p:spPr>
          <a:xfrm>
            <a:off x="8379720" y="4490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6" name=""/>
          <p:cNvSpPr txBox="1"/>
          <p:nvPr/>
        </p:nvSpPr>
        <p:spPr>
          <a:xfrm>
            <a:off x="8553960" y="4470480"/>
            <a:ext cx="261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7" name=""/>
          <p:cNvSpPr txBox="1"/>
          <p:nvPr/>
        </p:nvSpPr>
        <p:spPr>
          <a:xfrm>
            <a:off x="8838720" y="4490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8" name=""/>
          <p:cNvSpPr txBox="1"/>
          <p:nvPr/>
        </p:nvSpPr>
        <p:spPr>
          <a:xfrm>
            <a:off x="9012960" y="44704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9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0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1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2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3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4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5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6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7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8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9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0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1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2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3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18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7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68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69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0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1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2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3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4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5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6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7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8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9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0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1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2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3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4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5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6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7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8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9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0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1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2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3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4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5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6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7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8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9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0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1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2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3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4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5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6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7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8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9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0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1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2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3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4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5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6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7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8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9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0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1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2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3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4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5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6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7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8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9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0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1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2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3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4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5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6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7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8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9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0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1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2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3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4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5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6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7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8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9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0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1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2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3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4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5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6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7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8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9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0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1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2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3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4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5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6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7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8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9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0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1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2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3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4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5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6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7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8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9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0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1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2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3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4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5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6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7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8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9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0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1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2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3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4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5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6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7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8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9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0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1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2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3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4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5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6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7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8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9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0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1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2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3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4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5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6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7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8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9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0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1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2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3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4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5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6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7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8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9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0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1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2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3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4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5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6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7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8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9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0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1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2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3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4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5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6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7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8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9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0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1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2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3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4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5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6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7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8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9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0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1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2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3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4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5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6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7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8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9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0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1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2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3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4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5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6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7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8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9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0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1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2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3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4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5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6" name=""/>
          <p:cNvSpPr txBox="1"/>
          <p:nvPr/>
        </p:nvSpPr>
        <p:spPr>
          <a:xfrm>
            <a:off x="4512600" y="184320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7" name=""/>
          <p:cNvSpPr txBox="1"/>
          <p:nvPr/>
        </p:nvSpPr>
        <p:spPr>
          <a:xfrm>
            <a:off x="4805640" y="1873440"/>
            <a:ext cx="53424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ướ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8" name=""/>
          <p:cNvSpPr txBox="1"/>
          <p:nvPr/>
        </p:nvSpPr>
        <p:spPr>
          <a:xfrm>
            <a:off x="5362560" y="1843200"/>
            <a:ext cx="17060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 phát tri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9" name=""/>
          <p:cNvSpPr txBox="1"/>
          <p:nvPr/>
        </p:nvSpPr>
        <p:spPr>
          <a:xfrm>
            <a:off x="7233480" y="18734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ể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0" name=""/>
          <p:cNvSpPr/>
          <p:nvPr/>
        </p:nvSpPr>
        <p:spPr>
          <a:xfrm>
            <a:off x="819000" y="2695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6"/>
                  <a:pt x="192" y="25"/>
                  <a:pt x="203" y="36"/>
                </a:cubicBezTo>
                <a:cubicBezTo>
                  <a:pt x="214" y="47"/>
                  <a:pt x="223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91" name=""/>
          <p:cNvSpPr txBox="1"/>
          <p:nvPr/>
        </p:nvSpPr>
        <p:spPr>
          <a:xfrm>
            <a:off x="7452000" y="184320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2" name=""/>
          <p:cNvSpPr txBox="1"/>
          <p:nvPr/>
        </p:nvSpPr>
        <p:spPr>
          <a:xfrm>
            <a:off x="1047600" y="2575080"/>
            <a:ext cx="1483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Threat intel 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3" name=""/>
          <p:cNvSpPr txBox="1"/>
          <p:nvPr/>
        </p:nvSpPr>
        <p:spPr>
          <a:xfrm>
            <a:off x="273384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4" name=""/>
          <p:cNvSpPr txBox="1"/>
          <p:nvPr/>
        </p:nvSpPr>
        <p:spPr>
          <a:xfrm>
            <a:off x="2896920" y="2575080"/>
            <a:ext cx="264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i 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5" name=""/>
          <p:cNvSpPr txBox="1"/>
          <p:nvPr/>
        </p:nvSpPr>
        <p:spPr>
          <a:xfrm>
            <a:off x="319464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6" name=""/>
          <p:cNvSpPr txBox="1"/>
          <p:nvPr/>
        </p:nvSpPr>
        <p:spPr>
          <a:xfrm>
            <a:off x="3357720" y="2575080"/>
            <a:ext cx="2646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7" name=""/>
          <p:cNvSpPr txBox="1"/>
          <p:nvPr/>
        </p:nvSpPr>
        <p:spPr>
          <a:xfrm>
            <a:off x="364752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8" name=""/>
          <p:cNvSpPr txBox="1"/>
          <p:nvPr/>
        </p:nvSpPr>
        <p:spPr>
          <a:xfrm>
            <a:off x="3797280" y="2575080"/>
            <a:ext cx="2149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p TTP nhóm APT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9" name=""/>
          <p:cNvSpPr txBox="1"/>
          <p:nvPr/>
        </p:nvSpPr>
        <p:spPr>
          <a:xfrm>
            <a:off x="608328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0" name=""/>
          <p:cNvSpPr txBox="1"/>
          <p:nvPr/>
        </p:nvSpPr>
        <p:spPr>
          <a:xfrm>
            <a:off x="6261120" y="2575080"/>
            <a:ext cx="2703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1" name=""/>
          <p:cNvSpPr txBox="1"/>
          <p:nvPr/>
        </p:nvSpPr>
        <p:spPr>
          <a:xfrm>
            <a:off x="655236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2" name=""/>
          <p:cNvSpPr txBox="1"/>
          <p:nvPr/>
        </p:nvSpPr>
        <p:spPr>
          <a:xfrm>
            <a:off x="6702120" y="2575080"/>
            <a:ext cx="31831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(vd Mustang Panda / PlugX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3" name=""/>
          <p:cNvSpPr txBox="1"/>
          <p:nvPr/>
        </p:nvSpPr>
        <p:spPr>
          <a:xfrm>
            <a:off x="10109160" y="25952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4" name=""/>
          <p:cNvSpPr txBox="1"/>
          <p:nvPr/>
        </p:nvSpPr>
        <p:spPr>
          <a:xfrm>
            <a:off x="10287000" y="2575080"/>
            <a:ext cx="808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MITRE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5" name=""/>
          <p:cNvSpPr/>
          <p:nvPr/>
        </p:nvSpPr>
        <p:spPr>
          <a:xfrm>
            <a:off x="819000" y="3438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06" name=""/>
          <p:cNvSpPr txBox="1"/>
          <p:nvPr/>
        </p:nvSpPr>
        <p:spPr>
          <a:xfrm>
            <a:off x="1047600" y="2908440"/>
            <a:ext cx="1905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G0129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) vào RAG.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7" name=""/>
          <p:cNvSpPr txBox="1"/>
          <p:nvPr/>
        </p:nvSpPr>
        <p:spPr>
          <a:xfrm>
            <a:off x="1047600" y="3317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8" name=""/>
          <p:cNvSpPr txBox="1"/>
          <p:nvPr/>
        </p:nvSpPr>
        <p:spPr>
          <a:xfrm>
            <a:off x="129204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9" name=""/>
          <p:cNvSpPr txBox="1"/>
          <p:nvPr/>
        </p:nvSpPr>
        <p:spPr>
          <a:xfrm>
            <a:off x="1480320" y="3317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0" name=""/>
          <p:cNvSpPr txBox="1"/>
          <p:nvPr/>
        </p:nvSpPr>
        <p:spPr>
          <a:xfrm>
            <a:off x="165420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1" name=""/>
          <p:cNvSpPr txBox="1"/>
          <p:nvPr/>
        </p:nvSpPr>
        <p:spPr>
          <a:xfrm>
            <a:off x="1817280" y="3317760"/>
            <a:ext cx="331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2" name=""/>
          <p:cNvSpPr txBox="1"/>
          <p:nvPr/>
        </p:nvSpPr>
        <p:spPr>
          <a:xfrm>
            <a:off x="217404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3" name=""/>
          <p:cNvSpPr txBox="1"/>
          <p:nvPr/>
        </p:nvSpPr>
        <p:spPr>
          <a:xfrm>
            <a:off x="2337120" y="3317760"/>
            <a:ext cx="630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a-ngu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4" name=""/>
          <p:cNvSpPr txBox="1"/>
          <p:nvPr/>
        </p:nvSpPr>
        <p:spPr>
          <a:xfrm>
            <a:off x="303840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ồ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5" name=""/>
          <p:cNvSpPr txBox="1"/>
          <p:nvPr/>
        </p:nvSpPr>
        <p:spPr>
          <a:xfrm>
            <a:off x="3201840" y="33177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6" name=""/>
          <p:cNvSpPr txBox="1"/>
          <p:nvPr/>
        </p:nvSpPr>
        <p:spPr>
          <a:xfrm>
            <a:off x="3417120" y="3338280"/>
            <a:ext cx="249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7" name=""/>
          <p:cNvSpPr txBox="1"/>
          <p:nvPr/>
        </p:nvSpPr>
        <p:spPr>
          <a:xfrm>
            <a:off x="3676680" y="3317760"/>
            <a:ext cx="4403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Agentic XDR: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thêm DNS / EDR / PAM (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8" name=""/>
          <p:cNvSpPr txBox="1"/>
          <p:nvPr/>
        </p:nvSpPr>
        <p:spPr>
          <a:xfrm>
            <a:off x="835632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9" name=""/>
          <p:cNvSpPr txBox="1"/>
          <p:nvPr/>
        </p:nvSpPr>
        <p:spPr>
          <a:xfrm>
            <a:off x="8506080" y="3317760"/>
            <a:ext cx="294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ã s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0" name=""/>
          <p:cNvSpPr txBox="1"/>
          <p:nvPr/>
        </p:nvSpPr>
        <p:spPr>
          <a:xfrm>
            <a:off x="882252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ẵ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1" name=""/>
          <p:cNvSpPr txBox="1"/>
          <p:nvPr/>
        </p:nvSpPr>
        <p:spPr>
          <a:xfrm>
            <a:off x="8972280" y="3317760"/>
            <a:ext cx="3877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ki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2" name=""/>
          <p:cNvSpPr txBox="1"/>
          <p:nvPr/>
        </p:nvSpPr>
        <p:spPr>
          <a:xfrm>
            <a:off x="9398520" y="3338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3" name=""/>
          <p:cNvSpPr txBox="1"/>
          <p:nvPr/>
        </p:nvSpPr>
        <p:spPr>
          <a:xfrm>
            <a:off x="9548280" y="3317760"/>
            <a:ext cx="1296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trúc Redis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4" name=""/>
          <p:cNvSpPr txBox="1"/>
          <p:nvPr/>
        </p:nvSpPr>
        <p:spPr>
          <a:xfrm>
            <a:off x="1047600" y="3651120"/>
            <a:ext cx="943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Streams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5" name=""/>
          <p:cNvSpPr txBox="1"/>
          <p:nvPr/>
        </p:nvSpPr>
        <p:spPr>
          <a:xfrm>
            <a:off x="2080440" y="3671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6" name=""/>
          <p:cNvSpPr/>
          <p:nvPr/>
        </p:nvSpPr>
        <p:spPr>
          <a:xfrm>
            <a:off x="819000" y="41814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27" name=""/>
          <p:cNvSpPr txBox="1"/>
          <p:nvPr/>
        </p:nvSpPr>
        <p:spPr>
          <a:xfrm>
            <a:off x="2229840" y="3651120"/>
            <a:ext cx="1018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a-queue).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8" name=""/>
          <p:cNvSpPr txBox="1"/>
          <p:nvPr/>
        </p:nvSpPr>
        <p:spPr>
          <a:xfrm>
            <a:off x="1047600" y="4060800"/>
            <a:ext cx="812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Tinh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9" name=""/>
          <p:cNvSpPr txBox="1"/>
          <p:nvPr/>
        </p:nvSpPr>
        <p:spPr>
          <a:xfrm>
            <a:off x="1949040" y="40813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ỉ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0" name=""/>
          <p:cNvSpPr txBox="1"/>
          <p:nvPr/>
        </p:nvSpPr>
        <p:spPr>
          <a:xfrm>
            <a:off x="2029680" y="4060800"/>
            <a:ext cx="3126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 (fine-tune) Gemma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trên d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1" name=""/>
          <p:cNvSpPr txBox="1"/>
          <p:nvPr/>
        </p:nvSpPr>
        <p:spPr>
          <a:xfrm>
            <a:off x="5493960" y="40813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2" name=""/>
          <p:cNvSpPr txBox="1"/>
          <p:nvPr/>
        </p:nvSpPr>
        <p:spPr>
          <a:xfrm>
            <a:off x="5671440" y="40608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li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3" name=""/>
          <p:cNvSpPr txBox="1"/>
          <p:nvPr/>
        </p:nvSpPr>
        <p:spPr>
          <a:xfrm>
            <a:off x="5881680" y="40813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4" name=""/>
          <p:cNvSpPr txBox="1"/>
          <p:nvPr/>
        </p:nvSpPr>
        <p:spPr>
          <a:xfrm>
            <a:off x="6031440" y="4060800"/>
            <a:ext cx="291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5" name=""/>
          <p:cNvSpPr txBox="1"/>
          <p:nvPr/>
        </p:nvSpPr>
        <p:spPr>
          <a:xfrm>
            <a:off x="6345000" y="40813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6" name=""/>
          <p:cNvSpPr txBox="1"/>
          <p:nvPr/>
        </p:nvSpPr>
        <p:spPr>
          <a:xfrm>
            <a:off x="6494760" y="4060800"/>
            <a:ext cx="793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công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7" name=""/>
          <p:cNvSpPr txBox="1"/>
          <p:nvPr/>
        </p:nvSpPr>
        <p:spPr>
          <a:xfrm>
            <a:off x="7328880" y="408132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đặ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8" name=""/>
          <p:cNvSpPr/>
          <p:nvPr/>
        </p:nvSpPr>
        <p:spPr>
          <a:xfrm>
            <a:off x="819000" y="45907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6"/>
                  <a:pt x="192" y="24"/>
                  <a:pt x="203" y="35"/>
                </a:cubicBezTo>
                <a:cubicBezTo>
                  <a:pt x="214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39" name=""/>
          <p:cNvSpPr txBox="1"/>
          <p:nvPr/>
        </p:nvSpPr>
        <p:spPr>
          <a:xfrm>
            <a:off x="7628040" y="4060800"/>
            <a:ext cx="3577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 thù (LoRA/QLoRA) khi có HPC.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0" name=""/>
          <p:cNvSpPr txBox="1"/>
          <p:nvPr/>
        </p:nvSpPr>
        <p:spPr>
          <a:xfrm>
            <a:off x="1047600" y="4470480"/>
            <a:ext cx="6728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Tích 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1" name=""/>
          <p:cNvSpPr txBox="1"/>
          <p:nvPr/>
        </p:nvSpPr>
        <p:spPr>
          <a:xfrm>
            <a:off x="1793520" y="4490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2" name=""/>
          <p:cNvSpPr txBox="1"/>
          <p:nvPr/>
        </p:nvSpPr>
        <p:spPr>
          <a:xfrm>
            <a:off x="1981440" y="4470480"/>
            <a:ext cx="3219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p SOAR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(XSOAR): SENTINEL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3" name=""/>
          <p:cNvSpPr txBox="1"/>
          <p:nvPr/>
        </p:nvSpPr>
        <p:spPr>
          <a:xfrm>
            <a:off x="5511600" y="447048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c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4" name=""/>
          <p:cNvSpPr txBox="1"/>
          <p:nvPr/>
        </p:nvSpPr>
        <p:spPr>
          <a:xfrm>
            <a:off x="5578200" y="4490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5" name=""/>
          <p:cNvSpPr txBox="1"/>
          <p:nvPr/>
        </p:nvSpPr>
        <p:spPr>
          <a:xfrm>
            <a:off x="5788800" y="4470480"/>
            <a:ext cx="14821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p intelligence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6" name=""/>
          <p:cNvSpPr txBox="1"/>
          <p:nvPr/>
        </p:nvSpPr>
        <p:spPr>
          <a:xfrm>
            <a:off x="7331760" y="4470480"/>
            <a:ext cx="1672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cho playbook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7" name=""/>
          <p:cNvSpPr txBox="1"/>
          <p:nvPr/>
        </p:nvSpPr>
        <p:spPr>
          <a:xfrm>
            <a:off x="9129240" y="44906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8" name=""/>
          <p:cNvSpPr txBox="1"/>
          <p:nvPr/>
        </p:nvSpPr>
        <p:spPr>
          <a:xfrm>
            <a:off x="9307080" y="447048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9" name=""/>
          <p:cNvSpPr txBox="1"/>
          <p:nvPr/>
        </p:nvSpPr>
        <p:spPr>
          <a:xfrm>
            <a:off x="9366840" y="449064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0" name=""/>
          <p:cNvSpPr txBox="1"/>
          <p:nvPr/>
        </p:nvSpPr>
        <p:spPr>
          <a:xfrm>
            <a:off x="9666000" y="4470480"/>
            <a:ext cx="326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1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2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3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4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5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6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7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8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9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0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1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2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3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4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5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19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9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0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1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2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3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4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5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6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7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8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9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0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1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2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3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4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5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6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7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8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9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0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1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2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3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4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5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6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7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8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9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00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1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2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3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4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5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6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7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8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9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0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1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2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3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4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5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6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7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8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9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0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1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2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3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4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5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6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7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8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9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0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1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2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3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4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5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6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7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8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9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0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1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2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3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4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5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6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7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8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9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0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1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2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3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4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5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6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7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8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9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0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1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2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3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4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5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6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7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8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9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0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1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2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3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4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5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6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7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8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9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0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1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2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3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4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5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6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7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8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9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0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1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2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3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4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5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6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7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8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9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0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1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2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3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4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5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6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7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8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9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0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1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2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3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4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5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6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7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8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9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0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1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2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3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4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5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6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7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8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9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0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1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2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3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4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5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6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7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8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9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0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1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2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3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4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5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6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7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8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9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0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1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2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3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4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5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6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7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8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9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0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1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2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3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4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5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6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7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8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9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0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1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2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3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4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5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6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7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8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9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0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1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2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3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4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5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6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7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8" name=""/>
          <p:cNvSpPr txBox="1"/>
          <p:nvPr/>
        </p:nvSpPr>
        <p:spPr>
          <a:xfrm>
            <a:off x="5330520" y="154800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K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9" name=""/>
          <p:cNvSpPr txBox="1"/>
          <p:nvPr/>
        </p:nvSpPr>
        <p:spPr>
          <a:xfrm>
            <a:off x="5607720" y="1578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ế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0" name=""/>
          <p:cNvSpPr txBox="1"/>
          <p:nvPr/>
        </p:nvSpPr>
        <p:spPr>
          <a:xfrm>
            <a:off x="5826240" y="1548000"/>
            <a:ext cx="5310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t lu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1" name=""/>
          <p:cNvSpPr txBox="1"/>
          <p:nvPr/>
        </p:nvSpPr>
        <p:spPr>
          <a:xfrm>
            <a:off x="6415560" y="157824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ậ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2" name=""/>
          <p:cNvSpPr/>
          <p:nvPr/>
        </p:nvSpPr>
        <p:spPr>
          <a:xfrm>
            <a:off x="819000" y="2400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4" y="193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93" name=""/>
          <p:cNvSpPr txBox="1"/>
          <p:nvPr/>
        </p:nvSpPr>
        <p:spPr>
          <a:xfrm>
            <a:off x="6634080" y="1548000"/>
            <a:ext cx="371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4" name=""/>
          <p:cNvSpPr txBox="1"/>
          <p:nvPr/>
        </p:nvSpPr>
        <p:spPr>
          <a:xfrm>
            <a:off x="1047600" y="2279520"/>
            <a:ext cx="1476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SENTINEL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5" name=""/>
          <p:cNvSpPr txBox="1"/>
          <p:nvPr/>
        </p:nvSpPr>
        <p:spPr>
          <a:xfrm>
            <a:off x="2624760" y="2300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6" name=""/>
          <p:cNvSpPr txBox="1"/>
          <p:nvPr/>
        </p:nvSpPr>
        <p:spPr>
          <a:xfrm>
            <a:off x="2802240" y="2279520"/>
            <a:ext cx="17395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minh: ghép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b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7" name=""/>
          <p:cNvSpPr txBox="1"/>
          <p:nvPr/>
        </p:nvSpPr>
        <p:spPr>
          <a:xfrm>
            <a:off x="4667400" y="2300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8" name=""/>
          <p:cNvSpPr txBox="1"/>
          <p:nvPr/>
        </p:nvSpPr>
        <p:spPr>
          <a:xfrm>
            <a:off x="4830840" y="22795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9" name=""/>
          <p:cNvSpPr txBox="1"/>
          <p:nvPr/>
        </p:nvSpPr>
        <p:spPr>
          <a:xfrm>
            <a:off x="4973040" y="2300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0" name=""/>
          <p:cNvSpPr txBox="1"/>
          <p:nvPr/>
        </p:nvSpPr>
        <p:spPr>
          <a:xfrm>
            <a:off x="5136120" y="2279520"/>
            <a:ext cx="2721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1" name=""/>
          <p:cNvSpPr txBox="1"/>
          <p:nvPr/>
        </p:nvSpPr>
        <p:spPr>
          <a:xfrm>
            <a:off x="5438880" y="2300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2" name=""/>
          <p:cNvSpPr txBox="1"/>
          <p:nvPr/>
        </p:nvSpPr>
        <p:spPr>
          <a:xfrm>
            <a:off x="5588640" y="22795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3" name=""/>
          <p:cNvSpPr txBox="1"/>
          <p:nvPr/>
        </p:nvSpPr>
        <p:spPr>
          <a:xfrm>
            <a:off x="5759280" y="2300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4" name=""/>
          <p:cNvSpPr txBox="1"/>
          <p:nvPr/>
        </p:nvSpPr>
        <p:spPr>
          <a:xfrm>
            <a:off x="6003360" y="2279520"/>
            <a:ext cx="433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nh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5" name=""/>
          <p:cNvSpPr txBox="1"/>
          <p:nvPr/>
        </p:nvSpPr>
        <p:spPr>
          <a:xfrm>
            <a:off x="6485040" y="2300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6" name=""/>
          <p:cNvSpPr txBox="1"/>
          <p:nvPr/>
        </p:nvSpPr>
        <p:spPr>
          <a:xfrm>
            <a:off x="6648120" y="22795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7" name=""/>
          <p:cNvSpPr txBox="1"/>
          <p:nvPr/>
        </p:nvSpPr>
        <p:spPr>
          <a:xfrm>
            <a:off x="6840000" y="230004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8" name=""/>
          <p:cNvSpPr txBox="1"/>
          <p:nvPr/>
        </p:nvSpPr>
        <p:spPr>
          <a:xfrm>
            <a:off x="7166520" y="227952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9" name=""/>
          <p:cNvSpPr txBox="1"/>
          <p:nvPr/>
        </p:nvSpPr>
        <p:spPr>
          <a:xfrm>
            <a:off x="7451280" y="2300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0" name=""/>
          <p:cNvSpPr txBox="1"/>
          <p:nvPr/>
        </p:nvSpPr>
        <p:spPr>
          <a:xfrm>
            <a:off x="7601040" y="2279520"/>
            <a:ext cx="460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1" name=""/>
          <p:cNvSpPr txBox="1"/>
          <p:nvPr/>
        </p:nvSpPr>
        <p:spPr>
          <a:xfrm>
            <a:off x="8096400" y="2300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ớ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2" name=""/>
          <p:cNvSpPr txBox="1"/>
          <p:nvPr/>
        </p:nvSpPr>
        <p:spPr>
          <a:xfrm>
            <a:off x="8270640" y="22795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3" name=""/>
          <p:cNvSpPr txBox="1"/>
          <p:nvPr/>
        </p:nvSpPr>
        <p:spPr>
          <a:xfrm>
            <a:off x="8516880" y="2300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4" name=""/>
          <p:cNvSpPr txBox="1"/>
          <p:nvPr/>
        </p:nvSpPr>
        <p:spPr>
          <a:xfrm>
            <a:off x="8666280" y="2279520"/>
            <a:ext cx="11286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AI tác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5" name=""/>
          <p:cNvSpPr txBox="1"/>
          <p:nvPr/>
        </p:nvSpPr>
        <p:spPr>
          <a:xfrm>
            <a:off x="9927720" y="23000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6" name=""/>
          <p:cNvSpPr txBox="1"/>
          <p:nvPr/>
        </p:nvSpPr>
        <p:spPr>
          <a:xfrm>
            <a:off x="10118880" y="227952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7" name=""/>
          <p:cNvSpPr txBox="1"/>
          <p:nvPr/>
        </p:nvSpPr>
        <p:spPr>
          <a:xfrm>
            <a:off x="10178640" y="2300040"/>
            <a:ext cx="508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đượ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8" name=""/>
          <p:cNvSpPr txBox="1"/>
          <p:nvPr/>
        </p:nvSpPr>
        <p:spPr>
          <a:xfrm>
            <a:off x="10721160" y="2279520"/>
            <a:ext cx="442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cô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9" name=""/>
          <p:cNvSpPr txBox="1"/>
          <p:nvPr/>
        </p:nvSpPr>
        <p:spPr>
          <a:xfrm>
            <a:off x="1047600" y="26132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l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0" name=""/>
          <p:cNvSpPr txBox="1"/>
          <p:nvPr/>
        </p:nvSpPr>
        <p:spPr>
          <a:xfrm>
            <a:off x="113040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1" name=""/>
          <p:cNvSpPr txBox="1"/>
          <p:nvPr/>
        </p:nvSpPr>
        <p:spPr>
          <a:xfrm>
            <a:off x="1279800" y="2613240"/>
            <a:ext cx="409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p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2" name=""/>
          <p:cNvSpPr txBox="1"/>
          <p:nvPr/>
        </p:nvSpPr>
        <p:spPr>
          <a:xfrm>
            <a:off x="171972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3" name=""/>
          <p:cNvSpPr txBox="1"/>
          <p:nvPr/>
        </p:nvSpPr>
        <p:spPr>
          <a:xfrm>
            <a:off x="1869480" y="2613240"/>
            <a:ext cx="14774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 mã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cho ra gi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4" name=""/>
          <p:cNvSpPr txBox="1"/>
          <p:nvPr/>
        </p:nvSpPr>
        <p:spPr>
          <a:xfrm>
            <a:off x="347472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5" name=""/>
          <p:cNvSpPr txBox="1"/>
          <p:nvPr/>
        </p:nvSpPr>
        <p:spPr>
          <a:xfrm>
            <a:off x="3624480" y="2613240"/>
            <a:ext cx="9349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pháp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6" name=""/>
          <p:cNvSpPr txBox="1"/>
          <p:nvPr/>
        </p:nvSpPr>
        <p:spPr>
          <a:xfrm>
            <a:off x="462852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7" name=""/>
          <p:cNvSpPr txBox="1"/>
          <p:nvPr/>
        </p:nvSpPr>
        <p:spPr>
          <a:xfrm>
            <a:off x="4816800" y="261324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8" name=""/>
          <p:cNvSpPr txBox="1"/>
          <p:nvPr/>
        </p:nvSpPr>
        <p:spPr>
          <a:xfrm>
            <a:off x="4990680" y="26334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9" name=""/>
          <p:cNvSpPr txBox="1"/>
          <p:nvPr/>
        </p:nvSpPr>
        <p:spPr>
          <a:xfrm>
            <a:off x="5153760" y="2613240"/>
            <a:ext cx="331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0" name=""/>
          <p:cNvSpPr txBox="1"/>
          <p:nvPr/>
        </p:nvSpPr>
        <p:spPr>
          <a:xfrm>
            <a:off x="5510520" y="2633400"/>
            <a:ext cx="508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đượ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1" name=""/>
          <p:cNvSpPr/>
          <p:nvPr/>
        </p:nvSpPr>
        <p:spPr>
          <a:xfrm>
            <a:off x="819000" y="3143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4" y="192"/>
                  <a:pt x="203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3" y="35"/>
                </a:cubicBezTo>
                <a:cubicBezTo>
                  <a:pt x="214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32" name=""/>
          <p:cNvSpPr txBox="1"/>
          <p:nvPr/>
        </p:nvSpPr>
        <p:spPr>
          <a:xfrm>
            <a:off x="6052680" y="2613240"/>
            <a:ext cx="1757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&amp; an ninh hoá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3" name=""/>
          <p:cNvSpPr txBox="1"/>
          <p:nvPr/>
        </p:nvSpPr>
        <p:spPr>
          <a:xfrm>
            <a:off x="1047600" y="30225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S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4" name=""/>
          <p:cNvSpPr txBox="1"/>
          <p:nvPr/>
        </p:nvSpPr>
        <p:spPr>
          <a:xfrm>
            <a:off x="1193760" y="3043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5" name=""/>
          <p:cNvSpPr txBox="1"/>
          <p:nvPr/>
        </p:nvSpPr>
        <p:spPr>
          <a:xfrm>
            <a:off x="1357200" y="30225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li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6" name=""/>
          <p:cNvSpPr txBox="1"/>
          <p:nvPr/>
        </p:nvSpPr>
        <p:spPr>
          <a:xfrm>
            <a:off x="1581840" y="3043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7" name=""/>
          <p:cNvSpPr txBox="1"/>
          <p:nvPr/>
        </p:nvSpPr>
        <p:spPr>
          <a:xfrm>
            <a:off x="1731240" y="3022560"/>
            <a:ext cx="460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u ch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8" name=""/>
          <p:cNvSpPr txBox="1"/>
          <p:nvPr/>
        </p:nvSpPr>
        <p:spPr>
          <a:xfrm>
            <a:off x="2234520" y="3043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9" name=""/>
          <p:cNvSpPr txBox="1"/>
          <p:nvPr/>
        </p:nvSpPr>
        <p:spPr>
          <a:xfrm>
            <a:off x="2397600" y="30225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0" name=""/>
          <p:cNvSpPr txBox="1"/>
          <p:nvPr/>
        </p:nvSpPr>
        <p:spPr>
          <a:xfrm>
            <a:off x="2648520" y="304308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1" name=""/>
          <p:cNvSpPr txBox="1"/>
          <p:nvPr/>
        </p:nvSpPr>
        <p:spPr>
          <a:xfrm>
            <a:off x="2947680" y="30225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2" name=""/>
          <p:cNvSpPr txBox="1"/>
          <p:nvPr/>
        </p:nvSpPr>
        <p:spPr>
          <a:xfrm>
            <a:off x="3223440" y="3043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ễ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3" name=""/>
          <p:cNvSpPr txBox="1"/>
          <p:nvPr/>
        </p:nvSpPr>
        <p:spPr>
          <a:xfrm>
            <a:off x="3373200" y="3022560"/>
            <a:ext cx="2236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−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82.97%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(p=2.8×10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4" name=""/>
          <p:cNvSpPr txBox="1"/>
          <p:nvPr/>
        </p:nvSpPr>
        <p:spPr>
          <a:xfrm>
            <a:off x="5787720" y="3002400"/>
            <a:ext cx="24732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NotoSans"/>
                <a:ea typeface="NotoSans"/>
              </a:rPr>
              <a:t>⁻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5" name=""/>
          <p:cNvSpPr txBox="1"/>
          <p:nvPr/>
        </p:nvSpPr>
        <p:spPr>
          <a:xfrm>
            <a:off x="5883480" y="30225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¹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6" name=""/>
          <p:cNvSpPr txBox="1"/>
          <p:nvPr/>
        </p:nvSpPr>
        <p:spPr>
          <a:xfrm>
            <a:off x="5977440" y="3043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⁷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7" name=""/>
          <p:cNvSpPr txBox="1"/>
          <p:nvPr/>
        </p:nvSpPr>
        <p:spPr>
          <a:xfrm>
            <a:off x="6078960" y="3022560"/>
            <a:ext cx="36309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) · APT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3/3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· zero-day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7/7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· suy lu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8" name=""/>
          <p:cNvSpPr txBox="1"/>
          <p:nvPr/>
        </p:nvSpPr>
        <p:spPr>
          <a:xfrm>
            <a:off x="9969120" y="30430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9" name=""/>
          <p:cNvSpPr txBox="1"/>
          <p:nvPr/>
        </p:nvSpPr>
        <p:spPr>
          <a:xfrm>
            <a:off x="10118880" y="3022560"/>
            <a:ext cx="1080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3.91/5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·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0" name=""/>
          <p:cNvSpPr txBox="1"/>
          <p:nvPr/>
        </p:nvSpPr>
        <p:spPr>
          <a:xfrm>
            <a:off x="1047600" y="3355920"/>
            <a:ext cx="28076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ATT&amp;CK mapper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64%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(mi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1" name=""/>
          <p:cNvSpPr txBox="1"/>
          <p:nvPr/>
        </p:nvSpPr>
        <p:spPr>
          <a:xfrm>
            <a:off x="4044240" y="337644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2" name=""/>
          <p:cNvSpPr/>
          <p:nvPr/>
        </p:nvSpPr>
        <p:spPr>
          <a:xfrm>
            <a:off x="819000" y="38858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3" y="181"/>
                  <a:pt x="214" y="194"/>
                  <a:pt x="203" y="205"/>
                </a:cubicBezTo>
                <a:cubicBezTo>
                  <a:pt x="192" y="216"/>
                  <a:pt x="179" y="225"/>
                  <a:pt x="165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4" y="48"/>
                  <a:pt x="35" y="36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19" y="0"/>
                </a:cubicBezTo>
                <a:cubicBezTo>
                  <a:pt x="135" y="0"/>
                  <a:pt x="150" y="4"/>
                  <a:pt x="165" y="10"/>
                </a:cubicBezTo>
                <a:cubicBezTo>
                  <a:pt x="179" y="16"/>
                  <a:pt x="192" y="24"/>
                  <a:pt x="203" y="36"/>
                </a:cubicBezTo>
                <a:cubicBezTo>
                  <a:pt x="214" y="48"/>
                  <a:pt x="223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53" name=""/>
          <p:cNvSpPr txBox="1"/>
          <p:nvPr/>
        </p:nvSpPr>
        <p:spPr>
          <a:xfrm>
            <a:off x="4194000" y="3355920"/>
            <a:ext cx="793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web).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4" name=""/>
          <p:cNvSpPr txBox="1"/>
          <p:nvPr/>
        </p:nvSpPr>
        <p:spPr>
          <a:xfrm>
            <a:off x="1047600" y="3765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K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5" name=""/>
          <p:cNvSpPr txBox="1"/>
          <p:nvPr/>
        </p:nvSpPr>
        <p:spPr>
          <a:xfrm>
            <a:off x="123660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ỹ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6" name=""/>
          <p:cNvSpPr txBox="1"/>
          <p:nvPr/>
        </p:nvSpPr>
        <p:spPr>
          <a:xfrm>
            <a:off x="1386000" y="3765600"/>
            <a:ext cx="4320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thu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7" name=""/>
          <p:cNvSpPr txBox="1"/>
          <p:nvPr/>
        </p:nvSpPr>
        <p:spPr>
          <a:xfrm>
            <a:off x="186804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ậ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8" name=""/>
          <p:cNvSpPr txBox="1"/>
          <p:nvPr/>
        </p:nvSpPr>
        <p:spPr>
          <a:xfrm>
            <a:off x="2017440" y="3765600"/>
            <a:ext cx="284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 v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9" name=""/>
          <p:cNvSpPr txBox="1"/>
          <p:nvPr/>
        </p:nvSpPr>
        <p:spPr>
          <a:xfrm>
            <a:off x="233712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0" name=""/>
          <p:cNvSpPr txBox="1"/>
          <p:nvPr/>
        </p:nvSpPr>
        <p:spPr>
          <a:xfrm>
            <a:off x="2528280" y="3765600"/>
            <a:ext cx="2137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207 test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pass · 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1" name=""/>
          <p:cNvSpPr txBox="1"/>
          <p:nvPr/>
        </p:nvSpPr>
        <p:spPr>
          <a:xfrm>
            <a:off x="486900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ấ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2" name=""/>
          <p:cNvSpPr txBox="1"/>
          <p:nvPr/>
        </p:nvSpPr>
        <p:spPr>
          <a:xfrm>
            <a:off x="5018760" y="3765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3" name=""/>
          <p:cNvSpPr txBox="1"/>
          <p:nvPr/>
        </p:nvSpPr>
        <p:spPr>
          <a:xfrm>
            <a:off x="518256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4" name=""/>
          <p:cNvSpPr txBox="1"/>
          <p:nvPr/>
        </p:nvSpPr>
        <p:spPr>
          <a:xfrm>
            <a:off x="5399280" y="3765600"/>
            <a:ext cx="15264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nh (seed 42) ·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5" name=""/>
          <p:cNvSpPr txBox="1"/>
          <p:nvPr/>
        </p:nvSpPr>
        <p:spPr>
          <a:xfrm>
            <a:off x="705348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6" name=""/>
          <p:cNvSpPr txBox="1"/>
          <p:nvPr/>
        </p:nvSpPr>
        <p:spPr>
          <a:xfrm>
            <a:off x="7202880" y="3765600"/>
            <a:ext cx="17290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ánh giá </a:t>
            </a:r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trung 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7" name=""/>
          <p:cNvSpPr txBox="1"/>
          <p:nvPr/>
        </p:nvSpPr>
        <p:spPr>
          <a:xfrm>
            <a:off x="911412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ự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8" name=""/>
          <p:cNvSpPr txBox="1"/>
          <p:nvPr/>
        </p:nvSpPr>
        <p:spPr>
          <a:xfrm>
            <a:off x="9305640" y="3765600"/>
            <a:ext cx="83880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(nêu c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9" name=""/>
          <p:cNvSpPr txBox="1"/>
          <p:nvPr/>
        </p:nvSpPr>
        <p:spPr>
          <a:xfrm>
            <a:off x="1021176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0" name=""/>
          <p:cNvSpPr txBox="1"/>
          <p:nvPr/>
        </p:nvSpPr>
        <p:spPr>
          <a:xfrm>
            <a:off x="10361520" y="37656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k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1" name=""/>
          <p:cNvSpPr txBox="1"/>
          <p:nvPr/>
        </p:nvSpPr>
        <p:spPr>
          <a:xfrm>
            <a:off x="1056276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ế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2" name=""/>
          <p:cNvSpPr txBox="1"/>
          <p:nvPr/>
        </p:nvSpPr>
        <p:spPr>
          <a:xfrm>
            <a:off x="10712520" y="3765600"/>
            <a:ext cx="430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qu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3" name=""/>
          <p:cNvSpPr txBox="1"/>
          <p:nvPr/>
        </p:nvSpPr>
        <p:spPr>
          <a:xfrm>
            <a:off x="11176560" y="37857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4" name=""/>
          <p:cNvSpPr txBox="1"/>
          <p:nvPr/>
        </p:nvSpPr>
        <p:spPr>
          <a:xfrm>
            <a:off x="1047600" y="4098960"/>
            <a:ext cx="4532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âm).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5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6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7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8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9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0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1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2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3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4" name=""/>
          <p:cNvSpPr txBox="1"/>
          <p:nvPr/>
        </p:nvSpPr>
        <p:spPr>
          <a:xfrm>
            <a:off x="91440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5" name=""/>
          <p:cNvSpPr txBox="1"/>
          <p:nvPr/>
        </p:nvSpPr>
        <p:spPr>
          <a:xfrm>
            <a:off x="1105200" y="4680000"/>
            <a:ext cx="1220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óng góp: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6" name=""/>
          <p:cNvSpPr txBox="1"/>
          <p:nvPr/>
        </p:nvSpPr>
        <p:spPr>
          <a:xfrm>
            <a:off x="242460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7" name=""/>
          <p:cNvSpPr txBox="1"/>
          <p:nvPr/>
        </p:nvSpPr>
        <p:spPr>
          <a:xfrm>
            <a:off x="2574360" y="4680000"/>
            <a:ext cx="11026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 khuôn 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8" name=""/>
          <p:cNvSpPr txBox="1"/>
          <p:nvPr/>
        </p:nvSpPr>
        <p:spPr>
          <a:xfrm>
            <a:off x="375336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9" name=""/>
          <p:cNvSpPr txBox="1"/>
          <p:nvPr/>
        </p:nvSpPr>
        <p:spPr>
          <a:xfrm>
            <a:off x="3902760" y="4680000"/>
            <a:ext cx="7048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u hai-t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0" name=""/>
          <p:cNvSpPr txBox="1"/>
          <p:nvPr/>
        </p:nvSpPr>
        <p:spPr>
          <a:xfrm>
            <a:off x="467676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1" name=""/>
          <p:cNvSpPr txBox="1"/>
          <p:nvPr/>
        </p:nvSpPr>
        <p:spPr>
          <a:xfrm>
            <a:off x="4826160" y="4680000"/>
            <a:ext cx="331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2" name=""/>
          <p:cNvSpPr txBox="1"/>
          <p:nvPr/>
        </p:nvSpPr>
        <p:spPr>
          <a:xfrm>
            <a:off x="5235120" y="4680000"/>
            <a:ext cx="5644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có th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3" name=""/>
          <p:cNvSpPr txBox="1"/>
          <p:nvPr/>
        </p:nvSpPr>
        <p:spPr>
          <a:xfrm>
            <a:off x="576504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ể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4" name=""/>
          <p:cNvSpPr txBox="1"/>
          <p:nvPr/>
        </p:nvSpPr>
        <p:spPr>
          <a:xfrm>
            <a:off x="5975640" y="4680000"/>
            <a:ext cx="2736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m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5" name=""/>
          <p:cNvSpPr txBox="1"/>
          <p:nvPr/>
        </p:nvSpPr>
        <p:spPr>
          <a:xfrm>
            <a:off x="618948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6" name=""/>
          <p:cNvSpPr txBox="1"/>
          <p:nvPr/>
        </p:nvSpPr>
        <p:spPr>
          <a:xfrm>
            <a:off x="6412320" y="4680000"/>
            <a:ext cx="24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r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7" name=""/>
          <p:cNvSpPr txBox="1"/>
          <p:nvPr/>
        </p:nvSpPr>
        <p:spPr>
          <a:xfrm>
            <a:off x="652248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ộ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8" name=""/>
          <p:cNvSpPr txBox="1"/>
          <p:nvPr/>
        </p:nvSpPr>
        <p:spPr>
          <a:xfrm>
            <a:off x="6733080" y="4680000"/>
            <a:ext cx="5904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ng, gi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9" name=""/>
          <p:cNvSpPr txBox="1"/>
          <p:nvPr/>
        </p:nvSpPr>
        <p:spPr>
          <a:xfrm>
            <a:off x="7297920" y="470016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0" name=""/>
          <p:cNvSpPr txBox="1"/>
          <p:nvPr/>
        </p:nvSpPr>
        <p:spPr>
          <a:xfrm>
            <a:off x="7508880" y="4680000"/>
            <a:ext cx="7491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i thích 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1" name=""/>
          <p:cNvSpPr txBox="1"/>
          <p:nvPr/>
        </p:nvSpPr>
        <p:spPr>
          <a:xfrm>
            <a:off x="8248680" y="4700160"/>
            <a:ext cx="4456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đượ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2" name=""/>
          <p:cNvSpPr txBox="1"/>
          <p:nvPr/>
        </p:nvSpPr>
        <p:spPr>
          <a:xfrm>
            <a:off x="8790120" y="4680000"/>
            <a:ext cx="1082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10" spc="-1" strike="noStrike">
                <a:solidFill>
                  <a:srgbClr val="455a64"/>
                </a:solidFill>
                <a:latin typeface="Lato"/>
                <a:ea typeface="Lato"/>
              </a:rPr>
              <a:t>c, an toàn</a:t>
            </a:r>
            <a:endParaRPr b="0" lang="en-US" sz="2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3" name=""/>
          <p:cNvSpPr txBox="1"/>
          <p:nvPr/>
        </p:nvSpPr>
        <p:spPr>
          <a:xfrm>
            <a:off x="9868320" y="4680000"/>
            <a:ext cx="12110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cho phòng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4" name=""/>
          <p:cNvSpPr txBox="1"/>
          <p:nvPr/>
        </p:nvSpPr>
        <p:spPr>
          <a:xfrm>
            <a:off x="914400" y="50133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th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5" name=""/>
          <p:cNvSpPr txBox="1"/>
          <p:nvPr/>
        </p:nvSpPr>
        <p:spPr>
          <a:xfrm>
            <a:off x="1168200" y="50335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6" name=""/>
          <p:cNvSpPr txBox="1"/>
          <p:nvPr/>
        </p:nvSpPr>
        <p:spPr>
          <a:xfrm>
            <a:off x="1317960" y="5013360"/>
            <a:ext cx="267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7" name=""/>
          <p:cNvSpPr txBox="1"/>
          <p:nvPr/>
        </p:nvSpPr>
        <p:spPr>
          <a:xfrm>
            <a:off x="1593000" y="50335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8" name=""/>
          <p:cNvSpPr txBox="1"/>
          <p:nvPr/>
        </p:nvSpPr>
        <p:spPr>
          <a:xfrm>
            <a:off x="1742400" y="5013360"/>
            <a:ext cx="529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ng hi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9" name=""/>
          <p:cNvSpPr txBox="1"/>
          <p:nvPr/>
        </p:nvSpPr>
        <p:spPr>
          <a:xfrm>
            <a:off x="2315160" y="50335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ệ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0" name=""/>
          <p:cNvSpPr txBox="1"/>
          <p:nvPr/>
        </p:nvSpPr>
        <p:spPr>
          <a:xfrm>
            <a:off x="2464920" y="50133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1" name=""/>
          <p:cNvSpPr txBox="1"/>
          <p:nvPr/>
        </p:nvSpPr>
        <p:spPr>
          <a:xfrm>
            <a:off x="2674080" y="5033520"/>
            <a:ext cx="276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Arial"/>
                <a:ea typeface="Arial"/>
              </a:rPr>
              <a:t>đạ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2" name=""/>
          <p:cNvSpPr txBox="1"/>
          <p:nvPr/>
        </p:nvSpPr>
        <p:spPr>
          <a:xfrm>
            <a:off x="2973240" y="501336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i .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3" name=""/>
          <p:cNvSpPr txBox="1"/>
          <p:nvPr/>
        </p:nvSpPr>
        <p:spPr>
          <a:xfrm>
            <a:off x="666720" y="469440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4" name=""/>
          <p:cNvSpPr txBox="1"/>
          <p:nvPr/>
        </p:nvSpPr>
        <p:spPr>
          <a:xfrm rot="10800000">
            <a:off x="11280240" y="5033160"/>
            <a:ext cx="2473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6a7a7d"/>
                </a:solidFill>
                <a:latin typeface="Times New Roman"/>
                <a:ea typeface="Times New Roman"/>
              </a:rPr>
              <a:t>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5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6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7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8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9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0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20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8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4" name=""/>
          <p:cNvSpPr/>
          <p:nvPr/>
        </p:nvSpPr>
        <p:spPr>
          <a:xfrm>
            <a:off x="0" y="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0" y="0"/>
                </a:moveTo>
                <a:lnTo>
                  <a:pt x="0" y="3308"/>
                </a:lnTo>
                <a:lnTo>
                  <a:pt x="3308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25" name=""/>
          <p:cNvSpPr/>
          <p:nvPr/>
        </p:nvSpPr>
        <p:spPr>
          <a:xfrm>
            <a:off x="0" y="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0" y="3308"/>
                </a:lnTo>
                <a:lnTo>
                  <a:pt x="0" y="6615"/>
                </a:lnTo>
                <a:lnTo>
                  <a:pt x="6615" y="0"/>
                </a:lnTo>
                <a:lnTo>
                  <a:pt x="3308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26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6615" y="0"/>
                </a:moveTo>
                <a:lnTo>
                  <a:pt x="0" y="6615"/>
                </a:lnTo>
                <a:lnTo>
                  <a:pt x="0" y="9922"/>
                </a:lnTo>
                <a:lnTo>
                  <a:pt x="9922" y="0"/>
                </a:lnTo>
                <a:lnTo>
                  <a:pt x="6615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27" name=""/>
          <p:cNvSpPr/>
          <p:nvPr/>
        </p:nvSpPr>
        <p:spPr>
          <a:xfrm>
            <a:off x="0" y="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9922" y="0"/>
                </a:moveTo>
                <a:lnTo>
                  <a:pt x="0" y="9922"/>
                </a:lnTo>
                <a:lnTo>
                  <a:pt x="0" y="13230"/>
                </a:lnTo>
                <a:lnTo>
                  <a:pt x="13230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28" name=""/>
          <p:cNvSpPr/>
          <p:nvPr/>
        </p:nvSpPr>
        <p:spPr>
          <a:xfrm>
            <a:off x="0" y="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3230" y="0"/>
                </a:moveTo>
                <a:lnTo>
                  <a:pt x="0" y="13230"/>
                </a:lnTo>
                <a:lnTo>
                  <a:pt x="0" y="16537"/>
                </a:lnTo>
                <a:lnTo>
                  <a:pt x="16537" y="0"/>
                </a:lnTo>
                <a:lnTo>
                  <a:pt x="13230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29" name=""/>
          <p:cNvSpPr/>
          <p:nvPr/>
        </p:nvSpPr>
        <p:spPr>
          <a:xfrm>
            <a:off x="0" y="0"/>
            <a:ext cx="6858000" cy="6858000"/>
          </a:xfrm>
          <a:custGeom>
            <a:avLst/>
            <a:gdLst/>
            <a:ahLst/>
            <a:rect l="0" t="0" r="r" b="b"/>
            <a:pathLst>
              <a:path w="19050" h="19050">
                <a:moveTo>
                  <a:pt x="16537" y="0"/>
                </a:moveTo>
                <a:lnTo>
                  <a:pt x="0" y="16537"/>
                </a:lnTo>
                <a:lnTo>
                  <a:pt x="0" y="19050"/>
                </a:lnTo>
                <a:lnTo>
                  <a:pt x="19050" y="0"/>
                </a:lnTo>
                <a:lnTo>
                  <a:pt x="16537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0" name=""/>
          <p:cNvSpPr/>
          <p:nvPr/>
        </p:nvSpPr>
        <p:spPr>
          <a:xfrm>
            <a:off x="0" y="0"/>
            <a:ext cx="7143840" cy="6858000"/>
          </a:xfrm>
          <a:custGeom>
            <a:avLst/>
            <a:gdLst/>
            <a:ahLst/>
            <a:rect l="0" t="0" r="r" b="b"/>
            <a:pathLst>
              <a:path w="19844" h="19050">
                <a:moveTo>
                  <a:pt x="19050" y="0"/>
                </a:moveTo>
                <a:lnTo>
                  <a:pt x="0" y="19050"/>
                </a:lnTo>
                <a:lnTo>
                  <a:pt x="793" y="19050"/>
                </a:lnTo>
                <a:lnTo>
                  <a:pt x="19844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1" name=""/>
          <p:cNvSpPr/>
          <p:nvPr/>
        </p:nvSpPr>
        <p:spPr>
          <a:xfrm>
            <a:off x="285480" y="0"/>
            <a:ext cx="8049240" cy="6858000"/>
          </a:xfrm>
          <a:custGeom>
            <a:avLst/>
            <a:gdLst/>
            <a:ahLst/>
            <a:rect l="0" t="0" r="r" b="b"/>
            <a:pathLst>
              <a:path w="22359" h="19050">
                <a:moveTo>
                  <a:pt x="19051" y="0"/>
                </a:moveTo>
                <a:lnTo>
                  <a:pt x="0" y="19050"/>
                </a:lnTo>
                <a:lnTo>
                  <a:pt x="3308" y="19050"/>
                </a:lnTo>
                <a:lnTo>
                  <a:pt x="22359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2" name=""/>
          <p:cNvSpPr/>
          <p:nvPr/>
        </p:nvSpPr>
        <p:spPr>
          <a:xfrm>
            <a:off x="1476360" y="0"/>
            <a:ext cx="8048880" cy="6858000"/>
          </a:xfrm>
          <a:custGeom>
            <a:avLst/>
            <a:gdLst/>
            <a:ahLst/>
            <a:rect l="0" t="0" r="r" b="b"/>
            <a:pathLst>
              <a:path w="22358" h="19050">
                <a:moveTo>
                  <a:pt x="19051" y="0"/>
                </a:moveTo>
                <a:lnTo>
                  <a:pt x="0" y="19050"/>
                </a:lnTo>
                <a:lnTo>
                  <a:pt x="3307" y="19050"/>
                </a:lnTo>
                <a:lnTo>
                  <a:pt x="223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3" name=""/>
          <p:cNvSpPr/>
          <p:nvPr/>
        </p:nvSpPr>
        <p:spPr>
          <a:xfrm>
            <a:off x="2666880" y="0"/>
            <a:ext cx="6932880" cy="6858000"/>
          </a:xfrm>
          <a:custGeom>
            <a:avLst/>
            <a:gdLst/>
            <a:ahLst/>
            <a:rect l="0" t="0" r="r" b="b"/>
            <a:pathLst>
              <a:path w="19258" h="19050">
                <a:moveTo>
                  <a:pt x="19051" y="0"/>
                </a:moveTo>
                <a:lnTo>
                  <a:pt x="0" y="19050"/>
                </a:lnTo>
                <a:lnTo>
                  <a:pt x="207" y="19050"/>
                </a:lnTo>
                <a:lnTo>
                  <a:pt x="19258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4" name=""/>
          <p:cNvSpPr/>
          <p:nvPr/>
        </p:nvSpPr>
        <p:spPr>
          <a:xfrm>
            <a:off x="2741400" y="0"/>
            <a:ext cx="6932520" cy="6858000"/>
          </a:xfrm>
          <a:custGeom>
            <a:avLst/>
            <a:gdLst/>
            <a:ahLst/>
            <a:rect l="0" t="0" r="r" b="b"/>
            <a:pathLst>
              <a:path w="19257" h="19050">
                <a:moveTo>
                  <a:pt x="19051" y="0"/>
                </a:moveTo>
                <a:lnTo>
                  <a:pt x="0" y="19050"/>
                </a:lnTo>
                <a:lnTo>
                  <a:pt x="206" y="19050"/>
                </a:lnTo>
                <a:lnTo>
                  <a:pt x="1925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5" name=""/>
          <p:cNvSpPr/>
          <p:nvPr/>
        </p:nvSpPr>
        <p:spPr>
          <a:xfrm>
            <a:off x="2815560" y="0"/>
            <a:ext cx="7007400" cy="6858000"/>
          </a:xfrm>
          <a:custGeom>
            <a:avLst/>
            <a:gdLst/>
            <a:ahLst/>
            <a:rect l="0" t="0" r="r" b="b"/>
            <a:pathLst>
              <a:path w="19465" h="19050">
                <a:moveTo>
                  <a:pt x="19051" y="0"/>
                </a:moveTo>
                <a:lnTo>
                  <a:pt x="0" y="19050"/>
                </a:lnTo>
                <a:lnTo>
                  <a:pt x="414" y="19050"/>
                </a:lnTo>
                <a:lnTo>
                  <a:pt x="1946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6" name=""/>
          <p:cNvSpPr/>
          <p:nvPr/>
        </p:nvSpPr>
        <p:spPr>
          <a:xfrm>
            <a:off x="2964600" y="0"/>
            <a:ext cx="7155720" cy="6858000"/>
          </a:xfrm>
          <a:custGeom>
            <a:avLst/>
            <a:gdLst/>
            <a:ahLst/>
            <a:rect l="0" t="0" r="r" b="b"/>
            <a:pathLst>
              <a:path w="19877" h="19050">
                <a:moveTo>
                  <a:pt x="19051" y="0"/>
                </a:moveTo>
                <a:lnTo>
                  <a:pt x="0" y="19050"/>
                </a:lnTo>
                <a:lnTo>
                  <a:pt x="826" y="19050"/>
                </a:lnTo>
                <a:lnTo>
                  <a:pt x="19877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7" name=""/>
          <p:cNvSpPr/>
          <p:nvPr/>
        </p:nvSpPr>
        <p:spPr>
          <a:xfrm>
            <a:off x="326196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1" y="0"/>
                </a:moveTo>
                <a:lnTo>
                  <a:pt x="0" y="19050"/>
                </a:lnTo>
                <a:lnTo>
                  <a:pt x="1655" y="19050"/>
                </a:lnTo>
                <a:lnTo>
                  <a:pt x="2070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8" name=""/>
          <p:cNvSpPr/>
          <p:nvPr/>
        </p:nvSpPr>
        <p:spPr>
          <a:xfrm>
            <a:off x="3857400" y="0"/>
            <a:ext cx="7453800" cy="6858000"/>
          </a:xfrm>
          <a:custGeom>
            <a:avLst/>
            <a:gdLst/>
            <a:ahLst/>
            <a:rect l="0" t="0" r="r" b="b"/>
            <a:pathLst>
              <a:path w="20705" h="19050">
                <a:moveTo>
                  <a:pt x="19050" y="0"/>
                </a:moveTo>
                <a:lnTo>
                  <a:pt x="0" y="19050"/>
                </a:lnTo>
                <a:lnTo>
                  <a:pt x="1654" y="19050"/>
                </a:lnTo>
                <a:lnTo>
                  <a:pt x="20705" y="0"/>
                </a:lnTo>
                <a:lnTo>
                  <a:pt x="19050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9" name=""/>
          <p:cNvSpPr/>
          <p:nvPr/>
        </p:nvSpPr>
        <p:spPr>
          <a:xfrm>
            <a:off x="4452840" y="0"/>
            <a:ext cx="7453440" cy="6858000"/>
          </a:xfrm>
          <a:custGeom>
            <a:avLst/>
            <a:gdLst/>
            <a:ahLst/>
            <a:rect l="0" t="0" r="r" b="b"/>
            <a:pathLst>
              <a:path w="20704" h="19050">
                <a:moveTo>
                  <a:pt x="19051" y="0"/>
                </a:moveTo>
                <a:lnTo>
                  <a:pt x="0" y="19050"/>
                </a:lnTo>
                <a:lnTo>
                  <a:pt x="1653" y="19050"/>
                </a:lnTo>
                <a:lnTo>
                  <a:pt x="20704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0" name=""/>
          <p:cNvSpPr/>
          <p:nvPr/>
        </p:nvSpPr>
        <p:spPr>
          <a:xfrm>
            <a:off x="5047920" y="0"/>
            <a:ext cx="7144200" cy="6858000"/>
          </a:xfrm>
          <a:custGeom>
            <a:avLst/>
            <a:gdLst/>
            <a:ahLst/>
            <a:rect l="0" t="0" r="r" b="b"/>
            <a:pathLst>
              <a:path w="19845" h="19050">
                <a:moveTo>
                  <a:pt x="19051" y="0"/>
                </a:moveTo>
                <a:lnTo>
                  <a:pt x="0" y="19050"/>
                </a:lnTo>
                <a:lnTo>
                  <a:pt x="794" y="19050"/>
                </a:lnTo>
                <a:lnTo>
                  <a:pt x="19845" y="0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1" name=""/>
          <p:cNvSpPr/>
          <p:nvPr/>
        </p:nvSpPr>
        <p:spPr>
          <a:xfrm>
            <a:off x="5333760" y="0"/>
            <a:ext cx="6858360" cy="6858000"/>
          </a:xfrm>
          <a:custGeom>
            <a:avLst/>
            <a:gdLst/>
            <a:ahLst/>
            <a:rect l="0" t="0" r="r" b="b"/>
            <a:pathLst>
              <a:path w="19051" h="19050">
                <a:moveTo>
                  <a:pt x="19051" y="0"/>
                </a:moveTo>
                <a:lnTo>
                  <a:pt x="0" y="19050"/>
                </a:lnTo>
                <a:lnTo>
                  <a:pt x="860" y="19050"/>
                </a:lnTo>
                <a:lnTo>
                  <a:pt x="19051" y="859"/>
                </a:lnTo>
                <a:lnTo>
                  <a:pt x="1905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2" name=""/>
          <p:cNvSpPr/>
          <p:nvPr/>
        </p:nvSpPr>
        <p:spPr>
          <a:xfrm>
            <a:off x="5643360" y="309240"/>
            <a:ext cx="6548760" cy="6548760"/>
          </a:xfrm>
          <a:custGeom>
            <a:avLst/>
            <a:gdLst/>
            <a:ahLst/>
            <a:rect l="0" t="0" r="r" b="b"/>
            <a:pathLst>
              <a:path w="18191" h="18191">
                <a:moveTo>
                  <a:pt x="18191" y="0"/>
                </a:moveTo>
                <a:lnTo>
                  <a:pt x="0" y="18191"/>
                </a:lnTo>
                <a:lnTo>
                  <a:pt x="1654" y="18191"/>
                </a:lnTo>
                <a:lnTo>
                  <a:pt x="18191" y="1654"/>
                </a:lnTo>
                <a:lnTo>
                  <a:pt x="18191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3" name=""/>
          <p:cNvSpPr/>
          <p:nvPr/>
        </p:nvSpPr>
        <p:spPr>
          <a:xfrm>
            <a:off x="6238800" y="904680"/>
            <a:ext cx="5953320" cy="5953320"/>
          </a:xfrm>
          <a:custGeom>
            <a:avLst/>
            <a:gdLst/>
            <a:ahLst/>
            <a:rect l="0" t="0" r="r" b="b"/>
            <a:pathLst>
              <a:path w="16537" h="16537">
                <a:moveTo>
                  <a:pt x="16537" y="0"/>
                </a:moveTo>
                <a:lnTo>
                  <a:pt x="0" y="16537"/>
                </a:lnTo>
                <a:lnTo>
                  <a:pt x="1653" y="16537"/>
                </a:lnTo>
                <a:lnTo>
                  <a:pt x="16537" y="1654"/>
                </a:lnTo>
                <a:lnTo>
                  <a:pt x="1653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4" name=""/>
          <p:cNvSpPr/>
          <p:nvPr/>
        </p:nvSpPr>
        <p:spPr>
          <a:xfrm>
            <a:off x="6833880" y="1500120"/>
            <a:ext cx="5358240" cy="5357880"/>
          </a:xfrm>
          <a:custGeom>
            <a:avLst/>
            <a:gdLst/>
            <a:ahLst/>
            <a:rect l="0" t="0" r="r" b="b"/>
            <a:pathLst>
              <a:path w="14884" h="14883">
                <a:moveTo>
                  <a:pt x="14884" y="0"/>
                </a:moveTo>
                <a:lnTo>
                  <a:pt x="0" y="14883"/>
                </a:lnTo>
                <a:lnTo>
                  <a:pt x="1654" y="14883"/>
                </a:lnTo>
                <a:lnTo>
                  <a:pt x="14884" y="1653"/>
                </a:lnTo>
                <a:lnTo>
                  <a:pt x="14884" y="0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5" name=""/>
          <p:cNvSpPr/>
          <p:nvPr/>
        </p:nvSpPr>
        <p:spPr>
          <a:xfrm>
            <a:off x="7429320" y="20952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13230" y="0"/>
                </a:moveTo>
                <a:lnTo>
                  <a:pt x="0" y="13230"/>
                </a:lnTo>
                <a:lnTo>
                  <a:pt x="1654" y="13230"/>
                </a:lnTo>
                <a:lnTo>
                  <a:pt x="13230" y="1655"/>
                </a:lnTo>
                <a:lnTo>
                  <a:pt x="13230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6" name=""/>
          <p:cNvSpPr/>
          <p:nvPr/>
        </p:nvSpPr>
        <p:spPr>
          <a:xfrm>
            <a:off x="8024760" y="2690640"/>
            <a:ext cx="4167360" cy="4167360"/>
          </a:xfrm>
          <a:custGeom>
            <a:avLst/>
            <a:gdLst/>
            <a:ahLst/>
            <a:rect l="0" t="0" r="r" b="b"/>
            <a:pathLst>
              <a:path w="11576" h="11576">
                <a:moveTo>
                  <a:pt x="11576" y="0"/>
                </a:moveTo>
                <a:lnTo>
                  <a:pt x="0" y="11576"/>
                </a:lnTo>
                <a:lnTo>
                  <a:pt x="1653" y="11576"/>
                </a:lnTo>
                <a:lnTo>
                  <a:pt x="11576" y="1654"/>
                </a:lnTo>
                <a:lnTo>
                  <a:pt x="11576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7" name=""/>
          <p:cNvSpPr/>
          <p:nvPr/>
        </p:nvSpPr>
        <p:spPr>
          <a:xfrm>
            <a:off x="8619840" y="3286080"/>
            <a:ext cx="3572280" cy="3571920"/>
          </a:xfrm>
          <a:custGeom>
            <a:avLst/>
            <a:gdLst/>
            <a:ahLst/>
            <a:rect l="0" t="0" r="r" b="b"/>
            <a:pathLst>
              <a:path w="9923" h="9922">
                <a:moveTo>
                  <a:pt x="9923" y="0"/>
                </a:moveTo>
                <a:lnTo>
                  <a:pt x="0" y="9922"/>
                </a:lnTo>
                <a:lnTo>
                  <a:pt x="1655" y="9922"/>
                </a:lnTo>
                <a:lnTo>
                  <a:pt x="9923" y="1653"/>
                </a:lnTo>
                <a:lnTo>
                  <a:pt x="9923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8" name=""/>
          <p:cNvSpPr/>
          <p:nvPr/>
        </p:nvSpPr>
        <p:spPr>
          <a:xfrm>
            <a:off x="9215280" y="3881160"/>
            <a:ext cx="2976840" cy="2976840"/>
          </a:xfrm>
          <a:custGeom>
            <a:avLst/>
            <a:gdLst/>
            <a:ahLst/>
            <a:rect l="0" t="0" r="r" b="b"/>
            <a:pathLst>
              <a:path w="8269" h="8269">
                <a:moveTo>
                  <a:pt x="8269" y="0"/>
                </a:moveTo>
                <a:lnTo>
                  <a:pt x="0" y="8269"/>
                </a:lnTo>
                <a:lnTo>
                  <a:pt x="1654" y="8269"/>
                </a:lnTo>
                <a:lnTo>
                  <a:pt x="8269" y="1655"/>
                </a:lnTo>
                <a:lnTo>
                  <a:pt x="8269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9" name=""/>
          <p:cNvSpPr/>
          <p:nvPr/>
        </p:nvSpPr>
        <p:spPr>
          <a:xfrm>
            <a:off x="9810720" y="4476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6615" y="0"/>
                </a:moveTo>
                <a:lnTo>
                  <a:pt x="0" y="6615"/>
                </a:lnTo>
                <a:lnTo>
                  <a:pt x="1653" y="6615"/>
                </a:lnTo>
                <a:lnTo>
                  <a:pt x="6615" y="1654"/>
                </a:lnTo>
                <a:lnTo>
                  <a:pt x="6615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50" name=""/>
          <p:cNvSpPr/>
          <p:nvPr/>
        </p:nvSpPr>
        <p:spPr>
          <a:xfrm>
            <a:off x="10405800" y="5072040"/>
            <a:ext cx="1786320" cy="1785960"/>
          </a:xfrm>
          <a:custGeom>
            <a:avLst/>
            <a:gdLst/>
            <a:ahLst/>
            <a:rect l="0" t="0" r="r" b="b"/>
            <a:pathLst>
              <a:path w="4962" h="4961">
                <a:moveTo>
                  <a:pt x="4962" y="0"/>
                </a:moveTo>
                <a:lnTo>
                  <a:pt x="0" y="4961"/>
                </a:lnTo>
                <a:lnTo>
                  <a:pt x="1654" y="4961"/>
                </a:lnTo>
                <a:lnTo>
                  <a:pt x="4962" y="1653"/>
                </a:lnTo>
                <a:lnTo>
                  <a:pt x="496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51" name=""/>
          <p:cNvSpPr/>
          <p:nvPr/>
        </p:nvSpPr>
        <p:spPr>
          <a:xfrm>
            <a:off x="11001240" y="5667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3308" y="0"/>
                </a:moveTo>
                <a:lnTo>
                  <a:pt x="0" y="3308"/>
                </a:lnTo>
                <a:lnTo>
                  <a:pt x="1655" y="3308"/>
                </a:lnTo>
                <a:lnTo>
                  <a:pt x="3308" y="1654"/>
                </a:lnTo>
                <a:lnTo>
                  <a:pt x="3308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52" name=""/>
          <p:cNvSpPr/>
          <p:nvPr/>
        </p:nvSpPr>
        <p:spPr>
          <a:xfrm>
            <a:off x="11596680" y="626256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1654" y="0"/>
                </a:moveTo>
                <a:lnTo>
                  <a:pt x="0" y="1654"/>
                </a:lnTo>
                <a:lnTo>
                  <a:pt x="1654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53" name=""/>
          <p:cNvSpPr/>
          <p:nvPr/>
        </p:nvSpPr>
        <p:spPr>
          <a:xfrm>
            <a:off x="1333440" y="-6096240"/>
            <a:ext cx="9525240" cy="9525240"/>
          </a:xfrm>
          <a:custGeom>
            <a:avLst/>
            <a:gdLst/>
            <a:ahLst/>
            <a:rect l="0" t="0" r="r" b="b"/>
            <a:pathLst>
              <a:path w="26459" h="26459">
                <a:moveTo>
                  <a:pt x="13230" y="0"/>
                </a:moveTo>
                <a:lnTo>
                  <a:pt x="26459" y="13230"/>
                </a:lnTo>
                <a:lnTo>
                  <a:pt x="13230" y="26459"/>
                </a:lnTo>
                <a:lnTo>
                  <a:pt x="0" y="13230"/>
                </a:lnTo>
                <a:lnTo>
                  <a:pt x="1323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54" name=""/>
          <p:cNvSpPr/>
          <p:nvPr/>
        </p:nvSpPr>
        <p:spPr>
          <a:xfrm>
            <a:off x="-3429000" y="-1333800"/>
            <a:ext cx="9525240" cy="9525600"/>
          </a:xfrm>
          <a:custGeom>
            <a:avLst/>
            <a:gdLst/>
            <a:ahLst/>
            <a:rect l="0" t="0" r="r" b="b"/>
            <a:pathLst>
              <a:path w="26459" h="26460">
                <a:moveTo>
                  <a:pt x="13229" y="0"/>
                </a:moveTo>
                <a:lnTo>
                  <a:pt x="26459" y="13229"/>
                </a:lnTo>
                <a:lnTo>
                  <a:pt x="13229" y="26460"/>
                </a:lnTo>
                <a:lnTo>
                  <a:pt x="0" y="13229"/>
                </a:lnTo>
                <a:lnTo>
                  <a:pt x="13229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55" name=""/>
          <p:cNvSpPr/>
          <p:nvPr/>
        </p:nvSpPr>
        <p:spPr>
          <a:xfrm>
            <a:off x="10709640" y="-13338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6" name=""/>
          <p:cNvSpPr/>
          <p:nvPr/>
        </p:nvSpPr>
        <p:spPr>
          <a:xfrm>
            <a:off x="1056060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7" name=""/>
          <p:cNvSpPr/>
          <p:nvPr/>
        </p:nvSpPr>
        <p:spPr>
          <a:xfrm>
            <a:off x="10858320" y="-1184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8" name=""/>
          <p:cNvSpPr/>
          <p:nvPr/>
        </p:nvSpPr>
        <p:spPr>
          <a:xfrm>
            <a:off x="10709640" y="-1036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9" name=""/>
          <p:cNvSpPr/>
          <p:nvPr/>
        </p:nvSpPr>
        <p:spPr>
          <a:xfrm>
            <a:off x="10411920" y="-1036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0" name=""/>
          <p:cNvSpPr/>
          <p:nvPr/>
        </p:nvSpPr>
        <p:spPr>
          <a:xfrm>
            <a:off x="1026288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1" name=""/>
          <p:cNvSpPr/>
          <p:nvPr/>
        </p:nvSpPr>
        <p:spPr>
          <a:xfrm>
            <a:off x="10560600" y="-887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2" name=""/>
          <p:cNvSpPr/>
          <p:nvPr/>
        </p:nvSpPr>
        <p:spPr>
          <a:xfrm>
            <a:off x="1041192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3" name=""/>
          <p:cNvSpPr/>
          <p:nvPr/>
        </p:nvSpPr>
        <p:spPr>
          <a:xfrm>
            <a:off x="10858320" y="-1036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4" name=""/>
          <p:cNvSpPr/>
          <p:nvPr/>
        </p:nvSpPr>
        <p:spPr>
          <a:xfrm>
            <a:off x="10560600" y="-7383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5" name=""/>
          <p:cNvSpPr/>
          <p:nvPr/>
        </p:nvSpPr>
        <p:spPr>
          <a:xfrm>
            <a:off x="10114200" y="-738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6" name=""/>
          <p:cNvSpPr/>
          <p:nvPr/>
        </p:nvSpPr>
        <p:spPr>
          <a:xfrm>
            <a:off x="9965520" y="-5896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7" name=""/>
          <p:cNvSpPr/>
          <p:nvPr/>
        </p:nvSpPr>
        <p:spPr>
          <a:xfrm>
            <a:off x="10262880" y="-589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8" name=""/>
          <p:cNvSpPr/>
          <p:nvPr/>
        </p:nvSpPr>
        <p:spPr>
          <a:xfrm>
            <a:off x="1011420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9" name=""/>
          <p:cNvSpPr/>
          <p:nvPr/>
        </p:nvSpPr>
        <p:spPr>
          <a:xfrm>
            <a:off x="9816480" y="-440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0" name=""/>
          <p:cNvSpPr/>
          <p:nvPr/>
        </p:nvSpPr>
        <p:spPr>
          <a:xfrm>
            <a:off x="9667800" y="-291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1" name=""/>
          <p:cNvSpPr/>
          <p:nvPr/>
        </p:nvSpPr>
        <p:spPr>
          <a:xfrm>
            <a:off x="9965520" y="-291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2" name=""/>
          <p:cNvSpPr/>
          <p:nvPr/>
        </p:nvSpPr>
        <p:spPr>
          <a:xfrm>
            <a:off x="981648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3" name=""/>
          <p:cNvSpPr/>
          <p:nvPr/>
        </p:nvSpPr>
        <p:spPr>
          <a:xfrm>
            <a:off x="10262880" y="-4406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4" name=""/>
          <p:cNvSpPr/>
          <p:nvPr/>
        </p:nvSpPr>
        <p:spPr>
          <a:xfrm>
            <a:off x="9965520" y="-14292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5" name=""/>
          <p:cNvSpPr/>
          <p:nvPr/>
        </p:nvSpPr>
        <p:spPr>
          <a:xfrm>
            <a:off x="10858320" y="-7383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6" name=""/>
          <p:cNvSpPr/>
          <p:nvPr/>
        </p:nvSpPr>
        <p:spPr>
          <a:xfrm>
            <a:off x="10262880" y="-14292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7" name=""/>
          <p:cNvSpPr/>
          <p:nvPr/>
        </p:nvSpPr>
        <p:spPr>
          <a:xfrm>
            <a:off x="9518760" y="-142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8" name=""/>
          <p:cNvSpPr/>
          <p:nvPr/>
        </p:nvSpPr>
        <p:spPr>
          <a:xfrm>
            <a:off x="937008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9" name=""/>
          <p:cNvSpPr/>
          <p:nvPr/>
        </p:nvSpPr>
        <p:spPr>
          <a:xfrm>
            <a:off x="9667800" y="5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0" name=""/>
          <p:cNvSpPr/>
          <p:nvPr/>
        </p:nvSpPr>
        <p:spPr>
          <a:xfrm>
            <a:off x="951876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1" name=""/>
          <p:cNvSpPr/>
          <p:nvPr/>
        </p:nvSpPr>
        <p:spPr>
          <a:xfrm>
            <a:off x="9221040" y="154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2" name=""/>
          <p:cNvSpPr/>
          <p:nvPr/>
        </p:nvSpPr>
        <p:spPr>
          <a:xfrm>
            <a:off x="907236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3" name=""/>
          <p:cNvSpPr/>
          <p:nvPr/>
        </p:nvSpPr>
        <p:spPr>
          <a:xfrm>
            <a:off x="9370080" y="303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4" name=""/>
          <p:cNvSpPr/>
          <p:nvPr/>
        </p:nvSpPr>
        <p:spPr>
          <a:xfrm>
            <a:off x="9221040" y="452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5" name=""/>
          <p:cNvSpPr/>
          <p:nvPr/>
        </p:nvSpPr>
        <p:spPr>
          <a:xfrm>
            <a:off x="9667800" y="1544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6" name=""/>
          <p:cNvSpPr/>
          <p:nvPr/>
        </p:nvSpPr>
        <p:spPr>
          <a:xfrm>
            <a:off x="9370080" y="4521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7" name=""/>
          <p:cNvSpPr/>
          <p:nvPr/>
        </p:nvSpPr>
        <p:spPr>
          <a:xfrm>
            <a:off x="8923680" y="452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8" name=""/>
          <p:cNvSpPr/>
          <p:nvPr/>
        </p:nvSpPr>
        <p:spPr>
          <a:xfrm>
            <a:off x="877464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9" name=""/>
          <p:cNvSpPr/>
          <p:nvPr/>
        </p:nvSpPr>
        <p:spPr>
          <a:xfrm>
            <a:off x="9072360" y="601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0" name=""/>
          <p:cNvSpPr/>
          <p:nvPr/>
        </p:nvSpPr>
        <p:spPr>
          <a:xfrm>
            <a:off x="8923680" y="7498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1" name=""/>
          <p:cNvSpPr/>
          <p:nvPr/>
        </p:nvSpPr>
        <p:spPr>
          <a:xfrm>
            <a:off x="8625960" y="749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2" name=""/>
          <p:cNvSpPr/>
          <p:nvPr/>
        </p:nvSpPr>
        <p:spPr>
          <a:xfrm>
            <a:off x="847692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3" name=""/>
          <p:cNvSpPr/>
          <p:nvPr/>
        </p:nvSpPr>
        <p:spPr>
          <a:xfrm>
            <a:off x="8774640" y="8989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4" name=""/>
          <p:cNvSpPr/>
          <p:nvPr/>
        </p:nvSpPr>
        <p:spPr>
          <a:xfrm>
            <a:off x="862596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5" name=""/>
          <p:cNvSpPr/>
          <p:nvPr/>
        </p:nvSpPr>
        <p:spPr>
          <a:xfrm>
            <a:off x="9072360" y="7498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6" name=""/>
          <p:cNvSpPr/>
          <p:nvPr/>
        </p:nvSpPr>
        <p:spPr>
          <a:xfrm>
            <a:off x="8774640" y="10476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7" name=""/>
          <p:cNvSpPr/>
          <p:nvPr/>
        </p:nvSpPr>
        <p:spPr>
          <a:xfrm>
            <a:off x="9667800" y="4521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8" name=""/>
          <p:cNvSpPr/>
          <p:nvPr/>
        </p:nvSpPr>
        <p:spPr>
          <a:xfrm>
            <a:off x="9072360" y="10476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9" name=""/>
          <p:cNvSpPr/>
          <p:nvPr/>
        </p:nvSpPr>
        <p:spPr>
          <a:xfrm>
            <a:off x="10858320" y="-14292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7" y="0"/>
                </a:moveTo>
                <a:lnTo>
                  <a:pt x="6616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0" name=""/>
          <p:cNvSpPr/>
          <p:nvPr/>
        </p:nvSpPr>
        <p:spPr>
          <a:xfrm>
            <a:off x="9667800" y="104760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8" y="0"/>
                </a:moveTo>
                <a:lnTo>
                  <a:pt x="6615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1" name=""/>
          <p:cNvSpPr/>
          <p:nvPr/>
        </p:nvSpPr>
        <p:spPr>
          <a:xfrm>
            <a:off x="8328240" y="1047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2" name=""/>
          <p:cNvSpPr/>
          <p:nvPr/>
        </p:nvSpPr>
        <p:spPr>
          <a:xfrm>
            <a:off x="8179560" y="1196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3" name=""/>
          <p:cNvSpPr/>
          <p:nvPr/>
        </p:nvSpPr>
        <p:spPr>
          <a:xfrm>
            <a:off x="8476920" y="1196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4" name=""/>
          <p:cNvSpPr/>
          <p:nvPr/>
        </p:nvSpPr>
        <p:spPr>
          <a:xfrm>
            <a:off x="832824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5" name=""/>
          <p:cNvSpPr/>
          <p:nvPr/>
        </p:nvSpPr>
        <p:spPr>
          <a:xfrm>
            <a:off x="8030520" y="1345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3"/>
                </a:lnTo>
                <a:lnTo>
                  <a:pt x="415" y="828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6" name=""/>
          <p:cNvSpPr/>
          <p:nvPr/>
        </p:nvSpPr>
        <p:spPr>
          <a:xfrm>
            <a:off x="7881840" y="1494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7" name=""/>
          <p:cNvSpPr/>
          <p:nvPr/>
        </p:nvSpPr>
        <p:spPr>
          <a:xfrm>
            <a:off x="8179560" y="14940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8" name=""/>
          <p:cNvSpPr/>
          <p:nvPr/>
        </p:nvSpPr>
        <p:spPr>
          <a:xfrm>
            <a:off x="803052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9" name=""/>
          <p:cNvSpPr/>
          <p:nvPr/>
        </p:nvSpPr>
        <p:spPr>
          <a:xfrm>
            <a:off x="8476920" y="13453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0" name=""/>
          <p:cNvSpPr/>
          <p:nvPr/>
        </p:nvSpPr>
        <p:spPr>
          <a:xfrm>
            <a:off x="8179560" y="16430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6" y="0"/>
                </a:moveTo>
                <a:lnTo>
                  <a:pt x="1654" y="826"/>
                </a:lnTo>
                <a:lnTo>
                  <a:pt x="826" y="1654"/>
                </a:lnTo>
                <a:lnTo>
                  <a:pt x="0" y="826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1" name=""/>
          <p:cNvSpPr/>
          <p:nvPr/>
        </p:nvSpPr>
        <p:spPr>
          <a:xfrm>
            <a:off x="7732800" y="16430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2" name=""/>
          <p:cNvSpPr/>
          <p:nvPr/>
        </p:nvSpPr>
        <p:spPr>
          <a:xfrm>
            <a:off x="758412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3" name=""/>
          <p:cNvSpPr/>
          <p:nvPr/>
        </p:nvSpPr>
        <p:spPr>
          <a:xfrm>
            <a:off x="7881840" y="1791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4" name=""/>
          <p:cNvSpPr/>
          <p:nvPr/>
        </p:nvSpPr>
        <p:spPr>
          <a:xfrm>
            <a:off x="7732800" y="1940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5" name=""/>
          <p:cNvSpPr/>
          <p:nvPr/>
        </p:nvSpPr>
        <p:spPr>
          <a:xfrm>
            <a:off x="7435440" y="1940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6" name=""/>
          <p:cNvSpPr/>
          <p:nvPr/>
        </p:nvSpPr>
        <p:spPr>
          <a:xfrm>
            <a:off x="728640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7" name=""/>
          <p:cNvSpPr/>
          <p:nvPr/>
        </p:nvSpPr>
        <p:spPr>
          <a:xfrm>
            <a:off x="7584120" y="2089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8" name=""/>
          <p:cNvSpPr/>
          <p:nvPr/>
        </p:nvSpPr>
        <p:spPr>
          <a:xfrm>
            <a:off x="7435440" y="22381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9" name=""/>
          <p:cNvSpPr/>
          <p:nvPr/>
        </p:nvSpPr>
        <p:spPr>
          <a:xfrm>
            <a:off x="7881840" y="19404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0" name=""/>
          <p:cNvSpPr/>
          <p:nvPr/>
        </p:nvSpPr>
        <p:spPr>
          <a:xfrm>
            <a:off x="7584120" y="22381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1" name=""/>
          <p:cNvSpPr/>
          <p:nvPr/>
        </p:nvSpPr>
        <p:spPr>
          <a:xfrm>
            <a:off x="8476920" y="16430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2" name=""/>
          <p:cNvSpPr/>
          <p:nvPr/>
        </p:nvSpPr>
        <p:spPr>
          <a:xfrm>
            <a:off x="7881840" y="22381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3" y="0"/>
                </a:moveTo>
                <a:lnTo>
                  <a:pt x="3308" y="1654"/>
                </a:lnTo>
                <a:lnTo>
                  <a:pt x="1653" y="3308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3" name=""/>
          <p:cNvSpPr/>
          <p:nvPr/>
        </p:nvSpPr>
        <p:spPr>
          <a:xfrm>
            <a:off x="7137720" y="22381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4" name=""/>
          <p:cNvSpPr/>
          <p:nvPr/>
        </p:nvSpPr>
        <p:spPr>
          <a:xfrm>
            <a:off x="698868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5" name=""/>
          <p:cNvSpPr/>
          <p:nvPr/>
        </p:nvSpPr>
        <p:spPr>
          <a:xfrm>
            <a:off x="7286400" y="23871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6" name=""/>
          <p:cNvSpPr/>
          <p:nvPr/>
        </p:nvSpPr>
        <p:spPr>
          <a:xfrm>
            <a:off x="713772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7" name=""/>
          <p:cNvSpPr/>
          <p:nvPr/>
        </p:nvSpPr>
        <p:spPr>
          <a:xfrm>
            <a:off x="6840000" y="25358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8" name=""/>
          <p:cNvSpPr/>
          <p:nvPr/>
        </p:nvSpPr>
        <p:spPr>
          <a:xfrm>
            <a:off x="669096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9" name=""/>
          <p:cNvSpPr/>
          <p:nvPr/>
        </p:nvSpPr>
        <p:spPr>
          <a:xfrm>
            <a:off x="6988680" y="2684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0" name=""/>
          <p:cNvSpPr/>
          <p:nvPr/>
        </p:nvSpPr>
        <p:spPr>
          <a:xfrm>
            <a:off x="684000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1" name=""/>
          <p:cNvSpPr/>
          <p:nvPr/>
        </p:nvSpPr>
        <p:spPr>
          <a:xfrm>
            <a:off x="7286400" y="25358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2" name=""/>
          <p:cNvSpPr/>
          <p:nvPr/>
        </p:nvSpPr>
        <p:spPr>
          <a:xfrm>
            <a:off x="6988680" y="283356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3" name=""/>
          <p:cNvSpPr/>
          <p:nvPr/>
        </p:nvSpPr>
        <p:spPr>
          <a:xfrm>
            <a:off x="6542280" y="2833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4" name=""/>
          <p:cNvSpPr/>
          <p:nvPr/>
        </p:nvSpPr>
        <p:spPr>
          <a:xfrm>
            <a:off x="6393600" y="29822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5"/>
                </a:lnTo>
                <a:lnTo>
                  <a:pt x="413" y="828"/>
                </a:lnTo>
                <a:lnTo>
                  <a:pt x="0" y="415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5" name=""/>
          <p:cNvSpPr/>
          <p:nvPr/>
        </p:nvSpPr>
        <p:spPr>
          <a:xfrm>
            <a:off x="6690960" y="29822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6" name=""/>
          <p:cNvSpPr/>
          <p:nvPr/>
        </p:nvSpPr>
        <p:spPr>
          <a:xfrm>
            <a:off x="654228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7" name=""/>
          <p:cNvSpPr/>
          <p:nvPr/>
        </p:nvSpPr>
        <p:spPr>
          <a:xfrm>
            <a:off x="6244560" y="313128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3"/>
                </a:lnTo>
                <a:lnTo>
                  <a:pt x="415" y="827"/>
                </a:lnTo>
                <a:lnTo>
                  <a:pt x="0" y="413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8" name=""/>
          <p:cNvSpPr/>
          <p:nvPr/>
        </p:nvSpPr>
        <p:spPr>
          <a:xfrm>
            <a:off x="6095880" y="32799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9" name=""/>
          <p:cNvSpPr/>
          <p:nvPr/>
        </p:nvSpPr>
        <p:spPr>
          <a:xfrm>
            <a:off x="6393600" y="32799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0" name=""/>
          <p:cNvSpPr/>
          <p:nvPr/>
        </p:nvSpPr>
        <p:spPr>
          <a:xfrm>
            <a:off x="624456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1" name=""/>
          <p:cNvSpPr/>
          <p:nvPr/>
        </p:nvSpPr>
        <p:spPr>
          <a:xfrm>
            <a:off x="6690960" y="31312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7"/>
                </a:lnTo>
                <a:lnTo>
                  <a:pt x="828" y="1654"/>
                </a:lnTo>
                <a:lnTo>
                  <a:pt x="0" y="827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2" name=""/>
          <p:cNvSpPr/>
          <p:nvPr/>
        </p:nvSpPr>
        <p:spPr>
          <a:xfrm>
            <a:off x="6393600" y="342864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6" y="0"/>
                </a:moveTo>
                <a:lnTo>
                  <a:pt x="1654" y="827"/>
                </a:lnTo>
                <a:lnTo>
                  <a:pt x="826" y="1655"/>
                </a:lnTo>
                <a:lnTo>
                  <a:pt x="0" y="827"/>
                </a:lnTo>
                <a:lnTo>
                  <a:pt x="82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3" name=""/>
          <p:cNvSpPr/>
          <p:nvPr/>
        </p:nvSpPr>
        <p:spPr>
          <a:xfrm>
            <a:off x="7286400" y="283356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4" name=""/>
          <p:cNvSpPr/>
          <p:nvPr/>
        </p:nvSpPr>
        <p:spPr>
          <a:xfrm>
            <a:off x="6690960" y="3428640"/>
            <a:ext cx="1191240" cy="1191240"/>
          </a:xfrm>
          <a:custGeom>
            <a:avLst/>
            <a:gdLst/>
            <a:ahLst/>
            <a:rect l="0" t="0" r="r" b="b"/>
            <a:pathLst>
              <a:path w="3309" h="3309">
                <a:moveTo>
                  <a:pt x="1654" y="0"/>
                </a:moveTo>
                <a:lnTo>
                  <a:pt x="3309" y="1654"/>
                </a:lnTo>
                <a:lnTo>
                  <a:pt x="1654" y="3309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5" name=""/>
          <p:cNvSpPr/>
          <p:nvPr/>
        </p:nvSpPr>
        <p:spPr>
          <a:xfrm>
            <a:off x="8476920" y="223812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7"/>
                </a:lnTo>
                <a:lnTo>
                  <a:pt x="3308" y="6616"/>
                </a:lnTo>
                <a:lnTo>
                  <a:pt x="0" y="3307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6" name=""/>
          <p:cNvSpPr/>
          <p:nvPr/>
        </p:nvSpPr>
        <p:spPr>
          <a:xfrm>
            <a:off x="7286400" y="342864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9"/>
                </a:lnTo>
                <a:lnTo>
                  <a:pt x="3308" y="6616"/>
                </a:lnTo>
                <a:lnTo>
                  <a:pt x="0" y="3309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7" name=""/>
          <p:cNvSpPr/>
          <p:nvPr/>
        </p:nvSpPr>
        <p:spPr>
          <a:xfrm>
            <a:off x="10858320" y="104760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6" y="0"/>
                </a:moveTo>
                <a:lnTo>
                  <a:pt x="13230" y="6615"/>
                </a:lnTo>
                <a:lnTo>
                  <a:pt x="6616" y="13230"/>
                </a:lnTo>
                <a:lnTo>
                  <a:pt x="0" y="6615"/>
                </a:lnTo>
                <a:lnTo>
                  <a:pt x="661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8" name=""/>
          <p:cNvSpPr/>
          <p:nvPr/>
        </p:nvSpPr>
        <p:spPr>
          <a:xfrm>
            <a:off x="8476920" y="3428640"/>
            <a:ext cx="4763160" cy="4763160"/>
          </a:xfrm>
          <a:custGeom>
            <a:avLst/>
            <a:gdLst/>
            <a:ahLst/>
            <a:rect l="0" t="0" r="r" b="b"/>
            <a:pathLst>
              <a:path w="13231" h="13231">
                <a:moveTo>
                  <a:pt x="6615" y="0"/>
                </a:moveTo>
                <a:lnTo>
                  <a:pt x="13231" y="6615"/>
                </a:lnTo>
                <a:lnTo>
                  <a:pt x="6615" y="13231"/>
                </a:lnTo>
                <a:lnTo>
                  <a:pt x="0" y="6615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9" name=""/>
          <p:cNvSpPr/>
          <p:nvPr/>
        </p:nvSpPr>
        <p:spPr>
          <a:xfrm>
            <a:off x="5946840" y="3428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0" name=""/>
          <p:cNvSpPr/>
          <p:nvPr/>
        </p:nvSpPr>
        <p:spPr>
          <a:xfrm>
            <a:off x="5798160" y="35776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1" name=""/>
          <p:cNvSpPr/>
          <p:nvPr/>
        </p:nvSpPr>
        <p:spPr>
          <a:xfrm>
            <a:off x="6095880" y="3577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2" name=""/>
          <p:cNvSpPr/>
          <p:nvPr/>
        </p:nvSpPr>
        <p:spPr>
          <a:xfrm>
            <a:off x="5946840" y="37263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3" name=""/>
          <p:cNvSpPr/>
          <p:nvPr/>
        </p:nvSpPr>
        <p:spPr>
          <a:xfrm>
            <a:off x="5649480" y="37263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4" name=""/>
          <p:cNvSpPr/>
          <p:nvPr/>
        </p:nvSpPr>
        <p:spPr>
          <a:xfrm>
            <a:off x="5500440" y="3875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5" name=""/>
          <p:cNvSpPr/>
          <p:nvPr/>
        </p:nvSpPr>
        <p:spPr>
          <a:xfrm>
            <a:off x="5798160" y="387540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414" y="0"/>
                </a:moveTo>
                <a:lnTo>
                  <a:pt x="829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6" name=""/>
          <p:cNvSpPr/>
          <p:nvPr/>
        </p:nvSpPr>
        <p:spPr>
          <a:xfrm>
            <a:off x="5649480" y="40240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7" name=""/>
          <p:cNvSpPr/>
          <p:nvPr/>
        </p:nvSpPr>
        <p:spPr>
          <a:xfrm>
            <a:off x="6095880" y="37263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8" y="0"/>
                </a:moveTo>
                <a:lnTo>
                  <a:pt x="1654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8" name=""/>
          <p:cNvSpPr/>
          <p:nvPr/>
        </p:nvSpPr>
        <p:spPr>
          <a:xfrm>
            <a:off x="5798160" y="40240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9" name=""/>
          <p:cNvSpPr/>
          <p:nvPr/>
        </p:nvSpPr>
        <p:spPr>
          <a:xfrm>
            <a:off x="5351760" y="40240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0" name=""/>
          <p:cNvSpPr/>
          <p:nvPr/>
        </p:nvSpPr>
        <p:spPr>
          <a:xfrm>
            <a:off x="520272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1" name=""/>
          <p:cNvSpPr/>
          <p:nvPr/>
        </p:nvSpPr>
        <p:spPr>
          <a:xfrm>
            <a:off x="5500440" y="41731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2" name=""/>
          <p:cNvSpPr/>
          <p:nvPr/>
        </p:nvSpPr>
        <p:spPr>
          <a:xfrm>
            <a:off x="535176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3" name=""/>
          <p:cNvSpPr/>
          <p:nvPr/>
        </p:nvSpPr>
        <p:spPr>
          <a:xfrm>
            <a:off x="5054040" y="43218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4" name=""/>
          <p:cNvSpPr/>
          <p:nvPr/>
        </p:nvSpPr>
        <p:spPr>
          <a:xfrm>
            <a:off x="4905360" y="44704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5" name=""/>
          <p:cNvSpPr/>
          <p:nvPr/>
        </p:nvSpPr>
        <p:spPr>
          <a:xfrm>
            <a:off x="5202720" y="4470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6" name=""/>
          <p:cNvSpPr/>
          <p:nvPr/>
        </p:nvSpPr>
        <p:spPr>
          <a:xfrm>
            <a:off x="505404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7" name=""/>
          <p:cNvSpPr/>
          <p:nvPr/>
        </p:nvSpPr>
        <p:spPr>
          <a:xfrm>
            <a:off x="5500440" y="43218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8" name=""/>
          <p:cNvSpPr/>
          <p:nvPr/>
        </p:nvSpPr>
        <p:spPr>
          <a:xfrm>
            <a:off x="5202720" y="46195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9" name=""/>
          <p:cNvSpPr/>
          <p:nvPr/>
        </p:nvSpPr>
        <p:spPr>
          <a:xfrm>
            <a:off x="6095880" y="402408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5"/>
                </a:lnTo>
                <a:lnTo>
                  <a:pt x="1654" y="3308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0" name=""/>
          <p:cNvSpPr/>
          <p:nvPr/>
        </p:nvSpPr>
        <p:spPr>
          <a:xfrm>
            <a:off x="5500440" y="461952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1" name=""/>
          <p:cNvSpPr/>
          <p:nvPr/>
        </p:nvSpPr>
        <p:spPr>
          <a:xfrm>
            <a:off x="4756320" y="46195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2" name=""/>
          <p:cNvSpPr/>
          <p:nvPr/>
        </p:nvSpPr>
        <p:spPr>
          <a:xfrm>
            <a:off x="4607640" y="47682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3" name=""/>
          <p:cNvSpPr/>
          <p:nvPr/>
        </p:nvSpPr>
        <p:spPr>
          <a:xfrm>
            <a:off x="4905360" y="47682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4" name=""/>
          <p:cNvSpPr/>
          <p:nvPr/>
        </p:nvSpPr>
        <p:spPr>
          <a:xfrm>
            <a:off x="475632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5" name=""/>
          <p:cNvSpPr/>
          <p:nvPr/>
        </p:nvSpPr>
        <p:spPr>
          <a:xfrm>
            <a:off x="4458600" y="49172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6" name=""/>
          <p:cNvSpPr/>
          <p:nvPr/>
        </p:nvSpPr>
        <p:spPr>
          <a:xfrm>
            <a:off x="430992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7" name=""/>
          <p:cNvSpPr/>
          <p:nvPr/>
        </p:nvSpPr>
        <p:spPr>
          <a:xfrm>
            <a:off x="4607640" y="50659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8" name=""/>
          <p:cNvSpPr/>
          <p:nvPr/>
        </p:nvSpPr>
        <p:spPr>
          <a:xfrm>
            <a:off x="445860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9" name=""/>
          <p:cNvSpPr/>
          <p:nvPr/>
        </p:nvSpPr>
        <p:spPr>
          <a:xfrm>
            <a:off x="4905360" y="491724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0" name=""/>
          <p:cNvSpPr/>
          <p:nvPr/>
        </p:nvSpPr>
        <p:spPr>
          <a:xfrm>
            <a:off x="4607640" y="521460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1" name=""/>
          <p:cNvSpPr/>
          <p:nvPr/>
        </p:nvSpPr>
        <p:spPr>
          <a:xfrm>
            <a:off x="4160880" y="5214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2" name=""/>
          <p:cNvSpPr/>
          <p:nvPr/>
        </p:nvSpPr>
        <p:spPr>
          <a:xfrm>
            <a:off x="401220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3" name=""/>
          <p:cNvSpPr/>
          <p:nvPr/>
        </p:nvSpPr>
        <p:spPr>
          <a:xfrm>
            <a:off x="4309920" y="53636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4" name=""/>
          <p:cNvSpPr/>
          <p:nvPr/>
        </p:nvSpPr>
        <p:spPr>
          <a:xfrm>
            <a:off x="4160880" y="55123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5" name=""/>
          <p:cNvSpPr/>
          <p:nvPr/>
        </p:nvSpPr>
        <p:spPr>
          <a:xfrm>
            <a:off x="3863520" y="551232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6" name=""/>
          <p:cNvSpPr/>
          <p:nvPr/>
        </p:nvSpPr>
        <p:spPr>
          <a:xfrm>
            <a:off x="371448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7" name=""/>
          <p:cNvSpPr/>
          <p:nvPr/>
        </p:nvSpPr>
        <p:spPr>
          <a:xfrm>
            <a:off x="4012200" y="566136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4"/>
                </a:lnTo>
                <a:lnTo>
                  <a:pt x="414" y="827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8" name=""/>
          <p:cNvSpPr/>
          <p:nvPr/>
        </p:nvSpPr>
        <p:spPr>
          <a:xfrm>
            <a:off x="3863520" y="58100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9" name=""/>
          <p:cNvSpPr/>
          <p:nvPr/>
        </p:nvSpPr>
        <p:spPr>
          <a:xfrm>
            <a:off x="4309920" y="551232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0" name=""/>
          <p:cNvSpPr/>
          <p:nvPr/>
        </p:nvSpPr>
        <p:spPr>
          <a:xfrm>
            <a:off x="4012200" y="581004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1" name=""/>
          <p:cNvSpPr/>
          <p:nvPr/>
        </p:nvSpPr>
        <p:spPr>
          <a:xfrm>
            <a:off x="4905360" y="521460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4" y="0"/>
                </a:moveTo>
                <a:lnTo>
                  <a:pt x="3308" y="1655"/>
                </a:lnTo>
                <a:lnTo>
                  <a:pt x="1654" y="3309"/>
                </a:lnTo>
                <a:lnTo>
                  <a:pt x="0" y="1655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2" name=""/>
          <p:cNvSpPr/>
          <p:nvPr/>
        </p:nvSpPr>
        <p:spPr>
          <a:xfrm>
            <a:off x="4309920" y="581004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4" y="0"/>
                </a:moveTo>
                <a:lnTo>
                  <a:pt x="3308" y="1654"/>
                </a:lnTo>
                <a:lnTo>
                  <a:pt x="1654" y="3308"/>
                </a:lnTo>
                <a:lnTo>
                  <a:pt x="0" y="1654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3" name=""/>
          <p:cNvSpPr/>
          <p:nvPr/>
        </p:nvSpPr>
        <p:spPr>
          <a:xfrm>
            <a:off x="6095880" y="4619520"/>
            <a:ext cx="2381400" cy="2381400"/>
          </a:xfrm>
          <a:custGeom>
            <a:avLst/>
            <a:gdLst/>
            <a:ahLst/>
            <a:rect l="0" t="0" r="r" b="b"/>
            <a:pathLst>
              <a:path w="6615" h="6615">
                <a:moveTo>
                  <a:pt x="3307" y="0"/>
                </a:moveTo>
                <a:lnTo>
                  <a:pt x="6615" y="3307"/>
                </a:lnTo>
                <a:lnTo>
                  <a:pt x="3307" y="6615"/>
                </a:lnTo>
                <a:lnTo>
                  <a:pt x="0" y="3307"/>
                </a:lnTo>
                <a:lnTo>
                  <a:pt x="330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4" name=""/>
          <p:cNvSpPr/>
          <p:nvPr/>
        </p:nvSpPr>
        <p:spPr>
          <a:xfrm>
            <a:off x="4905360" y="5810040"/>
            <a:ext cx="2381400" cy="2381760"/>
          </a:xfrm>
          <a:custGeom>
            <a:avLst/>
            <a:gdLst/>
            <a:ahLst/>
            <a:rect l="0" t="0" r="r" b="b"/>
            <a:pathLst>
              <a:path w="6615" h="6616">
                <a:moveTo>
                  <a:pt x="3308" y="0"/>
                </a:moveTo>
                <a:lnTo>
                  <a:pt x="6615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5" name=""/>
          <p:cNvSpPr/>
          <p:nvPr/>
        </p:nvSpPr>
        <p:spPr>
          <a:xfrm>
            <a:off x="3565800" y="58100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6" name=""/>
          <p:cNvSpPr/>
          <p:nvPr/>
        </p:nvSpPr>
        <p:spPr>
          <a:xfrm>
            <a:off x="341676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7" name=""/>
          <p:cNvSpPr/>
          <p:nvPr/>
        </p:nvSpPr>
        <p:spPr>
          <a:xfrm>
            <a:off x="3714480" y="5958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8" name=""/>
          <p:cNvSpPr/>
          <p:nvPr/>
        </p:nvSpPr>
        <p:spPr>
          <a:xfrm>
            <a:off x="356580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9" name=""/>
          <p:cNvSpPr/>
          <p:nvPr/>
        </p:nvSpPr>
        <p:spPr>
          <a:xfrm>
            <a:off x="3268080" y="61077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0" name=""/>
          <p:cNvSpPr/>
          <p:nvPr/>
        </p:nvSpPr>
        <p:spPr>
          <a:xfrm>
            <a:off x="3119400" y="625644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1" name=""/>
          <p:cNvSpPr/>
          <p:nvPr/>
        </p:nvSpPr>
        <p:spPr>
          <a:xfrm>
            <a:off x="3416760" y="625644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2" name=""/>
          <p:cNvSpPr/>
          <p:nvPr/>
        </p:nvSpPr>
        <p:spPr>
          <a:xfrm>
            <a:off x="326808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3" name=""/>
          <p:cNvSpPr/>
          <p:nvPr/>
        </p:nvSpPr>
        <p:spPr>
          <a:xfrm>
            <a:off x="3714480" y="610776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4" name=""/>
          <p:cNvSpPr/>
          <p:nvPr/>
        </p:nvSpPr>
        <p:spPr>
          <a:xfrm>
            <a:off x="3416760" y="640548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5" name=""/>
          <p:cNvSpPr/>
          <p:nvPr/>
        </p:nvSpPr>
        <p:spPr>
          <a:xfrm>
            <a:off x="2970360" y="64054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3"/>
                </a:lnTo>
                <a:lnTo>
                  <a:pt x="414" y="828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6" name=""/>
          <p:cNvSpPr/>
          <p:nvPr/>
        </p:nvSpPr>
        <p:spPr>
          <a:xfrm>
            <a:off x="2821680" y="65541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7" name=""/>
          <p:cNvSpPr/>
          <p:nvPr/>
        </p:nvSpPr>
        <p:spPr>
          <a:xfrm>
            <a:off x="3119400" y="65541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8" name=""/>
          <p:cNvSpPr/>
          <p:nvPr/>
        </p:nvSpPr>
        <p:spPr>
          <a:xfrm>
            <a:off x="297036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9" name=""/>
          <p:cNvSpPr/>
          <p:nvPr/>
        </p:nvSpPr>
        <p:spPr>
          <a:xfrm>
            <a:off x="2672640" y="670320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4" y="0"/>
                </a:moveTo>
                <a:lnTo>
                  <a:pt x="828" y="413"/>
                </a:lnTo>
                <a:lnTo>
                  <a:pt x="414" y="827"/>
                </a:lnTo>
                <a:lnTo>
                  <a:pt x="0" y="413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0" name=""/>
          <p:cNvSpPr/>
          <p:nvPr/>
        </p:nvSpPr>
        <p:spPr>
          <a:xfrm>
            <a:off x="252396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1" name=""/>
          <p:cNvSpPr/>
          <p:nvPr/>
        </p:nvSpPr>
        <p:spPr>
          <a:xfrm>
            <a:off x="2821680" y="68518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2" name=""/>
          <p:cNvSpPr/>
          <p:nvPr/>
        </p:nvSpPr>
        <p:spPr>
          <a:xfrm>
            <a:off x="2672640" y="700056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3" name=""/>
          <p:cNvSpPr/>
          <p:nvPr/>
        </p:nvSpPr>
        <p:spPr>
          <a:xfrm>
            <a:off x="3119400" y="6703200"/>
            <a:ext cx="595440" cy="595440"/>
          </a:xfrm>
          <a:custGeom>
            <a:avLst/>
            <a:gdLst/>
            <a:ahLst/>
            <a:rect l="0" t="0" r="r" b="b"/>
            <a:pathLst>
              <a:path w="1654" h="1654">
                <a:moveTo>
                  <a:pt x="827" y="0"/>
                </a:moveTo>
                <a:lnTo>
                  <a:pt x="1654" y="827"/>
                </a:lnTo>
                <a:lnTo>
                  <a:pt x="827" y="1654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4" name=""/>
          <p:cNvSpPr/>
          <p:nvPr/>
        </p:nvSpPr>
        <p:spPr>
          <a:xfrm>
            <a:off x="2821680" y="7000560"/>
            <a:ext cx="595440" cy="595800"/>
          </a:xfrm>
          <a:custGeom>
            <a:avLst/>
            <a:gdLst/>
            <a:ahLst/>
            <a:rect l="0" t="0" r="r" b="b"/>
            <a:pathLst>
              <a:path w="1654" h="1655">
                <a:moveTo>
                  <a:pt x="827" y="0"/>
                </a:moveTo>
                <a:lnTo>
                  <a:pt x="1654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5" name=""/>
          <p:cNvSpPr/>
          <p:nvPr/>
        </p:nvSpPr>
        <p:spPr>
          <a:xfrm>
            <a:off x="3714480" y="640548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5" y="0"/>
                </a:moveTo>
                <a:lnTo>
                  <a:pt x="3309" y="1654"/>
                </a:lnTo>
                <a:lnTo>
                  <a:pt x="1655" y="3308"/>
                </a:lnTo>
                <a:lnTo>
                  <a:pt x="0" y="1654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6" name=""/>
          <p:cNvSpPr/>
          <p:nvPr/>
        </p:nvSpPr>
        <p:spPr>
          <a:xfrm>
            <a:off x="3119400" y="7000560"/>
            <a:ext cx="1190880" cy="1191240"/>
          </a:xfrm>
          <a:custGeom>
            <a:avLst/>
            <a:gdLst/>
            <a:ahLst/>
            <a:rect l="0" t="0" r="r" b="b"/>
            <a:pathLst>
              <a:path w="3308" h="3309">
                <a:moveTo>
                  <a:pt x="1653" y="0"/>
                </a:moveTo>
                <a:lnTo>
                  <a:pt x="3308" y="1654"/>
                </a:lnTo>
                <a:lnTo>
                  <a:pt x="1653" y="3309"/>
                </a:lnTo>
                <a:lnTo>
                  <a:pt x="0" y="1654"/>
                </a:lnTo>
                <a:lnTo>
                  <a:pt x="165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7" name=""/>
          <p:cNvSpPr/>
          <p:nvPr/>
        </p:nvSpPr>
        <p:spPr>
          <a:xfrm>
            <a:off x="2375280" y="700056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8" name=""/>
          <p:cNvSpPr/>
          <p:nvPr/>
        </p:nvSpPr>
        <p:spPr>
          <a:xfrm>
            <a:off x="222624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4"/>
                </a:lnTo>
                <a:lnTo>
                  <a:pt x="415" y="828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9" name=""/>
          <p:cNvSpPr/>
          <p:nvPr/>
        </p:nvSpPr>
        <p:spPr>
          <a:xfrm>
            <a:off x="2523960" y="71496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4" y="0"/>
                </a:moveTo>
                <a:lnTo>
                  <a:pt x="828" y="414"/>
                </a:lnTo>
                <a:lnTo>
                  <a:pt x="414" y="828"/>
                </a:lnTo>
                <a:lnTo>
                  <a:pt x="0" y="414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0" name=""/>
          <p:cNvSpPr/>
          <p:nvPr/>
        </p:nvSpPr>
        <p:spPr>
          <a:xfrm>
            <a:off x="2375280" y="729828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3" y="0"/>
                </a:moveTo>
                <a:lnTo>
                  <a:pt x="827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1" name=""/>
          <p:cNvSpPr/>
          <p:nvPr/>
        </p:nvSpPr>
        <p:spPr>
          <a:xfrm>
            <a:off x="2077560" y="72982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4"/>
                </a:lnTo>
                <a:lnTo>
                  <a:pt x="413" y="828"/>
                </a:lnTo>
                <a:lnTo>
                  <a:pt x="0" y="414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2" name=""/>
          <p:cNvSpPr/>
          <p:nvPr/>
        </p:nvSpPr>
        <p:spPr>
          <a:xfrm>
            <a:off x="192852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3" name=""/>
          <p:cNvSpPr/>
          <p:nvPr/>
        </p:nvSpPr>
        <p:spPr>
          <a:xfrm>
            <a:off x="2226240" y="744732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5" y="0"/>
                </a:moveTo>
                <a:lnTo>
                  <a:pt x="828" y="414"/>
                </a:lnTo>
                <a:lnTo>
                  <a:pt x="415" y="827"/>
                </a:lnTo>
                <a:lnTo>
                  <a:pt x="0" y="414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4" name=""/>
          <p:cNvSpPr/>
          <p:nvPr/>
        </p:nvSpPr>
        <p:spPr>
          <a:xfrm>
            <a:off x="207756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5" name=""/>
          <p:cNvSpPr/>
          <p:nvPr/>
        </p:nvSpPr>
        <p:spPr>
          <a:xfrm>
            <a:off x="2523960" y="729828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8" y="0"/>
                </a:moveTo>
                <a:lnTo>
                  <a:pt x="1655" y="828"/>
                </a:lnTo>
                <a:lnTo>
                  <a:pt x="828" y="1655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6" name=""/>
          <p:cNvSpPr/>
          <p:nvPr/>
        </p:nvSpPr>
        <p:spPr>
          <a:xfrm>
            <a:off x="2226240" y="7596000"/>
            <a:ext cx="595800" cy="595800"/>
          </a:xfrm>
          <a:custGeom>
            <a:avLst/>
            <a:gdLst/>
            <a:ahLst/>
            <a:rect l="0" t="0" r="r" b="b"/>
            <a:pathLst>
              <a:path w="1655" h="1655">
                <a:moveTo>
                  <a:pt x="827" y="0"/>
                </a:moveTo>
                <a:lnTo>
                  <a:pt x="1655" y="827"/>
                </a:lnTo>
                <a:lnTo>
                  <a:pt x="827" y="1655"/>
                </a:lnTo>
                <a:lnTo>
                  <a:pt x="0" y="827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7" name=""/>
          <p:cNvSpPr/>
          <p:nvPr/>
        </p:nvSpPr>
        <p:spPr>
          <a:xfrm>
            <a:off x="1779840" y="75960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8" name=""/>
          <p:cNvSpPr/>
          <p:nvPr/>
        </p:nvSpPr>
        <p:spPr>
          <a:xfrm>
            <a:off x="163080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9" name=""/>
          <p:cNvSpPr/>
          <p:nvPr/>
        </p:nvSpPr>
        <p:spPr>
          <a:xfrm>
            <a:off x="1928520" y="774468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0" name=""/>
          <p:cNvSpPr/>
          <p:nvPr/>
        </p:nvSpPr>
        <p:spPr>
          <a:xfrm>
            <a:off x="177984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1" name=""/>
          <p:cNvSpPr/>
          <p:nvPr/>
        </p:nvSpPr>
        <p:spPr>
          <a:xfrm>
            <a:off x="1482120" y="789372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3" y="0"/>
                </a:moveTo>
                <a:lnTo>
                  <a:pt x="828" y="413"/>
                </a:lnTo>
                <a:lnTo>
                  <a:pt x="413" y="828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2" name=""/>
          <p:cNvSpPr/>
          <p:nvPr/>
        </p:nvSpPr>
        <p:spPr>
          <a:xfrm>
            <a:off x="1333440" y="8042400"/>
            <a:ext cx="297720" cy="298080"/>
          </a:xfrm>
          <a:custGeom>
            <a:avLst/>
            <a:gdLst/>
            <a:ahLst/>
            <a:rect l="0" t="0" r="r" b="b"/>
            <a:pathLst>
              <a:path w="827" h="828">
                <a:moveTo>
                  <a:pt x="414" y="0"/>
                </a:moveTo>
                <a:lnTo>
                  <a:pt x="827" y="415"/>
                </a:lnTo>
                <a:lnTo>
                  <a:pt x="414" y="828"/>
                </a:lnTo>
                <a:lnTo>
                  <a:pt x="0" y="415"/>
                </a:lnTo>
                <a:lnTo>
                  <a:pt x="41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3" name=""/>
          <p:cNvSpPr/>
          <p:nvPr/>
        </p:nvSpPr>
        <p:spPr>
          <a:xfrm>
            <a:off x="1630800" y="8042400"/>
            <a:ext cx="298080" cy="298080"/>
          </a:xfrm>
          <a:custGeom>
            <a:avLst/>
            <a:gdLst/>
            <a:ahLst/>
            <a:rect l="0" t="0" r="r" b="b"/>
            <a:pathLst>
              <a:path w="828" h="828">
                <a:moveTo>
                  <a:pt x="415" y="0"/>
                </a:moveTo>
                <a:lnTo>
                  <a:pt x="828" y="415"/>
                </a:lnTo>
                <a:lnTo>
                  <a:pt x="415" y="828"/>
                </a:lnTo>
                <a:lnTo>
                  <a:pt x="0" y="415"/>
                </a:lnTo>
                <a:lnTo>
                  <a:pt x="4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4" name=""/>
          <p:cNvSpPr/>
          <p:nvPr/>
        </p:nvSpPr>
        <p:spPr>
          <a:xfrm>
            <a:off x="1482120" y="8191440"/>
            <a:ext cx="298080" cy="297720"/>
          </a:xfrm>
          <a:custGeom>
            <a:avLst/>
            <a:gdLst/>
            <a:ahLst/>
            <a:rect l="0" t="0" r="r" b="b"/>
            <a:pathLst>
              <a:path w="828" h="827">
                <a:moveTo>
                  <a:pt x="413" y="0"/>
                </a:moveTo>
                <a:lnTo>
                  <a:pt x="828" y="413"/>
                </a:lnTo>
                <a:lnTo>
                  <a:pt x="413" y="827"/>
                </a:lnTo>
                <a:lnTo>
                  <a:pt x="0" y="413"/>
                </a:lnTo>
                <a:lnTo>
                  <a:pt x="4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5" name=""/>
          <p:cNvSpPr/>
          <p:nvPr/>
        </p:nvSpPr>
        <p:spPr>
          <a:xfrm>
            <a:off x="1928520" y="789372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8" y="0"/>
                </a:moveTo>
                <a:lnTo>
                  <a:pt x="1655" y="828"/>
                </a:lnTo>
                <a:lnTo>
                  <a:pt x="828" y="1654"/>
                </a:lnTo>
                <a:lnTo>
                  <a:pt x="0" y="828"/>
                </a:lnTo>
                <a:lnTo>
                  <a:pt x="82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6" name=""/>
          <p:cNvSpPr/>
          <p:nvPr/>
        </p:nvSpPr>
        <p:spPr>
          <a:xfrm>
            <a:off x="1630800" y="8191440"/>
            <a:ext cx="595800" cy="595440"/>
          </a:xfrm>
          <a:custGeom>
            <a:avLst/>
            <a:gdLst/>
            <a:ahLst/>
            <a:rect l="0" t="0" r="r" b="b"/>
            <a:pathLst>
              <a:path w="1655" h="1654">
                <a:moveTo>
                  <a:pt x="827" y="0"/>
                </a:moveTo>
                <a:lnTo>
                  <a:pt x="1655" y="826"/>
                </a:lnTo>
                <a:lnTo>
                  <a:pt x="827" y="1654"/>
                </a:lnTo>
                <a:lnTo>
                  <a:pt x="0" y="826"/>
                </a:lnTo>
                <a:lnTo>
                  <a:pt x="827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7" name=""/>
          <p:cNvSpPr/>
          <p:nvPr/>
        </p:nvSpPr>
        <p:spPr>
          <a:xfrm>
            <a:off x="2523960" y="7596000"/>
            <a:ext cx="1190880" cy="1190880"/>
          </a:xfrm>
          <a:custGeom>
            <a:avLst/>
            <a:gdLst/>
            <a:ahLst/>
            <a:rect l="0" t="0" r="r" b="b"/>
            <a:pathLst>
              <a:path w="3308" h="3308">
                <a:moveTo>
                  <a:pt x="1655" y="0"/>
                </a:moveTo>
                <a:lnTo>
                  <a:pt x="3308" y="1655"/>
                </a:lnTo>
                <a:lnTo>
                  <a:pt x="1655" y="3308"/>
                </a:lnTo>
                <a:lnTo>
                  <a:pt x="0" y="1655"/>
                </a:lnTo>
                <a:lnTo>
                  <a:pt x="165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8" name=""/>
          <p:cNvSpPr/>
          <p:nvPr/>
        </p:nvSpPr>
        <p:spPr>
          <a:xfrm>
            <a:off x="1928520" y="8191440"/>
            <a:ext cx="1191240" cy="1190880"/>
          </a:xfrm>
          <a:custGeom>
            <a:avLst/>
            <a:gdLst/>
            <a:ahLst/>
            <a:rect l="0" t="0" r="r" b="b"/>
            <a:pathLst>
              <a:path w="3309" h="3308">
                <a:moveTo>
                  <a:pt x="1654" y="0"/>
                </a:moveTo>
                <a:lnTo>
                  <a:pt x="3309" y="1653"/>
                </a:lnTo>
                <a:lnTo>
                  <a:pt x="1654" y="3308"/>
                </a:lnTo>
                <a:lnTo>
                  <a:pt x="0" y="1653"/>
                </a:lnTo>
                <a:lnTo>
                  <a:pt x="165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9" name=""/>
          <p:cNvSpPr/>
          <p:nvPr/>
        </p:nvSpPr>
        <p:spPr>
          <a:xfrm>
            <a:off x="3714480" y="7000560"/>
            <a:ext cx="2381760" cy="2381760"/>
          </a:xfrm>
          <a:custGeom>
            <a:avLst/>
            <a:gdLst/>
            <a:ahLst/>
            <a:rect l="0" t="0" r="r" b="b"/>
            <a:pathLst>
              <a:path w="6616" h="6616">
                <a:moveTo>
                  <a:pt x="3308" y="0"/>
                </a:moveTo>
                <a:lnTo>
                  <a:pt x="6616" y="3308"/>
                </a:lnTo>
                <a:lnTo>
                  <a:pt x="3308" y="6616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0" name=""/>
          <p:cNvSpPr/>
          <p:nvPr/>
        </p:nvSpPr>
        <p:spPr>
          <a:xfrm>
            <a:off x="2523960" y="8191440"/>
            <a:ext cx="2381760" cy="2381400"/>
          </a:xfrm>
          <a:custGeom>
            <a:avLst/>
            <a:gdLst/>
            <a:ahLst/>
            <a:rect l="0" t="0" r="r" b="b"/>
            <a:pathLst>
              <a:path w="6616" h="6615">
                <a:moveTo>
                  <a:pt x="3308" y="0"/>
                </a:moveTo>
                <a:lnTo>
                  <a:pt x="6616" y="3308"/>
                </a:lnTo>
                <a:lnTo>
                  <a:pt x="3308" y="6615"/>
                </a:lnTo>
                <a:lnTo>
                  <a:pt x="0" y="3308"/>
                </a:lnTo>
                <a:lnTo>
                  <a:pt x="3308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1" name=""/>
          <p:cNvSpPr/>
          <p:nvPr/>
        </p:nvSpPr>
        <p:spPr>
          <a:xfrm>
            <a:off x="6095880" y="58100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6"/>
                </a:lnTo>
                <a:lnTo>
                  <a:pt x="6615" y="13230"/>
                </a:lnTo>
                <a:lnTo>
                  <a:pt x="0" y="6616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2" name=""/>
          <p:cNvSpPr/>
          <p:nvPr/>
        </p:nvSpPr>
        <p:spPr>
          <a:xfrm>
            <a:off x="3714480" y="8191440"/>
            <a:ext cx="4762800" cy="4762800"/>
          </a:xfrm>
          <a:custGeom>
            <a:avLst/>
            <a:gdLst/>
            <a:ahLst/>
            <a:rect l="0" t="0" r="r" b="b"/>
            <a:pathLst>
              <a:path w="13230" h="13230">
                <a:moveTo>
                  <a:pt x="6615" y="0"/>
                </a:moveTo>
                <a:lnTo>
                  <a:pt x="13230" y="6614"/>
                </a:lnTo>
                <a:lnTo>
                  <a:pt x="6615" y="13230"/>
                </a:lnTo>
                <a:lnTo>
                  <a:pt x="0" y="6614"/>
                </a:lnTo>
                <a:lnTo>
                  <a:pt x="66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3" name=""/>
          <p:cNvSpPr txBox="1"/>
          <p:nvPr/>
        </p:nvSpPr>
        <p:spPr>
          <a:xfrm>
            <a:off x="4091760" y="2395800"/>
            <a:ext cx="84348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565c0"/>
                </a:solidFill>
                <a:latin typeface="Lato"/>
                <a:ea typeface="Lato"/>
              </a:rPr>
              <a:t>Xin c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4" name=""/>
          <p:cNvSpPr txBox="1"/>
          <p:nvPr/>
        </p:nvSpPr>
        <p:spPr>
          <a:xfrm>
            <a:off x="5010840" y="2427120"/>
            <a:ext cx="3805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565c0"/>
                </a:solidFill>
                <a:latin typeface="Arial"/>
                <a:ea typeface="Arial"/>
              </a:rPr>
              <a:t>ả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5" name=""/>
          <p:cNvSpPr txBox="1"/>
          <p:nvPr/>
        </p:nvSpPr>
        <p:spPr>
          <a:xfrm>
            <a:off x="5234760" y="2395800"/>
            <a:ext cx="41220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565c0"/>
                </a:solidFill>
                <a:latin typeface="Lato"/>
                <a:ea typeface="Lato"/>
              </a:rPr>
              <a:t>m 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6" name=""/>
          <p:cNvSpPr txBox="1"/>
          <p:nvPr/>
        </p:nvSpPr>
        <p:spPr>
          <a:xfrm>
            <a:off x="5659920" y="2427120"/>
            <a:ext cx="3805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565c0"/>
                </a:solidFill>
                <a:latin typeface="Arial"/>
                <a:ea typeface="Arial"/>
              </a:rPr>
              <a:t>ơ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7" name=""/>
          <p:cNvSpPr txBox="1"/>
          <p:nvPr/>
        </p:nvSpPr>
        <p:spPr>
          <a:xfrm>
            <a:off x="5942880" y="2395800"/>
            <a:ext cx="60120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565c0"/>
                </a:solidFill>
                <a:latin typeface="Lato"/>
                <a:ea typeface="Lato"/>
              </a:rPr>
              <a:t>n H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8" name=""/>
          <p:cNvSpPr txBox="1"/>
          <p:nvPr/>
        </p:nvSpPr>
        <p:spPr>
          <a:xfrm>
            <a:off x="6561000" y="2427120"/>
            <a:ext cx="3805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565c0"/>
                </a:solidFill>
                <a:latin typeface="Arial"/>
                <a:ea typeface="Arial"/>
              </a:rPr>
              <a:t>ộ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9" name=""/>
          <p:cNvSpPr txBox="1"/>
          <p:nvPr/>
        </p:nvSpPr>
        <p:spPr>
          <a:xfrm>
            <a:off x="6805800" y="2395800"/>
            <a:ext cx="38052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565c0"/>
                </a:solidFill>
                <a:latin typeface="Lato"/>
                <a:ea typeface="Lato"/>
              </a:rPr>
              <a:t>i 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0" name=""/>
          <p:cNvSpPr txBox="1"/>
          <p:nvPr/>
        </p:nvSpPr>
        <p:spPr>
          <a:xfrm>
            <a:off x="7011720" y="2427120"/>
            <a:ext cx="4654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565c0"/>
                </a:solidFill>
                <a:latin typeface="Arial"/>
                <a:ea typeface="Arial"/>
              </a:rPr>
              <a:t>đồ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1" name=""/>
          <p:cNvSpPr txBox="1"/>
          <p:nvPr/>
        </p:nvSpPr>
        <p:spPr>
          <a:xfrm>
            <a:off x="7500960" y="2395800"/>
            <a:ext cx="52344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000" spc="-1" strike="noStrike">
                <a:solidFill>
                  <a:srgbClr val="1565c0"/>
                </a:solidFill>
                <a:latin typeface="Lato"/>
                <a:ea typeface="Lato"/>
              </a:rPr>
              <a:t>ng!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2" name=""/>
          <p:cNvSpPr txBox="1"/>
          <p:nvPr/>
        </p:nvSpPr>
        <p:spPr>
          <a:xfrm>
            <a:off x="3190320" y="3090960"/>
            <a:ext cx="12960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Em xin l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3" name=""/>
          <p:cNvSpPr txBox="1"/>
          <p:nvPr/>
        </p:nvSpPr>
        <p:spPr>
          <a:xfrm>
            <a:off x="4599000" y="31215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ắ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4" name=""/>
          <p:cNvSpPr txBox="1"/>
          <p:nvPr/>
        </p:nvSpPr>
        <p:spPr>
          <a:xfrm>
            <a:off x="4817520" y="3090960"/>
            <a:ext cx="227916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ng nghe câu h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5" name=""/>
          <p:cNvSpPr txBox="1"/>
          <p:nvPr/>
        </p:nvSpPr>
        <p:spPr>
          <a:xfrm>
            <a:off x="7236000" y="3121560"/>
            <a:ext cx="3711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Arial"/>
                <a:ea typeface="Arial"/>
              </a:rPr>
              <a:t>ỏ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6" name=""/>
          <p:cNvSpPr txBox="1"/>
          <p:nvPr/>
        </p:nvSpPr>
        <p:spPr>
          <a:xfrm>
            <a:off x="7474680" y="3090960"/>
            <a:ext cx="145152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930" spc="-1" strike="noStrike">
                <a:solidFill>
                  <a:srgbClr val="0d47a1"/>
                </a:solidFill>
                <a:latin typeface="Lato"/>
                <a:ea typeface="Lato"/>
              </a:rPr>
              <a:t>i &amp; góp ý</a:t>
            </a:r>
            <a:endParaRPr b="0" lang="en-US" sz="29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7" name=""/>
          <p:cNvSpPr txBox="1"/>
          <p:nvPr/>
        </p:nvSpPr>
        <p:spPr>
          <a:xfrm>
            <a:off x="3267720" y="3832200"/>
            <a:ext cx="59364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Nguy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8" name=""/>
          <p:cNvSpPr txBox="1"/>
          <p:nvPr/>
        </p:nvSpPr>
        <p:spPr>
          <a:xfrm>
            <a:off x="3912840" y="385272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ễ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9" name=""/>
          <p:cNvSpPr txBox="1"/>
          <p:nvPr/>
        </p:nvSpPr>
        <p:spPr>
          <a:xfrm>
            <a:off x="4062240" y="3832200"/>
            <a:ext cx="24732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n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0" name=""/>
          <p:cNvSpPr txBox="1"/>
          <p:nvPr/>
        </p:nvSpPr>
        <p:spPr>
          <a:xfrm>
            <a:off x="4277520" y="3852720"/>
            <a:ext cx="3589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Arial"/>
                <a:ea typeface="Arial"/>
              </a:rPr>
              <a:t>Đứ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1" name=""/>
          <p:cNvSpPr txBox="1"/>
          <p:nvPr/>
        </p:nvSpPr>
        <p:spPr>
          <a:xfrm>
            <a:off x="4659480" y="3832200"/>
            <a:ext cx="394956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c62828"/>
                </a:solidFill>
                <a:latin typeface="Lato"/>
                <a:ea typeface="Lato"/>
              </a:rPr>
              <a:t>c Bình</a:t>
            </a:r>
            <a:r>
              <a:rPr b="0" lang="en-US" sz="1950" spc="-1" strike="noStrike">
                <a:solidFill>
                  <a:srgbClr val="455a64"/>
                </a:solidFill>
                <a:latin typeface="Lato"/>
                <a:ea typeface="Lato"/>
              </a:rPr>
              <a:t> — MSE, FPT University, 2026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2" name=""/>
          <p:cNvSpPr txBox="1"/>
          <p:nvPr/>
        </p:nvSpPr>
        <p:spPr>
          <a:xfrm>
            <a:off x="3567240" y="4222080"/>
            <a:ext cx="11970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SENTINEL · Ki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3" name=""/>
          <p:cNvSpPr txBox="1"/>
          <p:nvPr/>
        </p:nvSpPr>
        <p:spPr>
          <a:xfrm>
            <a:off x="4905360" y="423756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ế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4" name=""/>
          <p:cNvSpPr txBox="1"/>
          <p:nvPr/>
        </p:nvSpPr>
        <p:spPr>
          <a:xfrm>
            <a:off x="5023080" y="4222080"/>
            <a:ext cx="7902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n trúc Nh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5" name=""/>
          <p:cNvSpPr txBox="1"/>
          <p:nvPr/>
        </p:nvSpPr>
        <p:spPr>
          <a:xfrm>
            <a:off x="5902200" y="423756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ậ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6" name=""/>
          <p:cNvSpPr txBox="1"/>
          <p:nvPr/>
        </p:nvSpPr>
        <p:spPr>
          <a:xfrm>
            <a:off x="6020280" y="4222080"/>
            <a:ext cx="3297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n th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7" name=""/>
          <p:cNvSpPr txBox="1"/>
          <p:nvPr/>
        </p:nvSpPr>
        <p:spPr>
          <a:xfrm>
            <a:off x="6387480" y="423756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ứ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8" name=""/>
          <p:cNvSpPr txBox="1"/>
          <p:nvPr/>
        </p:nvSpPr>
        <p:spPr>
          <a:xfrm>
            <a:off x="6526800" y="4222080"/>
            <a:ext cx="5432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c Hai t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9" name=""/>
          <p:cNvSpPr txBox="1"/>
          <p:nvPr/>
        </p:nvSpPr>
        <p:spPr>
          <a:xfrm>
            <a:off x="7133040" y="4237560"/>
            <a:ext cx="190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Arial"/>
                <a:ea typeface="Arial"/>
              </a:rPr>
              <a:t>ầ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0" name=""/>
          <p:cNvSpPr txBox="1"/>
          <p:nvPr/>
        </p:nvSpPr>
        <p:spPr>
          <a:xfrm>
            <a:off x="7251120" y="4222080"/>
            <a:ext cx="122616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00" spc="-1" strike="noStrike">
                <a:solidFill>
                  <a:srgbClr val="555555"/>
                </a:solidFill>
                <a:latin typeface="Lato"/>
                <a:ea typeface="Lato"/>
              </a:rPr>
              <a:t>ng · Agentic AI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1" name=""/>
          <p:cNvSpPr txBox="1"/>
          <p:nvPr/>
        </p:nvSpPr>
        <p:spPr>
          <a:xfrm>
            <a:off x="237960" y="229320"/>
            <a:ext cx="11116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SENTINEL — Ki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2" name=""/>
          <p:cNvSpPr txBox="1"/>
          <p:nvPr/>
        </p:nvSpPr>
        <p:spPr>
          <a:xfrm>
            <a:off x="149724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ế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3" name=""/>
          <p:cNvSpPr txBox="1"/>
          <p:nvPr/>
        </p:nvSpPr>
        <p:spPr>
          <a:xfrm>
            <a:off x="1600200" y="229320"/>
            <a:ext cx="67572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trúc Nh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4" name=""/>
          <p:cNvSpPr txBox="1"/>
          <p:nvPr/>
        </p:nvSpPr>
        <p:spPr>
          <a:xfrm>
            <a:off x="23695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ậ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5" name=""/>
          <p:cNvSpPr txBox="1"/>
          <p:nvPr/>
        </p:nvSpPr>
        <p:spPr>
          <a:xfrm>
            <a:off x="2472480" y="229320"/>
            <a:ext cx="28260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th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6" name=""/>
          <p:cNvSpPr txBox="1"/>
          <p:nvPr/>
        </p:nvSpPr>
        <p:spPr>
          <a:xfrm>
            <a:off x="279432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7" name=""/>
          <p:cNvSpPr txBox="1"/>
          <p:nvPr/>
        </p:nvSpPr>
        <p:spPr>
          <a:xfrm>
            <a:off x="2915640" y="229320"/>
            <a:ext cx="464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Hai t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8" name=""/>
          <p:cNvSpPr txBox="1"/>
          <p:nvPr/>
        </p:nvSpPr>
        <p:spPr>
          <a:xfrm>
            <a:off x="3447360" y="24264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ầ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9" name=""/>
          <p:cNvSpPr txBox="1"/>
          <p:nvPr/>
        </p:nvSpPr>
        <p:spPr>
          <a:xfrm>
            <a:off x="3550320" y="229320"/>
            <a:ext cx="1760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0" name=""/>
          <p:cNvSpPr txBox="1"/>
          <p:nvPr/>
        </p:nvSpPr>
        <p:spPr>
          <a:xfrm>
            <a:off x="237960" y="6420600"/>
            <a:ext cx="38484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Nguy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1" name=""/>
          <p:cNvSpPr txBox="1"/>
          <p:nvPr/>
        </p:nvSpPr>
        <p:spPr>
          <a:xfrm>
            <a:off x="667440" y="6433920"/>
            <a:ext cx="1630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ễ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2" name=""/>
          <p:cNvSpPr txBox="1"/>
          <p:nvPr/>
        </p:nvSpPr>
        <p:spPr>
          <a:xfrm>
            <a:off x="770040" y="6420600"/>
            <a:ext cx="16308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n 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3" name=""/>
          <p:cNvSpPr txBox="1"/>
          <p:nvPr/>
        </p:nvSpPr>
        <p:spPr>
          <a:xfrm>
            <a:off x="916200" y="6433920"/>
            <a:ext cx="226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Arial"/>
                <a:ea typeface="Arial"/>
              </a:rPr>
              <a:t>Đứ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4" name=""/>
          <p:cNvSpPr txBox="1"/>
          <p:nvPr/>
        </p:nvSpPr>
        <p:spPr>
          <a:xfrm>
            <a:off x="1167480" y="6420600"/>
            <a:ext cx="2595960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80" spc="-1" strike="noStrike">
                <a:solidFill>
                  <a:srgbClr val="6a7a7d"/>
                </a:solidFill>
                <a:latin typeface="Lato"/>
                <a:ea typeface="Lato"/>
              </a:rPr>
              <a:t>c Bình · FPT University · MSE · 2026</a:t>
            </a:r>
            <a:endParaRPr b="0" lang="en-US" sz="1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5" name=""/>
          <p:cNvSpPr txBox="1"/>
          <p:nvPr/>
        </p:nvSpPr>
        <p:spPr>
          <a:xfrm>
            <a:off x="11700360" y="6405120"/>
            <a:ext cx="229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455a64"/>
                </a:solidFill>
                <a:latin typeface="Lato"/>
                <a:ea typeface="Lato"/>
              </a:rPr>
              <a:t>21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